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7" r:id="rId4"/>
    <p:sldMasterId id="2147483701" r:id="rId5"/>
    <p:sldMasterId id="2147483720" r:id="rId6"/>
  </p:sldMasterIdLst>
  <p:notesMasterIdLst>
    <p:notesMasterId r:id="rId37"/>
  </p:notesMasterIdLst>
  <p:sldIdLst>
    <p:sldId id="279" r:id="rId7"/>
    <p:sldId id="280" r:id="rId8"/>
    <p:sldId id="321" r:id="rId9"/>
    <p:sldId id="306" r:id="rId10"/>
    <p:sldId id="305" r:id="rId11"/>
    <p:sldId id="302" r:id="rId12"/>
    <p:sldId id="307" r:id="rId13"/>
    <p:sldId id="304" r:id="rId14"/>
    <p:sldId id="303" r:id="rId15"/>
    <p:sldId id="322" r:id="rId16"/>
    <p:sldId id="332" r:id="rId17"/>
    <p:sldId id="330" r:id="rId18"/>
    <p:sldId id="331" r:id="rId19"/>
    <p:sldId id="324" r:id="rId20"/>
    <p:sldId id="325" r:id="rId21"/>
    <p:sldId id="326" r:id="rId22"/>
    <p:sldId id="328" r:id="rId23"/>
    <p:sldId id="343" r:id="rId24"/>
    <p:sldId id="323" r:id="rId25"/>
    <p:sldId id="334" r:id="rId26"/>
    <p:sldId id="338" r:id="rId27"/>
    <p:sldId id="316" r:id="rId28"/>
    <p:sldId id="337" r:id="rId29"/>
    <p:sldId id="333" r:id="rId30"/>
    <p:sldId id="309" r:id="rId31"/>
    <p:sldId id="341" r:id="rId32"/>
    <p:sldId id="344" r:id="rId33"/>
    <p:sldId id="342" r:id="rId34"/>
    <p:sldId id="336" r:id="rId35"/>
    <p:sldId id="301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0E5"/>
    <a:srgbClr val="3172AE"/>
    <a:srgbClr val="3E8EDE"/>
    <a:srgbClr val="20374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99"/>
    <p:restoredTop sz="88761"/>
  </p:normalViewPr>
  <p:slideViewPr>
    <p:cSldViewPr snapToGrid="0">
      <p:cViewPr varScale="1">
        <p:scale>
          <a:sx n="127" d="100"/>
          <a:sy n="127" d="100"/>
        </p:scale>
        <p:origin x="18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viewProps" Target="viewProps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7" Type="http://schemas.openxmlformats.org/officeDocument/2006/relationships/slide" Target="slides/slide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8" Type="http://schemas.openxmlformats.org/officeDocument/2006/relationships/slide" Target="slides/slide2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28CB5F-C029-8E4D-8C11-838922BE2791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E50507-6ABD-D342-BD52-6EEA9C611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173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0507-6ABD-D342-BD52-6EEA9C6115F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8253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0507-6ABD-D342-BD52-6EEA9C6115F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752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ick to Edit Title">
            <a:extLst>
              <a:ext uri="{FF2B5EF4-FFF2-40B4-BE49-F238E27FC236}">
                <a16:creationId xmlns:a16="http://schemas.microsoft.com/office/drawing/2014/main" id="{DCC2942B-EBA9-CE44-CBF0-064F5555956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52977" y="2802942"/>
            <a:ext cx="6979920" cy="646331"/>
          </a:xfrm>
          <a:prstGeom prst="rect">
            <a:avLst/>
          </a:prstGeom>
        </p:spPr>
        <p:txBody>
          <a:bodyPr anchor="t">
            <a:spAutoFit/>
          </a:bodyPr>
          <a:lstStyle>
            <a:lvl1pPr algn="l">
              <a:defRPr sz="4000" b="1">
                <a:solidFill>
                  <a:srgbClr val="3172A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Title Subhead or department name">
            <a:extLst>
              <a:ext uri="{FF2B5EF4-FFF2-40B4-BE49-F238E27FC236}">
                <a16:creationId xmlns:a16="http://schemas.microsoft.com/office/drawing/2014/main" id="{49175329-E67E-B390-0D2D-E3B892A4075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1215" y="3644142"/>
            <a:ext cx="6979920" cy="99617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l">
              <a:buNone/>
              <a:defRPr sz="2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Title subhead or department name</a:t>
            </a:r>
          </a:p>
          <a:p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Can go here and fill one or two lines</a:t>
            </a:r>
          </a:p>
        </p:txBody>
      </p:sp>
    </p:spTree>
    <p:extLst>
      <p:ext uri="{BB962C8B-B14F-4D97-AF65-F5344CB8AC3E}">
        <p14:creationId xmlns:p14="http://schemas.microsoft.com/office/powerpoint/2010/main" val="13267013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lick to Edit Title">
            <a:extLst>
              <a:ext uri="{FF2B5EF4-FFF2-40B4-BE49-F238E27FC236}">
                <a16:creationId xmlns:a16="http://schemas.microsoft.com/office/drawing/2014/main" id="{591499BD-67CC-CD67-4074-4DEE8EECA44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1964" y="351793"/>
            <a:ext cx="4040471" cy="618631"/>
          </a:xfrm>
          <a:prstGeom prst="rect">
            <a:avLst/>
          </a:prstGeom>
        </p:spPr>
        <p:txBody>
          <a:bodyPr anchor="t">
            <a:spAutoFit/>
          </a:bodyPr>
          <a:lstStyle>
            <a:lvl1pPr algn="l">
              <a:defRPr sz="3800" b="1">
                <a:solidFill>
                  <a:srgbClr val="3172A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Slide Title</a:t>
            </a:r>
          </a:p>
        </p:txBody>
      </p:sp>
      <p:sp>
        <p:nvSpPr>
          <p:cNvPr id="5" name="Title Subhead or department name">
            <a:extLst>
              <a:ext uri="{FF2B5EF4-FFF2-40B4-BE49-F238E27FC236}">
                <a16:creationId xmlns:a16="http://schemas.microsoft.com/office/drawing/2014/main" id="{FD384D3E-69C9-80C5-0FB5-7585BC16F5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14975" y="951374"/>
            <a:ext cx="3412389" cy="452432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l">
              <a:buNone/>
              <a:defRPr sz="260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Slide Title Subhead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0D8DFA-E35C-30A0-34FD-7EBAE91EECBF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5721774" y="887624"/>
            <a:ext cx="5960177" cy="3278590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lnSpc>
                <a:spcPts val="3600"/>
              </a:lnSpc>
            </a:pP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 ne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assum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referrentur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enim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vide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putant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mel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Cum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tollit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intellegebat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eu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disputationi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consequuntur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 pro. Mel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ullum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laoreet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cu,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aliquam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ullamcorper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vis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iudicabit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maluisset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mel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His in tale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saperet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quodsi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fabulas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vim in,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ei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ius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debet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homero</a:t>
            </a:r>
            <a:r>
              <a:rPr lang="en-US"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6139753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ullet Points ">
            <a:extLst>
              <a:ext uri="{FF2B5EF4-FFF2-40B4-BE49-F238E27FC236}">
                <a16:creationId xmlns:a16="http://schemas.microsoft.com/office/drawing/2014/main" id="{506D478E-CBEA-43F8-5B40-597A8D300C0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25679" y="839880"/>
            <a:ext cx="3606800" cy="3259354"/>
          </a:xfrm>
          <a:prstGeom prst="rect">
            <a:avLst/>
          </a:prstGeom>
        </p:spPr>
        <p:txBody>
          <a:bodyPr>
            <a:spAutoFit/>
          </a:bodyPr>
          <a:lstStyle>
            <a:lvl1pPr marL="283464" indent="-283464">
              <a:lnSpc>
                <a:spcPts val="42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600" b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49224" indent="-283464" defTabSz="1371600">
              <a:lnSpc>
                <a:spcPts val="4200"/>
              </a:lnSpc>
              <a:spcBef>
                <a:spcPts val="0"/>
              </a:spcBef>
              <a:buFont typeface="System Font Regular"/>
              <a:buChar char="-"/>
              <a:defRPr sz="26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097280" indent="-283464">
              <a:lnSpc>
                <a:spcPts val="4200"/>
              </a:lnSpc>
              <a:spcBef>
                <a:spcPts val="0"/>
              </a:spcBef>
              <a:buFont typeface="System Font Regular"/>
              <a:buChar char="-"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buFont typeface="Arial" panose="020B0604020202020204" pitchFamily="34" charset="0"/>
              <a:buChar char="•"/>
              <a:defRPr/>
            </a:lvl4pPr>
            <a:lvl5pPr marL="2057400" indent="-2286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Bullet One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0"/>
            <a:r>
              <a:rPr lang="en-US"/>
              <a:t>Bullet Two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Click to Edit Title">
            <a:extLst>
              <a:ext uri="{FF2B5EF4-FFF2-40B4-BE49-F238E27FC236}">
                <a16:creationId xmlns:a16="http://schemas.microsoft.com/office/drawing/2014/main" id="{2D1B5B0D-CC78-086C-2188-B66B472C950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390" y="357095"/>
            <a:ext cx="4363718" cy="618631"/>
          </a:xfrm>
          <a:prstGeom prst="rect">
            <a:avLst/>
          </a:prstGeom>
        </p:spPr>
        <p:txBody>
          <a:bodyPr anchor="t">
            <a:spAutoFit/>
          </a:bodyPr>
          <a:lstStyle>
            <a:lvl1pPr algn="l">
              <a:defRPr sz="3800" b="1">
                <a:solidFill>
                  <a:srgbClr val="3172A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Bullet Points</a:t>
            </a:r>
          </a:p>
        </p:txBody>
      </p:sp>
      <p:sp>
        <p:nvSpPr>
          <p:cNvPr id="4" name="Title Subhead or department name">
            <a:extLst>
              <a:ext uri="{FF2B5EF4-FFF2-40B4-BE49-F238E27FC236}">
                <a16:creationId xmlns:a16="http://schemas.microsoft.com/office/drawing/2014/main" id="{56A8B033-4104-E833-30DB-E42DB41F5F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452" y="957182"/>
            <a:ext cx="3412389" cy="452432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l">
              <a:buNone/>
              <a:defRPr sz="260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Slide Title Subhead</a:t>
            </a:r>
          </a:p>
        </p:txBody>
      </p:sp>
    </p:spTree>
    <p:extLst>
      <p:ext uri="{BB962C8B-B14F-4D97-AF65-F5344CB8AC3E}">
        <p14:creationId xmlns:p14="http://schemas.microsoft.com/office/powerpoint/2010/main" val="1260244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Title for Tables and Graphs/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Subhead or department name">
            <a:extLst>
              <a:ext uri="{FF2B5EF4-FFF2-40B4-BE49-F238E27FC236}">
                <a16:creationId xmlns:a16="http://schemas.microsoft.com/office/drawing/2014/main" id="{FA2DFCB2-FA00-5A9F-7212-5299E1B6E7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15349" y="950851"/>
            <a:ext cx="3412389" cy="452432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l">
              <a:buNone/>
              <a:defRPr sz="260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Slide Title Subhead</a:t>
            </a:r>
          </a:p>
        </p:txBody>
      </p:sp>
      <p:sp>
        <p:nvSpPr>
          <p:cNvPr id="6" name="Click to Edit Title">
            <a:extLst>
              <a:ext uri="{FF2B5EF4-FFF2-40B4-BE49-F238E27FC236}">
                <a16:creationId xmlns:a16="http://schemas.microsoft.com/office/drawing/2014/main" id="{F7DBD260-BAA0-1208-B4B1-F244F98E835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5349" y="348696"/>
            <a:ext cx="4363718" cy="618631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defRPr sz="3800" b="1">
                <a:solidFill>
                  <a:srgbClr val="3172A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2484187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hidden="1">
            <a:extLst>
              <a:ext uri="{FF2B5EF4-FFF2-40B4-BE49-F238E27FC236}">
                <a16:creationId xmlns:a16="http://schemas.microsoft.com/office/drawing/2014/main" id="{5EA5C8D1-8C60-549B-8C35-0ADE0D19A0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Image slide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668F18EF-9111-805D-639E-3B8E4DA4590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650910" y="5053917"/>
            <a:ext cx="1680210" cy="13944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rgbClr val="3172A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Caption text</a:t>
            </a:r>
          </a:p>
        </p:txBody>
      </p:sp>
      <p:sp>
        <p:nvSpPr>
          <p:cNvPr id="3" name="Picture Placeholder 4" descr="Image Placeholder">
            <a:extLst>
              <a:ext uri="{FF2B5EF4-FFF2-40B4-BE49-F238E27FC236}">
                <a16:creationId xmlns:a16="http://schemas.microsoft.com/office/drawing/2014/main" id="{90A9B5A6-EEF1-85BE-64EE-4FB2AA13A70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312516" y="461318"/>
            <a:ext cx="7977860" cy="51770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</p:spTree>
    <p:extLst>
      <p:ext uri="{BB962C8B-B14F-4D97-AF65-F5344CB8AC3E}">
        <p14:creationId xmlns:p14="http://schemas.microsoft.com/office/powerpoint/2010/main" val="2230339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Screen 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ll Screen Image " hidden="1">
            <a:extLst>
              <a:ext uri="{FF2B5EF4-FFF2-40B4-BE49-F238E27FC236}">
                <a16:creationId xmlns:a16="http://schemas.microsoft.com/office/drawing/2014/main" id="{E8B99B13-7691-A73F-D3BF-4484C6E585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FULL SCREEN IMAGE</a:t>
            </a:r>
          </a:p>
        </p:txBody>
      </p:sp>
      <p:sp>
        <p:nvSpPr>
          <p:cNvPr id="3" name="Picture Placeholder 17" descr="Image Placeholder">
            <a:extLst>
              <a:ext uri="{FF2B5EF4-FFF2-40B4-BE49-F238E27FC236}">
                <a16:creationId xmlns:a16="http://schemas.microsoft.com/office/drawing/2014/main" id="{BDE0279E-56AC-178A-9173-75C460C2486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12191999" cy="61225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4" name="Caption text">
            <a:extLst>
              <a:ext uri="{FF2B5EF4-FFF2-40B4-BE49-F238E27FC236}">
                <a16:creationId xmlns:a16="http://schemas.microsoft.com/office/drawing/2014/main" id="{172E58CD-BC97-D0EA-8D91-8B419909D9E2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0010899" y="0"/>
            <a:ext cx="2181100" cy="1270660"/>
          </a:xfrm>
          <a:prstGeom prst="rect">
            <a:avLst/>
          </a:prstGeom>
          <a:solidFill>
            <a:srgbClr val="3172AE"/>
          </a:solidFill>
        </p:spPr>
        <p:txBody>
          <a:bodyPr anchor="ctr"/>
          <a:lstStyle>
            <a:lvl1pPr marL="0" indent="0" algn="ctr">
              <a:buNone/>
              <a:defRPr sz="20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Caption text</a:t>
            </a:r>
          </a:p>
        </p:txBody>
      </p:sp>
    </p:spTree>
    <p:extLst>
      <p:ext uri="{BB962C8B-B14F-4D97-AF65-F5344CB8AC3E}">
        <p14:creationId xmlns:p14="http://schemas.microsoft.com/office/powerpoint/2010/main" val="3319093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ick to Edit Title">
            <a:extLst>
              <a:ext uri="{FF2B5EF4-FFF2-40B4-BE49-F238E27FC236}">
                <a16:creationId xmlns:a16="http://schemas.microsoft.com/office/drawing/2014/main" id="{DCC2942B-EBA9-CE44-CBF0-064F5555956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52977" y="2802942"/>
            <a:ext cx="6979920" cy="646331"/>
          </a:xfrm>
          <a:prstGeom prst="rect">
            <a:avLst/>
          </a:prstGeom>
        </p:spPr>
        <p:txBody>
          <a:bodyPr anchor="t">
            <a:spAutoFit/>
          </a:bodyPr>
          <a:lstStyle>
            <a:lvl1pPr algn="l">
              <a:defRPr sz="4000" b="1">
                <a:solidFill>
                  <a:srgbClr val="3172A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Title Subhead or department name">
            <a:extLst>
              <a:ext uri="{FF2B5EF4-FFF2-40B4-BE49-F238E27FC236}">
                <a16:creationId xmlns:a16="http://schemas.microsoft.com/office/drawing/2014/main" id="{49175329-E67E-B390-0D2D-E3B892A4075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1215" y="3644142"/>
            <a:ext cx="6979920" cy="99617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l">
              <a:buNone/>
              <a:defRPr sz="2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Title subhead or department name</a:t>
            </a:r>
          </a:p>
          <a:p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Can go here and fill one or two lines</a:t>
            </a:r>
          </a:p>
        </p:txBody>
      </p:sp>
    </p:spTree>
    <p:extLst>
      <p:ext uri="{BB962C8B-B14F-4D97-AF65-F5344CB8AC3E}">
        <p14:creationId xmlns:p14="http://schemas.microsoft.com/office/powerpoint/2010/main" val="361999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hidden="1">
            <a:extLst>
              <a:ext uri="{FF2B5EF4-FFF2-40B4-BE49-F238E27FC236}">
                <a16:creationId xmlns:a16="http://schemas.microsoft.com/office/drawing/2014/main" id="{05A4F640-B8FB-70FB-5815-E87CB0C061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3 Image Slide</a:t>
            </a:r>
            <a:br>
              <a:rPr lang="en-US"/>
            </a:br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C1CF9E1-C8BB-53E6-8CB7-14F15790DF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7037"/>
            <a:ext cx="9143626" cy="6865038"/>
          </a:xfrm>
          <a:custGeom>
            <a:avLst/>
            <a:gdLst>
              <a:gd name="connsiteX0" fmla="*/ 0 w 4006850"/>
              <a:gd name="connsiteY0" fmla="*/ 0 h 6881869"/>
              <a:gd name="connsiteX1" fmla="*/ 4006850 w 4006850"/>
              <a:gd name="connsiteY1" fmla="*/ 0 h 6881869"/>
              <a:gd name="connsiteX2" fmla="*/ 4006850 w 4006850"/>
              <a:gd name="connsiteY2" fmla="*/ 6881869 h 6881869"/>
              <a:gd name="connsiteX3" fmla="*/ 0 w 4006850"/>
              <a:gd name="connsiteY3" fmla="*/ 6881869 h 6881869"/>
              <a:gd name="connsiteX4" fmla="*/ 0 w 4006850"/>
              <a:gd name="connsiteY4" fmla="*/ 0 h 6881869"/>
              <a:gd name="connsiteX0" fmla="*/ 0 w 5970121"/>
              <a:gd name="connsiteY0" fmla="*/ 13447 h 6895316"/>
              <a:gd name="connsiteX1" fmla="*/ 5970121 w 5970121"/>
              <a:gd name="connsiteY1" fmla="*/ 0 h 6895316"/>
              <a:gd name="connsiteX2" fmla="*/ 4006850 w 5970121"/>
              <a:gd name="connsiteY2" fmla="*/ 6895316 h 6895316"/>
              <a:gd name="connsiteX3" fmla="*/ 0 w 5970121"/>
              <a:gd name="connsiteY3" fmla="*/ 6895316 h 6895316"/>
              <a:gd name="connsiteX4" fmla="*/ 0 w 5970121"/>
              <a:gd name="connsiteY4" fmla="*/ 13447 h 6895316"/>
              <a:gd name="connsiteX0" fmla="*/ 0 w 9143626"/>
              <a:gd name="connsiteY0" fmla="*/ 13447 h 6908763"/>
              <a:gd name="connsiteX1" fmla="*/ 5970121 w 9143626"/>
              <a:gd name="connsiteY1" fmla="*/ 0 h 6908763"/>
              <a:gd name="connsiteX2" fmla="*/ 9143626 w 9143626"/>
              <a:gd name="connsiteY2" fmla="*/ 6908763 h 6908763"/>
              <a:gd name="connsiteX3" fmla="*/ 0 w 9143626"/>
              <a:gd name="connsiteY3" fmla="*/ 6895316 h 6908763"/>
              <a:gd name="connsiteX4" fmla="*/ 0 w 9143626"/>
              <a:gd name="connsiteY4" fmla="*/ 13447 h 6908763"/>
              <a:gd name="connsiteX0" fmla="*/ 0 w 9143626"/>
              <a:gd name="connsiteY0" fmla="*/ 43725 h 6908763"/>
              <a:gd name="connsiteX1" fmla="*/ 5970121 w 9143626"/>
              <a:gd name="connsiteY1" fmla="*/ 0 h 6908763"/>
              <a:gd name="connsiteX2" fmla="*/ 9143626 w 9143626"/>
              <a:gd name="connsiteY2" fmla="*/ 6908763 h 6908763"/>
              <a:gd name="connsiteX3" fmla="*/ 0 w 9143626"/>
              <a:gd name="connsiteY3" fmla="*/ 6895316 h 6908763"/>
              <a:gd name="connsiteX4" fmla="*/ 0 w 9143626"/>
              <a:gd name="connsiteY4" fmla="*/ 43725 h 6908763"/>
              <a:gd name="connsiteX0" fmla="*/ 0 w 9143626"/>
              <a:gd name="connsiteY0" fmla="*/ 0 h 6865038"/>
              <a:gd name="connsiteX1" fmla="*/ 5994344 w 9143626"/>
              <a:gd name="connsiteY1" fmla="*/ 4720 h 6865038"/>
              <a:gd name="connsiteX2" fmla="*/ 9143626 w 9143626"/>
              <a:gd name="connsiteY2" fmla="*/ 6865038 h 6865038"/>
              <a:gd name="connsiteX3" fmla="*/ 0 w 9143626"/>
              <a:gd name="connsiteY3" fmla="*/ 6851591 h 6865038"/>
              <a:gd name="connsiteX4" fmla="*/ 0 w 9143626"/>
              <a:gd name="connsiteY4" fmla="*/ 0 h 6865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43626" h="6865038">
                <a:moveTo>
                  <a:pt x="0" y="0"/>
                </a:moveTo>
                <a:lnTo>
                  <a:pt x="5994344" y="4720"/>
                </a:lnTo>
                <a:lnTo>
                  <a:pt x="9143626" y="6865038"/>
                </a:lnTo>
                <a:lnTo>
                  <a:pt x="0" y="6851591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BBA80E4-CEF7-B197-A17B-A0FBDFDC618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236081" y="-15285"/>
            <a:ext cx="5971032" cy="3361736"/>
          </a:xfrm>
          <a:custGeom>
            <a:avLst/>
            <a:gdLst>
              <a:gd name="connsiteX0" fmla="*/ 0 w 6045187"/>
              <a:gd name="connsiteY0" fmla="*/ 3404126 h 3404126"/>
              <a:gd name="connsiteX1" fmla="*/ 851032 w 6045187"/>
              <a:gd name="connsiteY1" fmla="*/ 0 h 3404126"/>
              <a:gd name="connsiteX2" fmla="*/ 5194156 w 6045187"/>
              <a:gd name="connsiteY2" fmla="*/ 0 h 3404126"/>
              <a:gd name="connsiteX3" fmla="*/ 6045187 w 6045187"/>
              <a:gd name="connsiteY3" fmla="*/ 3404126 h 3404126"/>
              <a:gd name="connsiteX4" fmla="*/ 0 w 6045187"/>
              <a:gd name="connsiteY4" fmla="*/ 3404126 h 3404126"/>
              <a:gd name="connsiteX0" fmla="*/ 789509 w 5194155"/>
              <a:gd name="connsiteY0" fmla="*/ 3404126 h 3404126"/>
              <a:gd name="connsiteX1" fmla="*/ 0 w 5194155"/>
              <a:gd name="connsiteY1" fmla="*/ 0 h 3404126"/>
              <a:gd name="connsiteX2" fmla="*/ 4343124 w 5194155"/>
              <a:gd name="connsiteY2" fmla="*/ 0 h 3404126"/>
              <a:gd name="connsiteX3" fmla="*/ 5194155 w 5194155"/>
              <a:gd name="connsiteY3" fmla="*/ 3404126 h 3404126"/>
              <a:gd name="connsiteX4" fmla="*/ 789509 w 5194155"/>
              <a:gd name="connsiteY4" fmla="*/ 3404126 h 3404126"/>
              <a:gd name="connsiteX0" fmla="*/ 1461862 w 5866508"/>
              <a:gd name="connsiteY0" fmla="*/ 3404126 h 3404126"/>
              <a:gd name="connsiteX1" fmla="*/ 0 w 5866508"/>
              <a:gd name="connsiteY1" fmla="*/ 0 h 3404126"/>
              <a:gd name="connsiteX2" fmla="*/ 5015477 w 5866508"/>
              <a:gd name="connsiteY2" fmla="*/ 0 h 3404126"/>
              <a:gd name="connsiteX3" fmla="*/ 5866508 w 5866508"/>
              <a:gd name="connsiteY3" fmla="*/ 3404126 h 3404126"/>
              <a:gd name="connsiteX4" fmla="*/ 1461862 w 5866508"/>
              <a:gd name="connsiteY4" fmla="*/ 3404126 h 3404126"/>
              <a:gd name="connsiteX0" fmla="*/ 1596333 w 6000979"/>
              <a:gd name="connsiteY0" fmla="*/ 3404126 h 3404126"/>
              <a:gd name="connsiteX1" fmla="*/ 0 w 6000979"/>
              <a:gd name="connsiteY1" fmla="*/ 0 h 3404126"/>
              <a:gd name="connsiteX2" fmla="*/ 5149948 w 6000979"/>
              <a:gd name="connsiteY2" fmla="*/ 0 h 3404126"/>
              <a:gd name="connsiteX3" fmla="*/ 6000979 w 6000979"/>
              <a:gd name="connsiteY3" fmla="*/ 3404126 h 3404126"/>
              <a:gd name="connsiteX4" fmla="*/ 1596333 w 6000979"/>
              <a:gd name="connsiteY4" fmla="*/ 3404126 h 3404126"/>
              <a:gd name="connsiteX0" fmla="*/ 1596333 w 6010560"/>
              <a:gd name="connsiteY0" fmla="*/ 3404126 h 3404126"/>
              <a:gd name="connsiteX1" fmla="*/ 0 w 6010560"/>
              <a:gd name="connsiteY1" fmla="*/ 0 h 3404126"/>
              <a:gd name="connsiteX2" fmla="*/ 6010560 w 6010560"/>
              <a:gd name="connsiteY2" fmla="*/ 0 h 3404126"/>
              <a:gd name="connsiteX3" fmla="*/ 6000979 w 6010560"/>
              <a:gd name="connsiteY3" fmla="*/ 3404126 h 3404126"/>
              <a:gd name="connsiteX4" fmla="*/ 1596333 w 6010560"/>
              <a:gd name="connsiteY4" fmla="*/ 3404126 h 3404126"/>
              <a:gd name="connsiteX0" fmla="*/ 1596333 w 6010560"/>
              <a:gd name="connsiteY0" fmla="*/ 3404126 h 3404126"/>
              <a:gd name="connsiteX1" fmla="*/ 0 w 6010560"/>
              <a:gd name="connsiteY1" fmla="*/ 0 h 3404126"/>
              <a:gd name="connsiteX2" fmla="*/ 6010560 w 6010560"/>
              <a:gd name="connsiteY2" fmla="*/ 0 h 3404126"/>
              <a:gd name="connsiteX3" fmla="*/ 6000979 w 6010560"/>
              <a:gd name="connsiteY3" fmla="*/ 3404126 h 3404126"/>
              <a:gd name="connsiteX4" fmla="*/ 1596333 w 6010560"/>
              <a:gd name="connsiteY4" fmla="*/ 3404126 h 3404126"/>
              <a:gd name="connsiteX0" fmla="*/ 1578166 w 5992393"/>
              <a:gd name="connsiteY0" fmla="*/ 3404126 h 3404126"/>
              <a:gd name="connsiteX1" fmla="*/ 0 w 5992393"/>
              <a:gd name="connsiteY1" fmla="*/ 42390 h 3404126"/>
              <a:gd name="connsiteX2" fmla="*/ 5992393 w 5992393"/>
              <a:gd name="connsiteY2" fmla="*/ 0 h 3404126"/>
              <a:gd name="connsiteX3" fmla="*/ 5982812 w 5992393"/>
              <a:gd name="connsiteY3" fmla="*/ 3404126 h 3404126"/>
              <a:gd name="connsiteX4" fmla="*/ 1578166 w 5992393"/>
              <a:gd name="connsiteY4" fmla="*/ 3404126 h 3404126"/>
              <a:gd name="connsiteX0" fmla="*/ 1578166 w 5986338"/>
              <a:gd name="connsiteY0" fmla="*/ 3361737 h 3361737"/>
              <a:gd name="connsiteX1" fmla="*/ 0 w 5986338"/>
              <a:gd name="connsiteY1" fmla="*/ 1 h 3361737"/>
              <a:gd name="connsiteX2" fmla="*/ 5986338 w 5986338"/>
              <a:gd name="connsiteY2" fmla="*/ 0 h 3361737"/>
              <a:gd name="connsiteX3" fmla="*/ 5982812 w 5986338"/>
              <a:gd name="connsiteY3" fmla="*/ 3361737 h 3361737"/>
              <a:gd name="connsiteX4" fmla="*/ 1578166 w 5986338"/>
              <a:gd name="connsiteY4" fmla="*/ 3361737 h 3361737"/>
              <a:gd name="connsiteX0" fmla="*/ 1578166 w 5986338"/>
              <a:gd name="connsiteY0" fmla="*/ 3361737 h 3361737"/>
              <a:gd name="connsiteX1" fmla="*/ 0 w 5986338"/>
              <a:gd name="connsiteY1" fmla="*/ 1 h 3361737"/>
              <a:gd name="connsiteX2" fmla="*/ 5986338 w 5986338"/>
              <a:gd name="connsiteY2" fmla="*/ 0 h 3361737"/>
              <a:gd name="connsiteX3" fmla="*/ 5970701 w 5986338"/>
              <a:gd name="connsiteY3" fmla="*/ 3361737 h 3361737"/>
              <a:gd name="connsiteX4" fmla="*/ 1578166 w 5986338"/>
              <a:gd name="connsiteY4" fmla="*/ 3361737 h 3361737"/>
              <a:gd name="connsiteX0" fmla="*/ 1578166 w 5971032"/>
              <a:gd name="connsiteY0" fmla="*/ 3361736 h 3361736"/>
              <a:gd name="connsiteX1" fmla="*/ 0 w 5971032"/>
              <a:gd name="connsiteY1" fmla="*/ 0 h 3361736"/>
              <a:gd name="connsiteX2" fmla="*/ 5956060 w 5971032"/>
              <a:gd name="connsiteY2" fmla="*/ 24222 h 3361736"/>
              <a:gd name="connsiteX3" fmla="*/ 5970701 w 5971032"/>
              <a:gd name="connsiteY3" fmla="*/ 3361736 h 3361736"/>
              <a:gd name="connsiteX4" fmla="*/ 1578166 w 5971032"/>
              <a:gd name="connsiteY4" fmla="*/ 3361736 h 3361736"/>
              <a:gd name="connsiteX0" fmla="*/ 1578166 w 5971032"/>
              <a:gd name="connsiteY0" fmla="*/ 3361736 h 3361736"/>
              <a:gd name="connsiteX1" fmla="*/ 0 w 5971032"/>
              <a:gd name="connsiteY1" fmla="*/ 0 h 3361736"/>
              <a:gd name="connsiteX2" fmla="*/ 5956060 w 5971032"/>
              <a:gd name="connsiteY2" fmla="*/ 18167 h 3361736"/>
              <a:gd name="connsiteX3" fmla="*/ 5970701 w 5971032"/>
              <a:gd name="connsiteY3" fmla="*/ 3361736 h 3361736"/>
              <a:gd name="connsiteX4" fmla="*/ 1578166 w 5971032"/>
              <a:gd name="connsiteY4" fmla="*/ 3361736 h 3361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71032" h="3361736">
                <a:moveTo>
                  <a:pt x="1578166" y="3361736"/>
                </a:moveTo>
                <a:lnTo>
                  <a:pt x="0" y="0"/>
                </a:lnTo>
                <a:lnTo>
                  <a:pt x="5956060" y="18167"/>
                </a:lnTo>
                <a:cubicBezTo>
                  <a:pt x="5952866" y="1152876"/>
                  <a:pt x="5973895" y="2227027"/>
                  <a:pt x="5970701" y="3361736"/>
                </a:cubicBezTo>
                <a:lnTo>
                  <a:pt x="1578166" y="3361736"/>
                </a:lnTo>
                <a:close/>
              </a:path>
            </a:pathLst>
          </a:cu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1A72B707-7C36-ECD6-0B49-20B70556341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925690" y="3592232"/>
            <a:ext cx="4248810" cy="3278094"/>
          </a:xfrm>
          <a:custGeom>
            <a:avLst/>
            <a:gdLst>
              <a:gd name="connsiteX0" fmla="*/ 0 w 6045187"/>
              <a:gd name="connsiteY0" fmla="*/ 3404126 h 3404126"/>
              <a:gd name="connsiteX1" fmla="*/ 851032 w 6045187"/>
              <a:gd name="connsiteY1" fmla="*/ 0 h 3404126"/>
              <a:gd name="connsiteX2" fmla="*/ 5194156 w 6045187"/>
              <a:gd name="connsiteY2" fmla="*/ 0 h 3404126"/>
              <a:gd name="connsiteX3" fmla="*/ 6045187 w 6045187"/>
              <a:gd name="connsiteY3" fmla="*/ 3404126 h 3404126"/>
              <a:gd name="connsiteX4" fmla="*/ 0 w 6045187"/>
              <a:gd name="connsiteY4" fmla="*/ 3404126 h 3404126"/>
              <a:gd name="connsiteX0" fmla="*/ 789509 w 5194155"/>
              <a:gd name="connsiteY0" fmla="*/ 3404126 h 3404126"/>
              <a:gd name="connsiteX1" fmla="*/ 0 w 5194155"/>
              <a:gd name="connsiteY1" fmla="*/ 0 h 3404126"/>
              <a:gd name="connsiteX2" fmla="*/ 4343124 w 5194155"/>
              <a:gd name="connsiteY2" fmla="*/ 0 h 3404126"/>
              <a:gd name="connsiteX3" fmla="*/ 5194155 w 5194155"/>
              <a:gd name="connsiteY3" fmla="*/ 3404126 h 3404126"/>
              <a:gd name="connsiteX4" fmla="*/ 789509 w 5194155"/>
              <a:gd name="connsiteY4" fmla="*/ 3404126 h 3404126"/>
              <a:gd name="connsiteX0" fmla="*/ 1461862 w 5866508"/>
              <a:gd name="connsiteY0" fmla="*/ 3404126 h 3404126"/>
              <a:gd name="connsiteX1" fmla="*/ 0 w 5866508"/>
              <a:gd name="connsiteY1" fmla="*/ 0 h 3404126"/>
              <a:gd name="connsiteX2" fmla="*/ 5015477 w 5866508"/>
              <a:gd name="connsiteY2" fmla="*/ 0 h 3404126"/>
              <a:gd name="connsiteX3" fmla="*/ 5866508 w 5866508"/>
              <a:gd name="connsiteY3" fmla="*/ 3404126 h 3404126"/>
              <a:gd name="connsiteX4" fmla="*/ 1461862 w 5866508"/>
              <a:gd name="connsiteY4" fmla="*/ 3404126 h 3404126"/>
              <a:gd name="connsiteX0" fmla="*/ 1596333 w 6000979"/>
              <a:gd name="connsiteY0" fmla="*/ 3404126 h 3404126"/>
              <a:gd name="connsiteX1" fmla="*/ 0 w 6000979"/>
              <a:gd name="connsiteY1" fmla="*/ 0 h 3404126"/>
              <a:gd name="connsiteX2" fmla="*/ 5149948 w 6000979"/>
              <a:gd name="connsiteY2" fmla="*/ 0 h 3404126"/>
              <a:gd name="connsiteX3" fmla="*/ 6000979 w 6000979"/>
              <a:gd name="connsiteY3" fmla="*/ 3404126 h 3404126"/>
              <a:gd name="connsiteX4" fmla="*/ 1596333 w 6000979"/>
              <a:gd name="connsiteY4" fmla="*/ 3404126 h 3404126"/>
              <a:gd name="connsiteX0" fmla="*/ 1596333 w 6010560"/>
              <a:gd name="connsiteY0" fmla="*/ 3404126 h 3404126"/>
              <a:gd name="connsiteX1" fmla="*/ 0 w 6010560"/>
              <a:gd name="connsiteY1" fmla="*/ 0 h 3404126"/>
              <a:gd name="connsiteX2" fmla="*/ 6010560 w 6010560"/>
              <a:gd name="connsiteY2" fmla="*/ 0 h 3404126"/>
              <a:gd name="connsiteX3" fmla="*/ 6000979 w 6010560"/>
              <a:gd name="connsiteY3" fmla="*/ 3404126 h 3404126"/>
              <a:gd name="connsiteX4" fmla="*/ 1596333 w 6010560"/>
              <a:gd name="connsiteY4" fmla="*/ 3404126 h 3404126"/>
              <a:gd name="connsiteX0" fmla="*/ 1596333 w 6010560"/>
              <a:gd name="connsiteY0" fmla="*/ 3404126 h 3404126"/>
              <a:gd name="connsiteX1" fmla="*/ 0 w 6010560"/>
              <a:gd name="connsiteY1" fmla="*/ 0 h 3404126"/>
              <a:gd name="connsiteX2" fmla="*/ 6010560 w 6010560"/>
              <a:gd name="connsiteY2" fmla="*/ 0 h 3404126"/>
              <a:gd name="connsiteX3" fmla="*/ 6000979 w 6010560"/>
              <a:gd name="connsiteY3" fmla="*/ 3404126 h 3404126"/>
              <a:gd name="connsiteX4" fmla="*/ 1596333 w 6010560"/>
              <a:gd name="connsiteY4" fmla="*/ 3404126 h 3404126"/>
              <a:gd name="connsiteX0" fmla="*/ 1555992 w 6010560"/>
              <a:gd name="connsiteY0" fmla="*/ 3323444 h 3404126"/>
              <a:gd name="connsiteX1" fmla="*/ 0 w 6010560"/>
              <a:gd name="connsiteY1" fmla="*/ 0 h 3404126"/>
              <a:gd name="connsiteX2" fmla="*/ 6010560 w 6010560"/>
              <a:gd name="connsiteY2" fmla="*/ 0 h 3404126"/>
              <a:gd name="connsiteX3" fmla="*/ 6000979 w 6010560"/>
              <a:gd name="connsiteY3" fmla="*/ 3404126 h 3404126"/>
              <a:gd name="connsiteX4" fmla="*/ 1555992 w 6010560"/>
              <a:gd name="connsiteY4" fmla="*/ 3323444 h 3404126"/>
              <a:gd name="connsiteX0" fmla="*/ 1555992 w 6010560"/>
              <a:gd name="connsiteY0" fmla="*/ 3323444 h 3323444"/>
              <a:gd name="connsiteX1" fmla="*/ 0 w 6010560"/>
              <a:gd name="connsiteY1" fmla="*/ 0 h 3323444"/>
              <a:gd name="connsiteX2" fmla="*/ 6010560 w 6010560"/>
              <a:gd name="connsiteY2" fmla="*/ 0 h 3323444"/>
              <a:gd name="connsiteX3" fmla="*/ 6000979 w 6010560"/>
              <a:gd name="connsiteY3" fmla="*/ 3309997 h 3323444"/>
              <a:gd name="connsiteX4" fmla="*/ 1555992 w 6010560"/>
              <a:gd name="connsiteY4" fmla="*/ 3323444 h 3323444"/>
              <a:gd name="connsiteX0" fmla="*/ 1529097 w 6010560"/>
              <a:gd name="connsiteY0" fmla="*/ 3256209 h 3309997"/>
              <a:gd name="connsiteX1" fmla="*/ 0 w 6010560"/>
              <a:gd name="connsiteY1" fmla="*/ 0 h 3309997"/>
              <a:gd name="connsiteX2" fmla="*/ 6010560 w 6010560"/>
              <a:gd name="connsiteY2" fmla="*/ 0 h 3309997"/>
              <a:gd name="connsiteX3" fmla="*/ 6000979 w 6010560"/>
              <a:gd name="connsiteY3" fmla="*/ 3309997 h 3309997"/>
              <a:gd name="connsiteX4" fmla="*/ 1529097 w 6010560"/>
              <a:gd name="connsiteY4" fmla="*/ 3256209 h 3309997"/>
              <a:gd name="connsiteX0" fmla="*/ 1529097 w 6010560"/>
              <a:gd name="connsiteY0" fmla="*/ 3256209 h 3269656"/>
              <a:gd name="connsiteX1" fmla="*/ 0 w 6010560"/>
              <a:gd name="connsiteY1" fmla="*/ 0 h 3269656"/>
              <a:gd name="connsiteX2" fmla="*/ 6010560 w 6010560"/>
              <a:gd name="connsiteY2" fmla="*/ 0 h 3269656"/>
              <a:gd name="connsiteX3" fmla="*/ 6000979 w 6010560"/>
              <a:gd name="connsiteY3" fmla="*/ 3269656 h 3269656"/>
              <a:gd name="connsiteX4" fmla="*/ 1529097 w 6010560"/>
              <a:gd name="connsiteY4" fmla="*/ 3256209 h 3269656"/>
              <a:gd name="connsiteX0" fmla="*/ 1529097 w 6000983"/>
              <a:gd name="connsiteY0" fmla="*/ 3256209 h 3269656"/>
              <a:gd name="connsiteX1" fmla="*/ 0 w 6000983"/>
              <a:gd name="connsiteY1" fmla="*/ 0 h 3269656"/>
              <a:gd name="connsiteX2" fmla="*/ 4343125 w 6000983"/>
              <a:gd name="connsiteY2" fmla="*/ 0 h 3269656"/>
              <a:gd name="connsiteX3" fmla="*/ 6000979 w 6000983"/>
              <a:gd name="connsiteY3" fmla="*/ 3269656 h 3269656"/>
              <a:gd name="connsiteX4" fmla="*/ 1529097 w 6000983"/>
              <a:gd name="connsiteY4" fmla="*/ 3256209 h 3269656"/>
              <a:gd name="connsiteX0" fmla="*/ 1529097 w 4347615"/>
              <a:gd name="connsiteY0" fmla="*/ 3256209 h 3269656"/>
              <a:gd name="connsiteX1" fmla="*/ 0 w 4347615"/>
              <a:gd name="connsiteY1" fmla="*/ 0 h 3269656"/>
              <a:gd name="connsiteX2" fmla="*/ 4343125 w 4347615"/>
              <a:gd name="connsiteY2" fmla="*/ 0 h 3269656"/>
              <a:gd name="connsiteX3" fmla="*/ 4346991 w 4347615"/>
              <a:gd name="connsiteY3" fmla="*/ 3269656 h 3269656"/>
              <a:gd name="connsiteX4" fmla="*/ 1529097 w 4347615"/>
              <a:gd name="connsiteY4" fmla="*/ 3256209 h 3269656"/>
              <a:gd name="connsiteX0" fmla="*/ 1539729 w 4347615"/>
              <a:gd name="connsiteY0" fmla="*/ 3282790 h 3282790"/>
              <a:gd name="connsiteX1" fmla="*/ 0 w 4347615"/>
              <a:gd name="connsiteY1" fmla="*/ 0 h 3282790"/>
              <a:gd name="connsiteX2" fmla="*/ 4343125 w 4347615"/>
              <a:gd name="connsiteY2" fmla="*/ 0 h 3282790"/>
              <a:gd name="connsiteX3" fmla="*/ 4346991 w 4347615"/>
              <a:gd name="connsiteY3" fmla="*/ 3269656 h 3282790"/>
              <a:gd name="connsiteX4" fmla="*/ 1539729 w 4347615"/>
              <a:gd name="connsiteY4" fmla="*/ 3282790 h 3282790"/>
              <a:gd name="connsiteX0" fmla="*/ 1539729 w 4347615"/>
              <a:gd name="connsiteY0" fmla="*/ 3282790 h 3296238"/>
              <a:gd name="connsiteX1" fmla="*/ 0 w 4347615"/>
              <a:gd name="connsiteY1" fmla="*/ 0 h 3296238"/>
              <a:gd name="connsiteX2" fmla="*/ 4343125 w 4347615"/>
              <a:gd name="connsiteY2" fmla="*/ 0 h 3296238"/>
              <a:gd name="connsiteX3" fmla="*/ 4346991 w 4347615"/>
              <a:gd name="connsiteY3" fmla="*/ 3296238 h 3296238"/>
              <a:gd name="connsiteX4" fmla="*/ 1539729 w 4347615"/>
              <a:gd name="connsiteY4" fmla="*/ 3282790 h 3296238"/>
              <a:gd name="connsiteX0" fmla="*/ 1539729 w 4347086"/>
              <a:gd name="connsiteY0" fmla="*/ 3282790 h 3296238"/>
              <a:gd name="connsiteX1" fmla="*/ 0 w 4347086"/>
              <a:gd name="connsiteY1" fmla="*/ 0 h 3296238"/>
              <a:gd name="connsiteX2" fmla="*/ 4275392 w 4347086"/>
              <a:gd name="connsiteY2" fmla="*/ 0 h 3296238"/>
              <a:gd name="connsiteX3" fmla="*/ 4346991 w 4347086"/>
              <a:gd name="connsiteY3" fmla="*/ 3296238 h 3296238"/>
              <a:gd name="connsiteX4" fmla="*/ 1539729 w 4347086"/>
              <a:gd name="connsiteY4" fmla="*/ 3282790 h 3296238"/>
              <a:gd name="connsiteX0" fmla="*/ 1539729 w 4275392"/>
              <a:gd name="connsiteY0" fmla="*/ 3282790 h 3296238"/>
              <a:gd name="connsiteX1" fmla="*/ 0 w 4275392"/>
              <a:gd name="connsiteY1" fmla="*/ 0 h 3296238"/>
              <a:gd name="connsiteX2" fmla="*/ 4275392 w 4275392"/>
              <a:gd name="connsiteY2" fmla="*/ 0 h 3296238"/>
              <a:gd name="connsiteX3" fmla="*/ 4267969 w 4275392"/>
              <a:gd name="connsiteY3" fmla="*/ 3296238 h 3296238"/>
              <a:gd name="connsiteX4" fmla="*/ 1539729 w 4275392"/>
              <a:gd name="connsiteY4" fmla="*/ 3282790 h 3296238"/>
              <a:gd name="connsiteX0" fmla="*/ 1539729 w 4268246"/>
              <a:gd name="connsiteY0" fmla="*/ 3282790 h 3296238"/>
              <a:gd name="connsiteX1" fmla="*/ 0 w 4268246"/>
              <a:gd name="connsiteY1" fmla="*/ 0 h 3296238"/>
              <a:gd name="connsiteX2" fmla="*/ 4248810 w 4268246"/>
              <a:gd name="connsiteY2" fmla="*/ 0 h 3296238"/>
              <a:gd name="connsiteX3" fmla="*/ 4267969 w 4268246"/>
              <a:gd name="connsiteY3" fmla="*/ 3296238 h 3296238"/>
              <a:gd name="connsiteX4" fmla="*/ 1539729 w 4268246"/>
              <a:gd name="connsiteY4" fmla="*/ 3282790 h 3296238"/>
              <a:gd name="connsiteX0" fmla="*/ 1539729 w 4248810"/>
              <a:gd name="connsiteY0" fmla="*/ 3282790 h 3282790"/>
              <a:gd name="connsiteX1" fmla="*/ 0 w 4248810"/>
              <a:gd name="connsiteY1" fmla="*/ 0 h 3282790"/>
              <a:gd name="connsiteX2" fmla="*/ 4248810 w 4248810"/>
              <a:gd name="connsiteY2" fmla="*/ 0 h 3282790"/>
              <a:gd name="connsiteX3" fmla="*/ 4236071 w 4248810"/>
              <a:gd name="connsiteY3" fmla="*/ 3274973 h 3282790"/>
              <a:gd name="connsiteX4" fmla="*/ 1539729 w 4248810"/>
              <a:gd name="connsiteY4" fmla="*/ 3282790 h 3282790"/>
              <a:gd name="connsiteX0" fmla="*/ 1534412 w 4248810"/>
              <a:gd name="connsiteY0" fmla="*/ 3272157 h 3274973"/>
              <a:gd name="connsiteX1" fmla="*/ 0 w 4248810"/>
              <a:gd name="connsiteY1" fmla="*/ 0 h 3274973"/>
              <a:gd name="connsiteX2" fmla="*/ 4248810 w 4248810"/>
              <a:gd name="connsiteY2" fmla="*/ 0 h 3274973"/>
              <a:gd name="connsiteX3" fmla="*/ 4236071 w 4248810"/>
              <a:gd name="connsiteY3" fmla="*/ 3274973 h 3274973"/>
              <a:gd name="connsiteX4" fmla="*/ 1534412 w 4248810"/>
              <a:gd name="connsiteY4" fmla="*/ 3272157 h 3274973"/>
              <a:gd name="connsiteX0" fmla="*/ 1486911 w 4248810"/>
              <a:gd name="connsiteY0" fmla="*/ 3278094 h 3278094"/>
              <a:gd name="connsiteX1" fmla="*/ 0 w 4248810"/>
              <a:gd name="connsiteY1" fmla="*/ 0 h 3278094"/>
              <a:gd name="connsiteX2" fmla="*/ 4248810 w 4248810"/>
              <a:gd name="connsiteY2" fmla="*/ 0 h 3278094"/>
              <a:gd name="connsiteX3" fmla="*/ 4236071 w 4248810"/>
              <a:gd name="connsiteY3" fmla="*/ 3274973 h 3278094"/>
              <a:gd name="connsiteX4" fmla="*/ 1486911 w 4248810"/>
              <a:gd name="connsiteY4" fmla="*/ 3278094 h 3278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48810" h="3278094">
                <a:moveTo>
                  <a:pt x="1486911" y="3278094"/>
                </a:moveTo>
                <a:lnTo>
                  <a:pt x="0" y="0"/>
                </a:lnTo>
                <a:lnTo>
                  <a:pt x="4248810" y="0"/>
                </a:lnTo>
                <a:cubicBezTo>
                  <a:pt x="4245616" y="1134709"/>
                  <a:pt x="4239265" y="2140264"/>
                  <a:pt x="4236071" y="3274973"/>
                </a:cubicBezTo>
                <a:lnTo>
                  <a:pt x="1486911" y="3278094"/>
                </a:lnTo>
                <a:close/>
              </a:path>
            </a:pathLst>
          </a:cu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Caption text">
            <a:extLst>
              <a:ext uri="{FF2B5EF4-FFF2-40B4-BE49-F238E27FC236}">
                <a16:creationId xmlns:a16="http://schemas.microsoft.com/office/drawing/2014/main" id="{0DE8C509-C12F-0D6D-D3B9-DD704095441F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0" y="0"/>
            <a:ext cx="2181100" cy="1270660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2000" b="0">
                <a:solidFill>
                  <a:srgbClr val="3172A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Caption text</a:t>
            </a:r>
          </a:p>
        </p:txBody>
      </p:sp>
    </p:spTree>
    <p:extLst>
      <p:ext uri="{BB962C8B-B14F-4D97-AF65-F5344CB8AC3E}">
        <p14:creationId xmlns:p14="http://schemas.microsoft.com/office/powerpoint/2010/main" val="9074048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4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Relationship Id="rId9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green and yellow squares  Description automatically generated">
            <a:extLst>
              <a:ext uri="{FF2B5EF4-FFF2-40B4-BE49-F238E27FC236}">
                <a16:creationId xmlns:a16="http://schemas.microsoft.com/office/drawing/2014/main" id="{47203D4E-3E31-637A-41E4-9C79F3E6A55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86834" cy="6855094"/>
          </a:xfrm>
          <a:prstGeom prst="rect">
            <a:avLst/>
          </a:prstGeom>
        </p:spPr>
      </p:pic>
      <p:pic>
        <p:nvPicPr>
          <p:cNvPr id="4" name="Picture 3" descr="Blue text on a black background  Description automatically generated">
            <a:extLst>
              <a:ext uri="{FF2B5EF4-FFF2-40B4-BE49-F238E27FC236}">
                <a16:creationId xmlns:a16="http://schemas.microsoft.com/office/drawing/2014/main" id="{1DD13B68-307E-1F4D-8324-F536B1DEA2E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166" y="10353"/>
            <a:ext cx="2296899" cy="1492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97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background with blue and green squares  Description automatically generated">
            <a:extLst>
              <a:ext uri="{FF2B5EF4-FFF2-40B4-BE49-F238E27FC236}">
                <a16:creationId xmlns:a16="http://schemas.microsoft.com/office/drawing/2014/main" id="{838D4C41-C3EC-5A64-0ABC-2A2BF95BAE9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 flipV="1">
            <a:off x="0" y="69574"/>
            <a:ext cx="12192000" cy="6858000"/>
          </a:xfrm>
          <a:prstGeom prst="rect">
            <a:avLst/>
          </a:prstGeom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09E4D5C-9B53-A363-01B7-19A206E0E676}"/>
              </a:ext>
            </a:extLst>
          </p:cNvPr>
          <p:cNvSpPr txBox="1">
            <a:spLocks/>
          </p:cNvSpPr>
          <p:nvPr userDrawn="1"/>
        </p:nvSpPr>
        <p:spPr>
          <a:xfrm>
            <a:off x="1328896" y="6334130"/>
            <a:ext cx="6979920" cy="27705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</a:rPr>
              <a:t>TTS Research Technology</a:t>
            </a:r>
          </a:p>
          <a:p>
            <a:endParaRPr lang="en-US" sz="14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6" name="Picture 5" descr="Blue text on a black background  Description automatically generated">
            <a:extLst>
              <a:ext uri="{FF2B5EF4-FFF2-40B4-BE49-F238E27FC236}">
                <a16:creationId xmlns:a16="http://schemas.microsoft.com/office/drawing/2014/main" id="{D4169D26-9FA1-18CE-84B8-BF1B03A3C2BB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58487" y="6025662"/>
            <a:ext cx="1280520" cy="832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366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16" r:id="rId2"/>
    <p:sldLayoutId id="2147483717" r:id="rId3"/>
    <p:sldLayoutId id="2147483718" r:id="rId4"/>
    <p:sldLayoutId id="2147483719" r:id="rId5"/>
    <p:sldLayoutId id="2147483722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 2">
            <a:extLst>
              <a:ext uri="{FF2B5EF4-FFF2-40B4-BE49-F238E27FC236}">
                <a16:creationId xmlns:a16="http://schemas.microsoft.com/office/drawing/2014/main" id="{609E4D5C-9B53-A363-01B7-19A206E0E676}"/>
              </a:ext>
            </a:extLst>
          </p:cNvPr>
          <p:cNvSpPr txBox="1">
            <a:spLocks/>
          </p:cNvSpPr>
          <p:nvPr userDrawn="1"/>
        </p:nvSpPr>
        <p:spPr>
          <a:xfrm>
            <a:off x="1328896" y="6334130"/>
            <a:ext cx="6979920" cy="27705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</a:rPr>
              <a:t>School, department, or center name</a:t>
            </a:r>
          </a:p>
        </p:txBody>
      </p:sp>
      <p:pic>
        <p:nvPicPr>
          <p:cNvPr id="2" name="Picture 1" descr="Blue text on a black background  Description automatically generated">
            <a:extLst>
              <a:ext uri="{FF2B5EF4-FFF2-40B4-BE49-F238E27FC236}">
                <a16:creationId xmlns:a16="http://schemas.microsoft.com/office/drawing/2014/main" id="{D55BDAAC-2064-0DAA-9CED-C65EEA8BE93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487" y="6025662"/>
            <a:ext cx="1280520" cy="832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123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jpeg"/><Relationship Id="rId4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0A4F7F3-4D87-7012-A102-59C39C3522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215" y="2144997"/>
            <a:ext cx="8072277" cy="1421928"/>
          </a:xfrm>
        </p:spPr>
        <p:txBody>
          <a:bodyPr/>
          <a:lstStyle/>
          <a:p>
            <a:r>
              <a:rPr lang="en-US" sz="3200" dirty="0"/>
              <a:t>Automating Container Builds with GitHub Actions: </a:t>
            </a:r>
            <a:br>
              <a:rPr lang="en-US" sz="3200" dirty="0"/>
            </a:br>
            <a:r>
              <a:rPr lang="en-US" sz="3200" dirty="0"/>
              <a:t>From Code to Docker Hub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62793F6-F5B5-3DDA-73E2-B25EC725E1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215" y="3644142"/>
            <a:ext cx="6979920" cy="2028248"/>
          </a:xfrm>
        </p:spPr>
        <p:txBody>
          <a:bodyPr/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Yucheng Zhang</a:t>
            </a:r>
          </a:p>
          <a:p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yucheng.zhang@tufts.edu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Senior Bioinformatics Engineer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TTS Research Technology</a:t>
            </a:r>
          </a:p>
        </p:txBody>
      </p:sp>
    </p:spTree>
    <p:extLst>
      <p:ext uri="{BB962C8B-B14F-4D97-AF65-F5344CB8AC3E}">
        <p14:creationId xmlns:p14="http://schemas.microsoft.com/office/powerpoint/2010/main" val="3010642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8CC2C52-5C76-9A6B-D6CE-52E02EB276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F3B9BDD-E21B-2944-56E3-32B5FEA2E7D3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774171" y="1622352"/>
            <a:ext cx="10643658" cy="3317062"/>
          </a:xfrm>
          <a:prstGeom prst="rect">
            <a:avLst/>
          </a:prstGeom>
        </p:spPr>
        <p:txBody>
          <a:bodyPr/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v"/>
            </a:pPr>
            <a:r>
              <a:rPr lang="en-US" dirty="0"/>
              <a:t>Containers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v"/>
            </a:pPr>
            <a:r>
              <a:rPr lang="en-US" dirty="0"/>
              <a:t>CI/CD &amp; GitHub Actions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v"/>
            </a:pPr>
            <a:r>
              <a:rPr lang="en-US" dirty="0"/>
              <a:t>GitHub Action for Docker build 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v"/>
            </a:pPr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372668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7756E-6B90-E471-0BC1-BB2F86E8D2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01 Container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BAC139-510D-0BCA-6FBF-B91CE5F6B1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517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E3673C9-235C-AD70-8F72-229DCA4C65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384" y="0"/>
            <a:ext cx="9045145" cy="6030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28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7B33F6-B006-B3B8-4F89-28D0C48843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389" y="1858214"/>
            <a:ext cx="5685344" cy="2187971"/>
          </a:xfrm>
        </p:spPr>
        <p:txBody>
          <a:bodyPr/>
          <a:lstStyle/>
          <a:p>
            <a:r>
              <a:rPr lang="en-US" b="0" dirty="0"/>
              <a:t>Containerize applications</a:t>
            </a:r>
          </a:p>
          <a:p>
            <a:r>
              <a:rPr lang="en-US" b="0" dirty="0"/>
              <a:t>Run each service/application with its own dependencies in separate containers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1DF2ED6-41E7-2B00-9240-D1D79809EE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389" y="357095"/>
            <a:ext cx="7089847" cy="618631"/>
          </a:xfrm>
        </p:spPr>
        <p:txBody>
          <a:bodyPr/>
          <a:lstStyle/>
          <a:p>
            <a:r>
              <a:rPr lang="en-US" dirty="0"/>
              <a:t>What can container do?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D437AB-33B7-9890-4C98-596E52E45B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56" t="4740" r="5751" b="16055"/>
          <a:stretch>
            <a:fillRect/>
          </a:stretch>
        </p:blipFill>
        <p:spPr>
          <a:xfrm>
            <a:off x="6096000" y="1445741"/>
            <a:ext cx="6036857" cy="35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9746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CD151F-9977-F249-B2A2-DA164B7C2D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390" y="357095"/>
            <a:ext cx="8780424" cy="618631"/>
          </a:xfrm>
        </p:spPr>
        <p:txBody>
          <a:bodyPr/>
          <a:lstStyle/>
          <a:p>
            <a:r>
              <a:rPr lang="en-US" dirty="0"/>
              <a:t>Why Use Containers?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3D7616C-0D33-D8BE-6853-35689109B0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463"/>
          <a:stretch>
            <a:fillRect/>
          </a:stretch>
        </p:blipFill>
        <p:spPr>
          <a:xfrm>
            <a:off x="1290972" y="1185713"/>
            <a:ext cx="9718898" cy="5736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9508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EFC772-EC57-4A9B-5C3F-B54C3A86A3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49084" y="2150100"/>
            <a:ext cx="11167634" cy="3803798"/>
          </a:xfrm>
        </p:spPr>
        <p:txBody>
          <a:bodyPr/>
          <a:lstStyle/>
          <a:p>
            <a:r>
              <a:rPr lang="en-US" sz="2000" b="0" dirty="0"/>
              <a:t>Singularity, the container runtime, is the most heavily used application on the HPC system.</a:t>
            </a:r>
          </a:p>
          <a:p>
            <a:r>
              <a:rPr lang="en-US" sz="2000" b="0" dirty="0"/>
              <a:t>All AI tools running on the HPC system are delivered through containers.</a:t>
            </a:r>
          </a:p>
          <a:p>
            <a:r>
              <a:rPr lang="en-US" sz="2000" b="0" dirty="0"/>
              <a:t>Most applications that support NVIDIA GPUs are container-based.</a:t>
            </a:r>
          </a:p>
          <a:p>
            <a:r>
              <a:rPr lang="en-US" sz="2000" b="0" dirty="0"/>
              <a:t>Bioinformatics software stacks are built on containers.</a:t>
            </a:r>
          </a:p>
          <a:p>
            <a:r>
              <a:rPr lang="en-US" sz="2000" b="0" dirty="0"/>
              <a:t>Course computing environments that rely on HPC are provided through containers.</a:t>
            </a:r>
          </a:p>
          <a:p>
            <a:r>
              <a:rPr lang="en-US" sz="2000" b="0" dirty="0"/>
              <a:t>R, RStudio, </a:t>
            </a:r>
            <a:r>
              <a:rPr lang="en-US" sz="2000" b="0" dirty="0" err="1"/>
              <a:t>Jupyter</a:t>
            </a:r>
            <a:r>
              <a:rPr lang="en-US" sz="2000" b="0" dirty="0"/>
              <a:t> Notebook, and many other commonly used applications run in containers.</a:t>
            </a:r>
          </a:p>
          <a:p>
            <a:r>
              <a:rPr lang="en-US" sz="2000" b="0" dirty="0"/>
              <a:t>And much more.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ADB2242-F2BD-8B0A-D81E-34CAC9EF8C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9084" y="259559"/>
            <a:ext cx="9770386" cy="618631"/>
          </a:xfrm>
        </p:spPr>
        <p:txBody>
          <a:bodyPr/>
          <a:lstStyle/>
          <a:p>
            <a:r>
              <a:rPr lang="en-US" dirty="0"/>
              <a:t>What do containers mean for Tufts HPC?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12B592-7189-A556-F19F-5D885243DF61}"/>
              </a:ext>
            </a:extLst>
          </p:cNvPr>
          <p:cNvSpPr txBox="1"/>
          <p:nvPr/>
        </p:nvSpPr>
        <p:spPr>
          <a:xfrm>
            <a:off x="849084" y="904102"/>
            <a:ext cx="110015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Containers are a core part of the Tufts HPC ecosystem. They support a large share of the software and workflows used across research, teaching, and AI computing.</a:t>
            </a:r>
          </a:p>
        </p:txBody>
      </p:sp>
    </p:spTree>
    <p:extLst>
      <p:ext uri="{BB962C8B-B14F-4D97-AF65-F5344CB8AC3E}">
        <p14:creationId xmlns:p14="http://schemas.microsoft.com/office/powerpoint/2010/main" val="1008921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C17E4D1-B92E-0D9C-182C-2F563EC5F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2422" y="0"/>
            <a:ext cx="9127942" cy="6045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822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0F379D2-52AC-FD39-CA0C-A0337EEAC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390" y="82041"/>
            <a:ext cx="10366936" cy="5786196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86A7A546-FA43-9A89-68A4-2C9A5CDE44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2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87BC4-1020-0580-1551-A2937F374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690E5-7D81-BD98-C289-1B7DB6EC00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02 GitHub Actions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3D7E00-2FCA-BD91-93C3-D8F0FB72D2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5422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7B86784-EAC8-4CC9-492F-C7A0031833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CI/CD?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10A1D40-09A0-399E-D346-E026CEDD88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BE70A-7FD7-AE7E-2EF2-D09089AF4387}"/>
              </a:ext>
            </a:extLst>
          </p:cNvPr>
          <p:cNvSpPr txBox="1"/>
          <p:nvPr/>
        </p:nvSpPr>
        <p:spPr>
          <a:xfrm>
            <a:off x="877331" y="1778868"/>
            <a:ext cx="3682314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Continuous Integration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B580F2-3A7B-9674-6295-18EF527B2D2E}"/>
              </a:ext>
            </a:extLst>
          </p:cNvPr>
          <p:cNvSpPr txBox="1"/>
          <p:nvPr/>
        </p:nvSpPr>
        <p:spPr>
          <a:xfrm>
            <a:off x="7405818" y="1778868"/>
            <a:ext cx="3682314" cy="461665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Continuous Delivery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51F45C9C-3B95-0F0B-A97D-4762FDC6A5F1}"/>
              </a:ext>
            </a:extLst>
          </p:cNvPr>
          <p:cNvSpPr/>
          <p:nvPr/>
        </p:nvSpPr>
        <p:spPr>
          <a:xfrm>
            <a:off x="2446638" y="2434281"/>
            <a:ext cx="364611" cy="1297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C4DDC03C-F935-89F3-2D16-2C4B7B46F066}"/>
              </a:ext>
            </a:extLst>
          </p:cNvPr>
          <p:cNvSpPr/>
          <p:nvPr/>
        </p:nvSpPr>
        <p:spPr>
          <a:xfrm>
            <a:off x="9246975" y="2434281"/>
            <a:ext cx="364611" cy="1297460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30F4E2-3C94-CC3C-59C8-B894A7889347}"/>
              </a:ext>
            </a:extLst>
          </p:cNvPr>
          <p:cNvSpPr txBox="1"/>
          <p:nvPr/>
        </p:nvSpPr>
        <p:spPr>
          <a:xfrm>
            <a:off x="877331" y="4056630"/>
            <a:ext cx="3682314" cy="1569660"/>
          </a:xfrm>
          <a:prstGeom prst="rect">
            <a:avLst/>
          </a:prstGeom>
          <a:solidFill>
            <a:srgbClr val="0090E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Code changes are automatically built, tested &amp; merged with existing codes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8877B0-E223-FC9B-BCC5-719D61F198E7}"/>
              </a:ext>
            </a:extLst>
          </p:cNvPr>
          <p:cNvSpPr txBox="1"/>
          <p:nvPr/>
        </p:nvSpPr>
        <p:spPr>
          <a:xfrm>
            <a:off x="7405818" y="4056630"/>
            <a:ext cx="3682314" cy="156966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After integration, new app or package versions are published automatically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292AC9-49C0-C771-1639-EFF9E5B996DA}"/>
              </a:ext>
            </a:extLst>
          </p:cNvPr>
          <p:cNvSpPr txBox="1"/>
          <p:nvPr/>
        </p:nvSpPr>
        <p:spPr>
          <a:xfrm>
            <a:off x="4032841" y="2363751"/>
            <a:ext cx="3558254" cy="156966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Methods for automating app development &amp; deployment</a:t>
            </a:r>
          </a:p>
        </p:txBody>
      </p:sp>
    </p:spTree>
    <p:extLst>
      <p:ext uri="{BB962C8B-B14F-4D97-AF65-F5344CB8AC3E}">
        <p14:creationId xmlns:p14="http://schemas.microsoft.com/office/powerpoint/2010/main" val="2100207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F14B92-73FB-E4F3-3F25-CF26456608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390" y="357095"/>
            <a:ext cx="7661994" cy="1144929"/>
          </a:xfrm>
        </p:spPr>
        <p:txBody>
          <a:bodyPr/>
          <a:lstStyle/>
          <a:p>
            <a:r>
              <a:rPr lang="en-US" dirty="0"/>
              <a:t>Top CI/CD platforms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6E08B1C-F32C-87E9-6CC8-A0424C30BE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5FBBDA-1ADE-16D6-B0DD-622A85569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57182"/>
            <a:ext cx="7661994" cy="5107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3489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AB18C88-5838-182A-0BEC-00F735DE64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389" y="357095"/>
            <a:ext cx="8205691" cy="1144929"/>
          </a:xfrm>
        </p:spPr>
        <p:txBody>
          <a:bodyPr/>
          <a:lstStyle/>
          <a:p>
            <a:r>
              <a:rPr lang="en-US" dirty="0"/>
              <a:t>What is GitHub Actions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3D8836-A2EC-5B69-4EC0-3E08CDA1DB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9"/>
          <a:stretch>
            <a:fillRect/>
          </a:stretch>
        </p:blipFill>
        <p:spPr>
          <a:xfrm>
            <a:off x="2135659" y="1043679"/>
            <a:ext cx="7107195" cy="5018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609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1A0C771-0132-1DC6-FA3E-857547D184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390" y="357095"/>
            <a:ext cx="11406400" cy="618631"/>
          </a:xfrm>
        </p:spPr>
        <p:txBody>
          <a:bodyPr/>
          <a:lstStyle/>
          <a:p>
            <a:r>
              <a:rPr lang="en-US" dirty="0"/>
              <a:t>Components of GitHub Actions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D0F248D-1343-7FC5-BEA6-9C9EF86722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Diagram of an event triggering Runner 1 to run Job 1, which triggers Runner 2 to run Job 2. Each of the jobs is broken into multiple steps.">
            <a:extLst>
              <a:ext uri="{FF2B5EF4-FFF2-40B4-BE49-F238E27FC236}">
                <a16:creationId xmlns:a16="http://schemas.microsoft.com/office/drawing/2014/main" id="{457595CF-132E-9067-8338-10262644B8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6" t="7460" r="8674" b="6734"/>
          <a:stretch>
            <a:fillRect/>
          </a:stretch>
        </p:blipFill>
        <p:spPr bwMode="auto">
          <a:xfrm>
            <a:off x="809120" y="1676317"/>
            <a:ext cx="8526162" cy="2862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4415ABF-10E9-542B-3D09-A4789B0ED0C5}"/>
              </a:ext>
            </a:extLst>
          </p:cNvPr>
          <p:cNvSpPr txBox="1"/>
          <p:nvPr/>
        </p:nvSpPr>
        <p:spPr>
          <a:xfrm>
            <a:off x="383368" y="4707924"/>
            <a:ext cx="1165242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GitHub Actions workflows run automatically when events happen in your repository. 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 workflow contains jobs that run on virtual machines or containers, with steps that execute scripts or reusable actions.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1796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025FD-FC29-8C28-21A0-7DF300A87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19BE74-17F1-9809-039A-C7BCC7E357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390" y="357095"/>
            <a:ext cx="11406400" cy="618631"/>
          </a:xfrm>
        </p:spPr>
        <p:txBody>
          <a:bodyPr/>
          <a:lstStyle/>
          <a:p>
            <a:r>
              <a:rPr lang="en-US" dirty="0"/>
              <a:t>Components of GitHub Actions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E1C0C3FA-48D3-B631-7E4A-D41E14AEC7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CB9D878-5765-C3F0-4CFC-3EF5A3617F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390" y="1797784"/>
            <a:ext cx="11158956" cy="32624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ea typeface="-apple-system"/>
                <a:cs typeface="Arial" panose="020B0604020202020204" pitchFamily="34" charset="0"/>
              </a:rPr>
              <a:t>A 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ea typeface="-apple-system"/>
                <a:cs typeface="Arial" panose="020B0604020202020204" pitchFamily="34" charset="0"/>
              </a:rPr>
              <a:t>workflow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ea typeface="-apple-system"/>
                <a:cs typeface="Arial" panose="020B0604020202020204" pitchFamily="34" charset="0"/>
              </a:rPr>
              <a:t> is a configurable automated process that will run one or more jobs.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rgbClr val="1F2328"/>
              </a:solidFill>
              <a:effectLst/>
              <a:ea typeface="-apple-system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ea typeface="-apple-system"/>
                <a:cs typeface="Arial" panose="020B0604020202020204" pitchFamily="34" charset="0"/>
              </a:rPr>
              <a:t>Workflows are defined by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ea typeface="-apple-system"/>
                <a:cs typeface="Arial" panose="020B0604020202020204" pitchFamily="34" charset="0"/>
              </a:rPr>
              <a:t>YAML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ea typeface="-apple-system"/>
                <a:cs typeface="Arial" panose="020B0604020202020204" pitchFamily="34" charset="0"/>
              </a:rPr>
              <a:t> file checked in to your repository and will run when triggered by an event in your repository, or they can be triggered manually, or at a defined schedule.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ea typeface="-apple-system"/>
                <a:cs typeface="Arial" panose="020B0604020202020204" pitchFamily="34" charset="0"/>
              </a:rPr>
              <a:t>Workflows are defined in the 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highlight>
                  <a:srgbClr val="C0C0C0"/>
                </a:highlight>
                <a:ea typeface="var(--fontStack-monospace,ui-monospace,SFMono-Regular,SF Mono,Menlo,Consolas,Liberation Mono,monospace)"/>
                <a:cs typeface="Arial" panose="020B0604020202020204" pitchFamily="34" charset="0"/>
              </a:rPr>
              <a:t>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1F2328"/>
                </a:solidFill>
                <a:effectLst/>
                <a:highlight>
                  <a:srgbClr val="C0C0C0"/>
                </a:highlight>
                <a:ea typeface="var(--fontStack-monospace,ui-monospace,SFMono-Regular,SF Mono,Menlo,Consolas,Liberation Mono,monospace)"/>
                <a:cs typeface="Arial" panose="020B0604020202020204" pitchFamily="34" charset="0"/>
              </a:rPr>
              <a:t>github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highlight>
                  <a:srgbClr val="C0C0C0"/>
                </a:highlight>
                <a:ea typeface="var(--fontStack-monospace,ui-monospace,SFMono-Regular,SF Mono,Menlo,Consolas,Liberation Mono,monospace)"/>
                <a:cs typeface="Arial" panose="020B0604020202020204" pitchFamily="34" charset="0"/>
              </a:rPr>
              <a:t>/workflows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ea typeface="-apple-system"/>
                <a:cs typeface="Arial" panose="020B0604020202020204" pitchFamily="34" charset="0"/>
              </a:rPr>
              <a:t> directory in a repository. A repository can have multiple workflows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35228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CDEC-4A21-9892-044A-D05E152A0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92B2F6-77FB-A625-52EB-D7002A8691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390" y="357095"/>
            <a:ext cx="11406400" cy="618631"/>
          </a:xfrm>
        </p:spPr>
        <p:txBody>
          <a:bodyPr/>
          <a:lstStyle/>
          <a:p>
            <a:r>
              <a:rPr lang="en-US" dirty="0"/>
              <a:t>Components of GitHub Actions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474CA12-9C8A-19FD-2E64-7DF06E886F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Events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EBE9F4F-0CF8-A5A1-A43D-33540306B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390" y="1575813"/>
            <a:ext cx="11307237" cy="43635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sz="2400" dirty="0"/>
              <a:t>An </a:t>
            </a:r>
            <a:r>
              <a:rPr lang="en-US" sz="2400" b="1" dirty="0"/>
              <a:t>event</a:t>
            </a:r>
            <a:r>
              <a:rPr lang="en-US" sz="2400" dirty="0"/>
              <a:t> is a specific activity in a repository that triggers a </a:t>
            </a:r>
            <a:r>
              <a:rPr lang="en-US" sz="2400" b="1" dirty="0"/>
              <a:t>workflow</a:t>
            </a:r>
            <a:r>
              <a:rPr lang="en-US" sz="2400" dirty="0"/>
              <a:t> run. </a:t>
            </a:r>
          </a:p>
          <a:p>
            <a:pPr lvl="0"/>
            <a:endParaRPr lang="en-US" sz="2400" dirty="0"/>
          </a:p>
          <a:p>
            <a:pPr lvl="0"/>
            <a:r>
              <a:rPr lang="en-US" sz="2400" dirty="0"/>
              <a:t>You can also trigger a workflow to run on a schedule, by posting to a REST API, or manually.</a:t>
            </a:r>
          </a:p>
          <a:p>
            <a:pPr lvl="0"/>
            <a:endParaRPr lang="en-US" sz="2400" dirty="0"/>
          </a:p>
          <a:p>
            <a:pPr lvl="0"/>
            <a:r>
              <a:rPr lang="en-US" altLang="en-US" sz="2400" b="1" dirty="0"/>
              <a:t>Examples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2400" dirty="0"/>
              <a:t>push:  fires on every push; filter by branches, tags, or paths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2400" dirty="0" err="1"/>
              <a:t>pull_request</a:t>
            </a:r>
            <a:r>
              <a:rPr lang="en-US" altLang="en-US" sz="2400" dirty="0"/>
              <a:t> :fires on PR activity (opened, synchronize, closed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2400" dirty="0"/>
              <a:t>schedule: </a:t>
            </a:r>
            <a:r>
              <a:rPr lang="en-US" altLang="en-US" sz="2400" dirty="0" err="1"/>
              <a:t>cron</a:t>
            </a:r>
            <a:r>
              <a:rPr lang="en-US" altLang="en-US" sz="2400" dirty="0"/>
              <a:t>-based (e.g. nightly rebuilds to pick up base image patches)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2400" dirty="0"/>
              <a:t>release:  fires when a GitHub Release is published.</a:t>
            </a:r>
          </a:p>
        </p:txBody>
      </p:sp>
    </p:spTree>
    <p:extLst>
      <p:ext uri="{BB962C8B-B14F-4D97-AF65-F5344CB8AC3E}">
        <p14:creationId xmlns:p14="http://schemas.microsoft.com/office/powerpoint/2010/main" val="10543087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BB46E-299D-9AF4-69F9-AFE41B1E8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D8EFCC0-EBC9-CFAA-8319-EC4A3CAEAE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390" y="357095"/>
            <a:ext cx="11406400" cy="618631"/>
          </a:xfrm>
        </p:spPr>
        <p:txBody>
          <a:bodyPr/>
          <a:lstStyle/>
          <a:p>
            <a:r>
              <a:rPr lang="en-US" dirty="0"/>
              <a:t>Components of GitHub Actions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A8911C0-5304-4B11-F772-5662BEB92D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971" y="975726"/>
            <a:ext cx="3412389" cy="452432"/>
          </a:xfrm>
        </p:spPr>
        <p:txBody>
          <a:bodyPr/>
          <a:lstStyle/>
          <a:p>
            <a:r>
              <a:rPr lang="en-US" dirty="0"/>
              <a:t>Runners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F68D9F5E-BB57-9348-0027-A7331510A3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971" y="1866112"/>
            <a:ext cx="11307237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2400" b="1" dirty="0">
                <a:cs typeface="Arial" panose="020B0604020202020204" pitchFamily="34" charset="0"/>
              </a:rPr>
              <a:t>GitHub-hosted runners:</a:t>
            </a:r>
            <a:r>
              <a:rPr lang="en-US" sz="2400" dirty="0">
                <a:cs typeface="Arial" panose="020B0604020202020204" pitchFamily="34" charset="0"/>
              </a:rPr>
              <a:t> free Ubuntu, Windows, and macOS VMs, but its usage has limits.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cs typeface="Arial" panose="020B0604020202020204" pitchFamily="34" charset="0"/>
              </a:rPr>
              <a:t>Self-hosted runners:</a:t>
            </a:r>
            <a:r>
              <a:rPr lang="en-US" sz="2400" dirty="0">
                <a:cs typeface="Arial" panose="020B0604020202020204" pitchFamily="34" charset="0"/>
              </a:rPr>
              <a:t> install the actions-runner agent on any machine; useful for GPU builds, large datasets.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cs typeface="Arial" panose="020B0604020202020204" pitchFamily="34" charset="0"/>
              </a:rPr>
              <a:t>When to use self-hosted:</a:t>
            </a:r>
            <a:r>
              <a:rPr lang="en-US" sz="2400" dirty="0">
                <a:cs typeface="Arial" panose="020B0604020202020204" pitchFamily="34" charset="0"/>
              </a:rPr>
              <a:t> image builds exceed 6 hours, require NVIDIA GPUs.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cs typeface="Arial" panose="020B0604020202020204" pitchFamily="34" charset="0"/>
              </a:rPr>
              <a:t>Labels:</a:t>
            </a:r>
            <a:r>
              <a:rPr lang="en-US" sz="2400" dirty="0">
                <a:cs typeface="Arial" panose="020B0604020202020204" pitchFamily="34" charset="0"/>
              </a:rPr>
              <a:t> target a self-hosted runner with runs-on: [self-hosted, </a:t>
            </a:r>
            <a:r>
              <a:rPr lang="en-US" sz="2400" dirty="0" err="1">
                <a:cs typeface="Arial" panose="020B0604020202020204" pitchFamily="34" charset="0"/>
              </a:rPr>
              <a:t>gpu</a:t>
            </a:r>
            <a:r>
              <a:rPr lang="en-US" sz="2400" dirty="0">
                <a:cs typeface="Arial" panose="020B0604020202020204" pitchFamily="34" charset="0"/>
              </a:rPr>
              <a:t>] in your workflow</a:t>
            </a:r>
          </a:p>
          <a:p>
            <a:pPr lvl="0"/>
            <a:endParaRPr lang="en-US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8922087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A2B366-20C5-6968-3110-1653A7D9FB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390" y="357095"/>
            <a:ext cx="11820518" cy="978729"/>
          </a:xfrm>
        </p:spPr>
        <p:txBody>
          <a:bodyPr/>
          <a:lstStyle/>
          <a:p>
            <a:r>
              <a:rPr lang="en-US" sz="3200" dirty="0"/>
              <a:t>Standard GitHub-hosted runners for public repositories</a:t>
            </a:r>
            <a:br>
              <a:rPr lang="en-US" sz="3200" dirty="0"/>
            </a:br>
            <a:endParaRPr lang="en-US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08006C-8CDD-85E5-5940-00A9FCED2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212" y="919876"/>
            <a:ext cx="5716920" cy="53801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124C16-1FA1-61D1-E79C-671639870A8A}"/>
              </a:ext>
            </a:extLst>
          </p:cNvPr>
          <p:cNvSpPr txBox="1"/>
          <p:nvPr/>
        </p:nvSpPr>
        <p:spPr>
          <a:xfrm>
            <a:off x="1286189" y="6581001"/>
            <a:ext cx="10684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</a:t>
            </a:r>
            <a:r>
              <a:rPr lang="en-US" sz="1200" dirty="0" err="1"/>
              <a:t>docs.github.com</a:t>
            </a:r>
            <a:r>
              <a:rPr lang="en-US" sz="1200" dirty="0"/>
              <a:t>/</a:t>
            </a:r>
            <a:r>
              <a:rPr lang="en-US" sz="1200" dirty="0" err="1"/>
              <a:t>en</a:t>
            </a:r>
            <a:r>
              <a:rPr lang="en-US" sz="1200" dirty="0"/>
              <a:t>/actions/reference/runners/github-hosted-runners#standard-github-hosted-runners-for-public-repositories</a:t>
            </a:r>
          </a:p>
        </p:txBody>
      </p:sp>
    </p:spTree>
    <p:extLst>
      <p:ext uri="{BB962C8B-B14F-4D97-AF65-F5344CB8AC3E}">
        <p14:creationId xmlns:p14="http://schemas.microsoft.com/office/powerpoint/2010/main" val="6369929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65F35-A226-5C94-7050-083BE885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048DD-5C13-751B-27AE-60580DD16C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2976" y="2802942"/>
            <a:ext cx="8848173" cy="646331"/>
          </a:xfrm>
        </p:spPr>
        <p:txBody>
          <a:bodyPr/>
          <a:lstStyle/>
          <a:p>
            <a:r>
              <a:rPr lang="en-US" dirty="0"/>
              <a:t>03 GitHub action &amp; Docker build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1CD598-926E-4A07-8341-0AF8991BFF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4910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F874A3A-F701-38FB-BC4F-7C7EB6DA04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389" y="357095"/>
            <a:ext cx="10553475" cy="1671227"/>
          </a:xfrm>
        </p:spPr>
        <p:txBody>
          <a:bodyPr/>
          <a:lstStyle/>
          <a:p>
            <a:r>
              <a:rPr lang="en-US" dirty="0"/>
              <a:t>GitHub Actions for Docker Containers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E38BA655-B407-0070-55A3-01174B265D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0452" y="957182"/>
            <a:ext cx="10942159" cy="1300869"/>
          </a:xfrm>
        </p:spPr>
        <p:txBody>
          <a:bodyPr/>
          <a:lstStyle/>
          <a:p>
            <a:r>
              <a:rPr lang="en-US" dirty="0"/>
              <a:t>GitHub Actions automates every stage of your container lifecycle, from code commit to a published, versioned image on Docker Hub.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832F71-1549-875B-87E7-3D48992FB6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584"/>
          <a:stretch>
            <a:fillRect/>
          </a:stretch>
        </p:blipFill>
        <p:spPr>
          <a:xfrm>
            <a:off x="1338245" y="1813209"/>
            <a:ext cx="9135761" cy="5141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129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ctrTitle"/>
          </p:nvPr>
        </p:nvSpPr>
        <p:spPr>
          <a:xfrm>
            <a:off x="849084" y="259559"/>
            <a:ext cx="9770386" cy="618631"/>
          </a:xfrm>
        </p:spPr>
        <p:txBody>
          <a:bodyPr/>
          <a:lstStyle/>
          <a:p>
            <a:r>
              <a:rPr lang="en-US" dirty="0"/>
              <a:t>Build &amp; Push Docker Images — Workflow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849084" y="904102"/>
            <a:ext cx="1100154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100" dirty="0">
                <a:latin typeface="Arial" panose="020B0604020202020204" pitchFamily="34" charset="0"/>
              </a:rPr>
              <a:t>Copy this into </a:t>
            </a:r>
            <a:r>
              <a:rPr lang="en-US" sz="2100" dirty="0">
                <a:latin typeface="Consolas"/>
              </a:rPr>
              <a:t>.github/workflows/docker.yml</a:t>
            </a:r>
            <a:r>
              <a:rPr lang="en-US" sz="2100" dirty="0">
                <a:latin typeface="Arial" panose="020B0604020202020204" pitchFamily="34" charset="0"/>
              </a:rPr>
              <a:t> to get an automated, production-ready build pipeline.</a:t>
            </a:r>
          </a:p>
        </p:txBody>
      </p:sp>
      <p:sp>
        <p:nvSpPr>
          <p:cNvPr id="7" name="Code"/>
          <p:cNvSpPr txBox="1"/>
          <p:nvPr/>
        </p:nvSpPr>
        <p:spPr>
          <a:xfrm>
            <a:off x="849084" y="1680000"/>
            <a:ext cx="5500000" cy="4650000"/>
          </a:xfrm>
          <a:prstGeom prst="rect">
            <a:avLst/>
          </a:prstGeom>
          <a:noFill/>
        </p:spPr>
        <p:txBody>
          <a:bodyPr wrap="square" lIns="130000" tIns="130000" rIns="130000" bIns="130000"/>
          <a:lstStyle/>
          <a:p>
            <a:pPr>
              <a:buNone/>
            </a:pPr>
            <a:r>
              <a:rPr lang="en-US" sz="1200" dirty="0">
                <a:latin typeface="Consolas"/>
              </a:rPr>
              <a:t>name: Build and </a:t>
            </a:r>
            <a:r>
              <a:rPr lang="en-US" sz="1200" dirty="0">
                <a:noFill/>
                <a:latin typeface="Consolas"/>
              </a:rPr>
              <a:t>Push</a:t>
            </a:r>
            <a:r>
              <a:rPr lang="en-US" sz="1200" dirty="0">
                <a:latin typeface="Consolas"/>
              </a:rPr>
              <a:t> Docker Image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on:  push (main, v*.*.*) | pull_request (main)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jobs:  build:  runs-on: ubuntu-latest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steps: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  # 1. Checkout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  - uses: actions/checkout@v4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  # 2. Setup Buildx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  - uses: docker/setup-buildx-action@v3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  # 3. Login to Docker Hub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  - uses: docker/login-action@v3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    with: { username, password }  # from secrets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  # 4. Auto-generate tags &amp; labels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  - id: meta  uses: docker/metadata-action@v5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  # 5. Build &amp; Push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  - uses: docker/build-push-action@v5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    push: ${{ github.event_name != 'pull_request' }}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    tags: ${{ steps.meta.outputs.tags }}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    cache-from: type=gha</a:t>
            </a:r>
          </a:p>
          <a:p>
            <a:pPr>
              <a:buNone/>
            </a:pPr>
            <a:r>
              <a:rPr lang="en-US" sz="1200" dirty="0">
                <a:latin typeface="Consolas"/>
              </a:rPr>
              <a:t>        cache-to: type=gha,mode=max</a:t>
            </a:r>
          </a:p>
        </p:txBody>
      </p:sp>
      <p:sp>
        <p:nvSpPr>
          <p:cNvPr id="8" name="Notes"/>
          <p:cNvSpPr txBox="1"/>
          <p:nvPr/>
        </p:nvSpPr>
        <p:spPr>
          <a:xfrm>
            <a:off x="6600000" y="1680000"/>
            <a:ext cx="5200000" cy="465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>
              <a:buNone/>
            </a:pPr>
            <a:r>
              <a:rPr lang="en-US" sz="1600" b="1" dirty="0">
                <a:solidFill>
                  <a:srgbClr val="2E74B5"/>
                </a:solidFill>
              </a:rPr>
              <a:t>① Checkout</a:t>
            </a:r>
          </a:p>
          <a:p>
            <a:pPr>
              <a:buNone/>
            </a:pPr>
            <a:r>
              <a:rPr lang="en-US" sz="1500" dirty="0"/>
              <a:t>Clones the repo so the Dockerfile is available to the runner.</a:t>
            </a:r>
          </a:p>
          <a:p>
            <a:pPr>
              <a:buNone/>
            </a:pPr>
            <a:r>
              <a:rPr lang="en-US" sz="1100" dirty="0"/>
              <a:t> </a:t>
            </a:r>
          </a:p>
          <a:p>
            <a:pPr>
              <a:buNone/>
            </a:pPr>
            <a:r>
              <a:rPr lang="en-US" sz="1600" b="1" dirty="0">
                <a:solidFill>
                  <a:srgbClr val="2E74B5"/>
                </a:solidFill>
              </a:rPr>
              <a:t>② Setup Buildx</a:t>
            </a:r>
          </a:p>
          <a:p>
            <a:pPr>
              <a:buNone/>
            </a:pPr>
            <a:r>
              <a:rPr lang="en-US" sz="1500" dirty="0"/>
              <a:t>Enables BuildKit and the GitHub Actions cache driver.</a:t>
            </a:r>
          </a:p>
          <a:p>
            <a:pPr>
              <a:buNone/>
            </a:pPr>
            <a:r>
              <a:rPr lang="en-US" sz="1100" dirty="0"/>
              <a:t> </a:t>
            </a:r>
          </a:p>
          <a:p>
            <a:pPr>
              <a:buNone/>
            </a:pPr>
            <a:r>
              <a:rPr lang="en-US" sz="1600" b="1" dirty="0">
                <a:solidFill>
                  <a:srgbClr val="2E74B5"/>
                </a:solidFill>
              </a:rPr>
              <a:t>③ Login</a:t>
            </a:r>
          </a:p>
          <a:p>
            <a:pPr>
              <a:buNone/>
            </a:pPr>
            <a:r>
              <a:rPr lang="en-US" sz="1500" dirty="0"/>
              <a:t>Uses </a:t>
            </a:r>
            <a:r>
              <a:rPr lang="en-US" sz="1500" dirty="0">
                <a:latin typeface="Consolas"/>
              </a:rPr>
              <a:t>DOCKERHUB_TOKEN</a:t>
            </a:r>
            <a:r>
              <a:rPr lang="en-US" sz="1500" dirty="0"/>
              <a:t> from GitHub Secrets — never the account password.</a:t>
            </a:r>
          </a:p>
          <a:p>
            <a:pPr>
              <a:buNone/>
            </a:pPr>
            <a:r>
              <a:rPr lang="en-US" sz="1100" dirty="0"/>
              <a:t> </a:t>
            </a:r>
          </a:p>
          <a:p>
            <a:pPr>
              <a:buNone/>
            </a:pPr>
            <a:r>
              <a:rPr lang="en-US" sz="1600" b="1" dirty="0">
                <a:solidFill>
                  <a:srgbClr val="2E74B5"/>
                </a:solidFill>
              </a:rPr>
              <a:t>④ Metadata</a:t>
            </a:r>
          </a:p>
          <a:p>
            <a:pPr>
              <a:buNone/>
            </a:pPr>
            <a:r>
              <a:rPr lang="en-US" sz="1500" dirty="0"/>
              <a:t>Auto-generates tags from branch name, SHA, and semver.</a:t>
            </a:r>
          </a:p>
          <a:p>
            <a:pPr>
              <a:buNone/>
            </a:pPr>
            <a:r>
              <a:rPr lang="en-US" sz="1100" dirty="0"/>
              <a:t> </a:t>
            </a:r>
          </a:p>
          <a:p>
            <a:pPr>
              <a:buNone/>
            </a:pPr>
            <a:r>
              <a:rPr lang="en-US" sz="1600" b="1" dirty="0">
                <a:solidFill>
                  <a:srgbClr val="538135"/>
                </a:solidFill>
              </a:rPr>
              <a:t>⑤ Build &amp; Push</a:t>
            </a:r>
          </a:p>
          <a:p>
            <a:pPr>
              <a:buNone/>
            </a:pPr>
            <a:r>
              <a:rPr lang="en-US" sz="1500" dirty="0"/>
              <a:t>Skips push on PRs. Layer cache stored in GitHub Actions cache — next build is much faster.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849084" y="259559"/>
            <a:ext cx="9770386" cy="618631"/>
          </a:xfrm>
        </p:spPr>
        <p:txBody>
          <a:bodyPr/>
          <a:lstStyle/>
          <a:p>
            <a:r>
              <a:rPr lang="en-US" dirty="0"/>
              <a:t>Anatomy of a Workflow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9084" y="878190"/>
            <a:ext cx="6830010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</a:rPr>
              <a:t>Copy this into </a:t>
            </a:r>
            <a:r>
              <a:rPr lang="en-US" dirty="0">
                <a:latin typeface="Consolas"/>
              </a:rPr>
              <a:t>.</a:t>
            </a:r>
            <a:r>
              <a:rPr lang="en-US" dirty="0" err="1">
                <a:latin typeface="Consolas"/>
              </a:rPr>
              <a:t>github</a:t>
            </a:r>
            <a:r>
              <a:rPr lang="en-US" dirty="0">
                <a:latin typeface="Consolas"/>
              </a:rPr>
              <a:t>/workflows/</a:t>
            </a:r>
            <a:r>
              <a:rPr lang="en-US" dirty="0" err="1">
                <a:latin typeface="Consolas"/>
              </a:rPr>
              <a:t>docker.yml</a:t>
            </a:r>
            <a:r>
              <a:rPr lang="en-US" dirty="0">
                <a:latin typeface="Arial" panose="020B0604020202020204" pitchFamily="34" charset="0"/>
              </a:rPr>
              <a:t> to get an automated, production-ready build pipeline.</a:t>
            </a:r>
          </a:p>
          <a:p>
            <a:pPr>
              <a:buNone/>
            </a:pPr>
            <a:endParaRPr lang="en-US" sz="2200" dirty="0">
              <a:latin typeface="Arial" panose="020B0604020202020204" pitchFamily="34" charset="0"/>
            </a:endParaRPr>
          </a:p>
        </p:txBody>
      </p:sp>
      <p:sp>
        <p:nvSpPr>
          <p:cNvPr id="7" name="CodeLeft"/>
          <p:cNvSpPr txBox="1"/>
          <p:nvPr/>
        </p:nvSpPr>
        <p:spPr>
          <a:xfrm>
            <a:off x="7890590" y="568874"/>
            <a:ext cx="6904652" cy="4550151"/>
          </a:xfrm>
          <a:prstGeom prst="rect">
            <a:avLst/>
          </a:prstGeom>
          <a:noFill/>
        </p:spPr>
        <p:txBody>
          <a:bodyPr wrap="square" lIns="120000" tIns="120000" rIns="120000" bIns="120000"/>
          <a:lstStyle/>
          <a:p>
            <a:pPr>
              <a:buNone/>
            </a:pPr>
            <a:r>
              <a:rPr lang="en-US" sz="1000" dirty="0">
                <a:latin typeface="Consolas"/>
              </a:rPr>
              <a:t>name: Build &amp; Publish Docker Image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on: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release: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types: [published]</a:t>
            </a:r>
          </a:p>
          <a:p>
            <a:pPr>
              <a:buNone/>
            </a:pPr>
            <a:endParaRPr lang="en-US" sz="1000" dirty="0">
              <a:latin typeface="Consolas"/>
            </a:endParaRPr>
          </a:p>
          <a:p>
            <a:pPr>
              <a:buNone/>
            </a:pPr>
            <a:r>
              <a:rPr lang="en-US" sz="1000" dirty="0">
                <a:latin typeface="Consolas"/>
              </a:rPr>
              <a:t>jobs: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push-to-</a:t>
            </a:r>
            <a:r>
              <a:rPr lang="en-US" sz="1000" dirty="0" err="1">
                <a:latin typeface="Consolas"/>
              </a:rPr>
              <a:t>dockerhub</a:t>
            </a:r>
            <a:r>
              <a:rPr lang="en-US" sz="1000" dirty="0">
                <a:latin typeface="Consolas"/>
              </a:rPr>
              <a:t>: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runs-on: </a:t>
            </a:r>
            <a:r>
              <a:rPr lang="en-US" sz="1000" dirty="0">
                <a:solidFill>
                  <a:srgbClr val="3172AE"/>
                </a:solidFill>
                <a:latin typeface="Consolas"/>
              </a:rPr>
              <a:t>ubuntu-latest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permissions: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packages: write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contents: read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steps: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- uses: actions/</a:t>
            </a:r>
            <a:r>
              <a:rPr lang="en-US" sz="1000" dirty="0">
                <a:solidFill>
                  <a:srgbClr val="3172AE"/>
                </a:solidFill>
                <a:latin typeface="Consolas"/>
              </a:rPr>
              <a:t>checkout</a:t>
            </a:r>
            <a:r>
              <a:rPr lang="en-US" sz="1000" dirty="0">
                <a:latin typeface="Consolas"/>
              </a:rPr>
              <a:t>@v4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- name: Login to </a:t>
            </a:r>
            <a:r>
              <a:rPr lang="en-US" sz="1000" dirty="0" err="1">
                <a:latin typeface="Consolas"/>
              </a:rPr>
              <a:t>Dockerhub</a:t>
            </a:r>
            <a:endParaRPr lang="en-US" sz="1000" dirty="0">
              <a:latin typeface="Consolas"/>
            </a:endParaRPr>
          </a:p>
          <a:p>
            <a:pPr>
              <a:buNone/>
            </a:pPr>
            <a:r>
              <a:rPr lang="en-US" sz="1000" dirty="0">
                <a:latin typeface="Consolas"/>
              </a:rPr>
              <a:t>        uses: docker/</a:t>
            </a:r>
            <a:r>
              <a:rPr lang="en-US" sz="1000" dirty="0">
                <a:solidFill>
                  <a:srgbClr val="3172AE"/>
                </a:solidFill>
                <a:latin typeface="Consolas"/>
              </a:rPr>
              <a:t>login-action</a:t>
            </a:r>
            <a:r>
              <a:rPr lang="en-US" sz="1000" dirty="0">
                <a:latin typeface="Consolas"/>
              </a:rPr>
              <a:t>@v3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  with: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    username: ${{ </a:t>
            </a:r>
            <a:r>
              <a:rPr lang="en-US" sz="1000" dirty="0" err="1">
                <a:solidFill>
                  <a:srgbClr val="3172AE"/>
                </a:solidFill>
                <a:latin typeface="Consolas"/>
              </a:rPr>
              <a:t>vars.DOCKERHUB_USERNAME</a:t>
            </a:r>
            <a:r>
              <a:rPr lang="en-US" sz="1000" dirty="0">
                <a:solidFill>
                  <a:srgbClr val="3172AE"/>
                </a:solidFill>
                <a:latin typeface="Consolas"/>
              </a:rPr>
              <a:t> </a:t>
            </a:r>
            <a:r>
              <a:rPr lang="en-US" sz="1000" dirty="0">
                <a:latin typeface="Consolas"/>
              </a:rPr>
              <a:t>}}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    password: ${{ </a:t>
            </a:r>
            <a:r>
              <a:rPr lang="en-US" sz="1000" dirty="0" err="1">
                <a:solidFill>
                  <a:srgbClr val="3172AE"/>
                </a:solidFill>
                <a:latin typeface="Consolas"/>
              </a:rPr>
              <a:t>secrets.DOCKERHUB_PASSWORD</a:t>
            </a:r>
            <a:r>
              <a:rPr lang="en-US" sz="1000" dirty="0">
                <a:latin typeface="Consolas"/>
              </a:rPr>
              <a:t> }}</a:t>
            </a:r>
          </a:p>
          <a:p>
            <a:pPr>
              <a:buNone/>
            </a:pPr>
            <a:endParaRPr lang="en-US" sz="1000" dirty="0">
              <a:latin typeface="Consolas"/>
            </a:endParaRPr>
          </a:p>
          <a:p>
            <a:pPr>
              <a:buNone/>
            </a:pPr>
            <a:r>
              <a:rPr lang="en-US" sz="1000" dirty="0">
                <a:latin typeface="Consolas"/>
              </a:rPr>
              <a:t>      - name: Extract Metadata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  id: metadata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  uses: docker/</a:t>
            </a:r>
            <a:r>
              <a:rPr lang="en-US" sz="1000" dirty="0">
                <a:solidFill>
                  <a:srgbClr val="3172AE"/>
                </a:solidFill>
                <a:latin typeface="Consolas"/>
              </a:rPr>
              <a:t>metadata-action</a:t>
            </a:r>
            <a:r>
              <a:rPr lang="en-US" sz="1000" dirty="0">
                <a:latin typeface="Consolas"/>
              </a:rPr>
              <a:t>@v4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  with: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    images: |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      </a:t>
            </a:r>
            <a:r>
              <a:rPr lang="en-US" sz="1000" dirty="0" err="1">
                <a:latin typeface="Consolas"/>
              </a:rPr>
              <a:t>tuftsttsrt</a:t>
            </a:r>
            <a:r>
              <a:rPr lang="en-US" sz="1000" dirty="0">
                <a:latin typeface="Consolas"/>
              </a:rPr>
              <a:t>/</a:t>
            </a:r>
            <a:r>
              <a:rPr lang="en-US" sz="1000" dirty="0" err="1">
                <a:latin typeface="Consolas"/>
              </a:rPr>
              <a:t>rserver</a:t>
            </a:r>
            <a:endParaRPr lang="en-US" sz="1000" dirty="0">
              <a:latin typeface="Consolas"/>
            </a:endParaRPr>
          </a:p>
          <a:p>
            <a:pPr>
              <a:buNone/>
            </a:pPr>
            <a:r>
              <a:rPr lang="en-US" sz="1000" dirty="0">
                <a:latin typeface="Consolas"/>
              </a:rPr>
              <a:t>          tags: </a:t>
            </a:r>
            <a:r>
              <a:rPr lang="en-US" sz="1000" dirty="0">
                <a:solidFill>
                  <a:srgbClr val="3172AE"/>
                </a:solidFill>
                <a:latin typeface="Consolas"/>
              </a:rPr>
              <a:t>type=</a:t>
            </a:r>
            <a:r>
              <a:rPr lang="en-US" sz="1000" dirty="0" err="1">
                <a:solidFill>
                  <a:srgbClr val="3172AE"/>
                </a:solidFill>
                <a:latin typeface="Consolas"/>
              </a:rPr>
              <a:t>semver,pattern</a:t>
            </a:r>
            <a:r>
              <a:rPr lang="en-US" sz="1000" dirty="0">
                <a:solidFill>
                  <a:srgbClr val="3172AE"/>
                </a:solidFill>
                <a:latin typeface="Consolas"/>
              </a:rPr>
              <a:t>={{version}}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- name: Build &amp; Publish Docker Image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  uses: docker/</a:t>
            </a:r>
            <a:r>
              <a:rPr lang="en-US" sz="1000" dirty="0">
                <a:solidFill>
                  <a:srgbClr val="3172AE"/>
                </a:solidFill>
                <a:latin typeface="Consolas"/>
              </a:rPr>
              <a:t>build-push-action</a:t>
            </a:r>
            <a:r>
              <a:rPr lang="en-US" sz="1000" dirty="0">
                <a:latin typeface="Consolas"/>
              </a:rPr>
              <a:t>@v5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  with: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    context: .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    file: ./</a:t>
            </a:r>
            <a:r>
              <a:rPr lang="en-US" sz="1000" dirty="0" err="1">
                <a:latin typeface="Consolas"/>
              </a:rPr>
              <a:t>Dockerfile</a:t>
            </a:r>
            <a:endParaRPr lang="en-US" sz="1000" dirty="0">
              <a:latin typeface="Consolas"/>
            </a:endParaRPr>
          </a:p>
          <a:p>
            <a:pPr>
              <a:buNone/>
            </a:pPr>
            <a:r>
              <a:rPr lang="en-US" sz="1000" dirty="0">
                <a:latin typeface="Consolas"/>
              </a:rPr>
              <a:t>          push: true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    tags: ${{ </a:t>
            </a:r>
            <a:r>
              <a:rPr lang="en-US" sz="1000" dirty="0" err="1">
                <a:latin typeface="Consolas"/>
              </a:rPr>
              <a:t>steps.metadata.outputs.tags</a:t>
            </a:r>
            <a:r>
              <a:rPr lang="en-US" sz="1000" dirty="0">
                <a:latin typeface="Consolas"/>
              </a:rPr>
              <a:t> }}</a:t>
            </a:r>
          </a:p>
          <a:p>
            <a:pPr>
              <a:buNone/>
            </a:pPr>
            <a:r>
              <a:rPr lang="en-US" sz="1000" dirty="0">
                <a:latin typeface="Consolas"/>
              </a:rPr>
              <a:t>          labels: ${{ </a:t>
            </a:r>
            <a:r>
              <a:rPr lang="en-US" sz="1000" dirty="0" err="1">
                <a:latin typeface="Consolas"/>
              </a:rPr>
              <a:t>steps.metadata.outputs.labels</a:t>
            </a:r>
            <a:r>
              <a:rPr lang="en-US" sz="1000" dirty="0">
                <a:latin typeface="Consolas"/>
              </a:rPr>
              <a:t> }}</a:t>
            </a:r>
          </a:p>
        </p:txBody>
      </p:sp>
      <p:sp>
        <p:nvSpPr>
          <p:cNvPr id="8" name="Annotations"/>
          <p:cNvSpPr txBox="1"/>
          <p:nvPr/>
        </p:nvSpPr>
        <p:spPr>
          <a:xfrm>
            <a:off x="985812" y="1496821"/>
            <a:ext cx="5812554" cy="4700000"/>
          </a:xfrm>
          <a:prstGeom prst="rect">
            <a:avLst/>
          </a:prstGeom>
          <a:noFill/>
        </p:spPr>
        <p:txBody>
          <a:bodyPr wrap="square" lIns="0" tIns="120000"/>
          <a:lstStyle/>
          <a:p>
            <a:pPr>
              <a:buNone/>
            </a:pPr>
            <a:r>
              <a:rPr lang="en-US" sz="1600" b="1" dirty="0">
                <a:solidFill>
                  <a:srgbClr val="2E74B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▶ </a:t>
            </a:r>
            <a:r>
              <a:rPr lang="en-US" b="1" dirty="0">
                <a:solidFill>
                  <a:srgbClr val="2E74B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Trigger</a:t>
            </a:r>
          </a:p>
          <a:p>
            <a:pPr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Fires when a GitHub Release is published. </a:t>
            </a:r>
          </a:p>
          <a:p>
            <a:pPr>
              <a:buNone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600" b="1" dirty="0">
                <a:solidFill>
                  <a:srgbClr val="2E74B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▶ </a:t>
            </a:r>
            <a:r>
              <a:rPr lang="en-US" b="1" dirty="0">
                <a:solidFill>
                  <a:srgbClr val="2E74B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Runner</a:t>
            </a:r>
          </a:p>
          <a:p>
            <a:pPr>
              <a:buNone/>
            </a:pP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GitHub-hosted Ubuntu VM. </a:t>
            </a:r>
          </a:p>
          <a:p>
            <a:pPr>
              <a:buNone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600" b="1" dirty="0">
                <a:solidFill>
                  <a:srgbClr val="2E74B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▶ </a:t>
            </a:r>
            <a:r>
              <a:rPr lang="en-US" b="1" dirty="0">
                <a:solidFill>
                  <a:srgbClr val="2E74B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Secrets &amp; Variables </a:t>
            </a:r>
          </a:p>
          <a:p>
            <a:pPr>
              <a:buNone/>
            </a:pP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Referenced with ${{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vars.NAME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}} and ${{ </a:t>
            </a:r>
            <a:r>
              <a:rPr lang="en-US" sz="1500" dirty="0" err="1">
                <a:latin typeface="Arial" panose="020B0604020202020204" pitchFamily="34" charset="0"/>
                <a:cs typeface="Arial" panose="020B0604020202020204" pitchFamily="34" charset="0"/>
              </a:rPr>
              <a:t>secrets.NAME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}}. Never printed in logs.</a:t>
            </a:r>
          </a:p>
          <a:p>
            <a:pPr>
              <a:buNone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600" b="1" dirty="0">
                <a:solidFill>
                  <a:srgbClr val="2E74B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▶ </a:t>
            </a:r>
            <a:r>
              <a:rPr lang="en-US" b="1" dirty="0">
                <a:solidFill>
                  <a:srgbClr val="2E74B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Steps</a:t>
            </a:r>
          </a:p>
          <a:p>
            <a:pPr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Run in order. A failing step stops the job.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Checkout: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pulls your repo code into the runner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Login: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authenticates to Docker Hub using your stored credentials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Extract Metadata: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derives the image tag from the release version and attaches standard OCI labels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Build &amp; Publish: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builds the image from ./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Dockerfile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and pushes to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tuftsttsrt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rserver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with the extracted tag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1C9560-615B-DF4B-2773-C13F1BC86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694" y="0"/>
            <a:ext cx="10426014" cy="6950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0952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89ACBC3-7008-154C-2BFD-B850A7474A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390" y="357095"/>
            <a:ext cx="11134242" cy="618631"/>
          </a:xfrm>
        </p:spPr>
        <p:txBody>
          <a:bodyPr/>
          <a:lstStyle/>
          <a:p>
            <a:r>
              <a:rPr lang="en-US" dirty="0"/>
              <a:t>How TTS Research Technology use it?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E93B59A-8AC7-6B06-782A-A43DA5D647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1BFD1F8-9A58-C936-2300-784F78B3EF2A}"/>
              </a:ext>
            </a:extLst>
          </p:cNvPr>
          <p:cNvGrpSpPr/>
          <p:nvPr/>
        </p:nvGrpSpPr>
        <p:grpSpPr>
          <a:xfrm>
            <a:off x="524063" y="1729649"/>
            <a:ext cx="11656798" cy="4379557"/>
            <a:chOff x="524063" y="1729649"/>
            <a:chExt cx="11656798" cy="4379557"/>
          </a:xfrm>
        </p:grpSpPr>
        <p:pic>
          <p:nvPicPr>
            <p:cNvPr id="6" name="Picture 4" descr="Introduction to GitHub Actions CI and integration with Selenium | by Afsal  Backer | Medium">
              <a:extLst>
                <a:ext uri="{FF2B5EF4-FFF2-40B4-BE49-F238E27FC236}">
                  <a16:creationId xmlns:a16="http://schemas.microsoft.com/office/drawing/2014/main" id="{11F3ACD2-2006-944B-59D8-62E1510A52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637" r="20369"/>
            <a:stretch/>
          </p:blipFill>
          <p:spPr bwMode="auto">
            <a:xfrm>
              <a:off x="7342075" y="3238373"/>
              <a:ext cx="3100181" cy="2517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A screenshot of a computer  AI-generated content may be incorrect.">
              <a:extLst>
                <a:ext uri="{FF2B5EF4-FFF2-40B4-BE49-F238E27FC236}">
                  <a16:creationId xmlns:a16="http://schemas.microsoft.com/office/drawing/2014/main" id="{9F7E0CDA-F6F3-D980-A213-2FF735CCA3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9489"/>
            <a:stretch/>
          </p:blipFill>
          <p:spPr>
            <a:xfrm>
              <a:off x="8493769" y="1969170"/>
              <a:ext cx="3687092" cy="144047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7E78BF0-1CBF-6E01-6AA4-6B21514BB2C9}"/>
                </a:ext>
              </a:extLst>
            </p:cNvPr>
            <p:cNvSpPr txBox="1"/>
            <p:nvPr/>
          </p:nvSpPr>
          <p:spPr>
            <a:xfrm>
              <a:off x="3378792" y="1729649"/>
              <a:ext cx="8746327" cy="4222838"/>
            </a:xfrm>
            <a:prstGeom prst="rect">
              <a:avLst/>
            </a:prstGeom>
            <a:noFill/>
            <a:ln w="15875">
              <a:solidFill>
                <a:srgbClr val="235382"/>
              </a:solidFill>
              <a:prstDash val="lgDash"/>
            </a:ln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49DE8A4D-C6E2-21A7-9428-FFBFD7C246E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5999" t="15135" r="10031" b="20905"/>
            <a:stretch/>
          </p:blipFill>
          <p:spPr bwMode="auto">
            <a:xfrm>
              <a:off x="524063" y="2009273"/>
              <a:ext cx="1485209" cy="1573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7A223F6-F057-FF7A-089A-E593DADB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78556" y="3535110"/>
              <a:ext cx="0" cy="731520"/>
            </a:xfrm>
            <a:prstGeom prst="line">
              <a:avLst/>
            </a:prstGeom>
            <a:ln w="317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 w="med" len="lg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D39EF28-1916-BA18-2D5B-F15C78FB75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06887" y="3535110"/>
              <a:ext cx="0" cy="731520"/>
            </a:xfrm>
            <a:prstGeom prst="line">
              <a:avLst/>
            </a:prstGeom>
            <a:ln w="317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triangle" w="med" len="lg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12" name="Picture 12" descr="tufts jumbo using laptop inside">
              <a:extLst>
                <a:ext uri="{FF2B5EF4-FFF2-40B4-BE49-F238E27FC236}">
                  <a16:creationId xmlns:a16="http://schemas.microsoft.com/office/drawing/2014/main" id="{732BE33A-BBF9-86A7-B8D3-3B1070865D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0972" y="4314758"/>
              <a:ext cx="1426633" cy="1426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C51519A-B583-2566-05F5-D1DDAB9C6CB7}"/>
                </a:ext>
              </a:extLst>
            </p:cNvPr>
            <p:cNvSpPr txBox="1"/>
            <p:nvPr/>
          </p:nvSpPr>
          <p:spPr>
            <a:xfrm>
              <a:off x="704864" y="5770652"/>
              <a:ext cx="298548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rgbClr val="235382"/>
                  </a:solidFill>
                  <a:latin typeface="Helvetica" pitchFamily="2" charset="0"/>
                </a:rPr>
                <a:t>System admin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FB29FD3-600C-6570-266C-16B4F5D98827}"/>
                </a:ext>
              </a:extLst>
            </p:cNvPr>
            <p:cNvSpPr txBox="1"/>
            <p:nvPr/>
          </p:nvSpPr>
          <p:spPr>
            <a:xfrm>
              <a:off x="704798" y="3719587"/>
              <a:ext cx="93846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rgbClr val="00B050"/>
                  </a:solidFill>
                  <a:latin typeface="Helvetica" pitchFamily="2" charset="0"/>
                </a:rPr>
                <a:t>Pull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D70A6FF-EC27-76C3-C202-1986DF5BF2B7}"/>
                </a:ext>
              </a:extLst>
            </p:cNvPr>
            <p:cNvSpPr txBox="1"/>
            <p:nvPr/>
          </p:nvSpPr>
          <p:spPr>
            <a:xfrm>
              <a:off x="1515169" y="3731593"/>
              <a:ext cx="14851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rgbClr val="C00000"/>
                  </a:solidFill>
                  <a:latin typeface="Helvetica" pitchFamily="2" charset="0"/>
                </a:rPr>
                <a:t>Push</a:t>
              </a:r>
            </a:p>
          </p:txBody>
        </p:sp>
        <p:pic>
          <p:nvPicPr>
            <p:cNvPr id="16" name="Picture 4" descr="What Is a Docker Image? | Packagecloud Blog">
              <a:extLst>
                <a:ext uri="{FF2B5EF4-FFF2-40B4-BE49-F238E27FC236}">
                  <a16:creationId xmlns:a16="http://schemas.microsoft.com/office/drawing/2014/main" id="{D0ADEF5A-2342-2869-6023-F9E5525CE59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259" t="21076" r="36035" b="20278"/>
            <a:stretch/>
          </p:blipFill>
          <p:spPr bwMode="auto">
            <a:xfrm>
              <a:off x="5102116" y="2046747"/>
              <a:ext cx="1682382" cy="16969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27812B1-FFF6-FC20-1C6B-20F3E31A26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4305" y="2815390"/>
              <a:ext cx="1779606" cy="8017"/>
            </a:xfrm>
            <a:prstGeom prst="line">
              <a:avLst/>
            </a:prstGeom>
            <a:ln w="31750" cap="flat" cmpd="sng" algn="ctr">
              <a:solidFill>
                <a:srgbClr val="235382"/>
              </a:solidFill>
              <a:prstDash val="solid"/>
              <a:round/>
              <a:headEnd type="none" w="med" len="med"/>
              <a:tailEnd type="triangle" w="med" len="lg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D72C598-9421-CC22-5BF1-6B11D3C968E5}"/>
                </a:ext>
              </a:extLst>
            </p:cNvPr>
            <p:cNvSpPr txBox="1"/>
            <p:nvPr/>
          </p:nvSpPr>
          <p:spPr>
            <a:xfrm>
              <a:off x="5486460" y="3764657"/>
              <a:ext cx="14876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Image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AFE2D16-DF80-99A7-DDE6-8A8C0C69A362}"/>
                </a:ext>
              </a:extLst>
            </p:cNvPr>
            <p:cNvSpPr txBox="1"/>
            <p:nvPr/>
          </p:nvSpPr>
          <p:spPr>
            <a:xfrm>
              <a:off x="3362859" y="2446058"/>
              <a:ext cx="183635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docker build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D44549C-32C2-C212-07A6-8ECD6C6885FC}"/>
                </a:ext>
              </a:extLst>
            </p:cNvPr>
            <p:cNvCxnSpPr>
              <a:cxnSpLocks/>
            </p:cNvCxnSpPr>
            <p:nvPr/>
          </p:nvCxnSpPr>
          <p:spPr>
            <a:xfrm>
              <a:off x="6966880" y="2823407"/>
              <a:ext cx="1581052" cy="0"/>
            </a:xfrm>
            <a:prstGeom prst="line">
              <a:avLst/>
            </a:prstGeom>
            <a:ln w="31750" cap="flat" cmpd="sng" algn="ctr">
              <a:solidFill>
                <a:srgbClr val="235382"/>
              </a:solidFill>
              <a:prstDash val="solid"/>
              <a:round/>
              <a:headEnd type="none" w="med" len="med"/>
              <a:tailEnd type="triangle" w="med" len="lg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939DA3-E7C1-C13D-963E-6368C4E8410C}"/>
                </a:ext>
              </a:extLst>
            </p:cNvPr>
            <p:cNvSpPr txBox="1"/>
            <p:nvPr/>
          </p:nvSpPr>
          <p:spPr>
            <a:xfrm>
              <a:off x="6970731" y="2454075"/>
              <a:ext cx="183635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docker push</a:t>
              </a:r>
            </a:p>
          </p:txBody>
        </p:sp>
        <p:pic>
          <p:nvPicPr>
            <p:cNvPr id="22" name="Graphic 21" descr="Document with solid fill">
              <a:extLst>
                <a:ext uri="{FF2B5EF4-FFF2-40B4-BE49-F238E27FC236}">
                  <a16:creationId xmlns:a16="http://schemas.microsoft.com/office/drawing/2014/main" id="{EDADEBF7-E3EF-D429-7DAC-A53AD826BF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854685" y="1948393"/>
              <a:ext cx="1573966" cy="1573966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B1357ED-E402-EF3B-59E2-DBC51532EE2D}"/>
                </a:ext>
              </a:extLst>
            </p:cNvPr>
            <p:cNvSpPr txBox="1"/>
            <p:nvPr/>
          </p:nvSpPr>
          <p:spPr>
            <a:xfrm>
              <a:off x="2057010" y="3409644"/>
              <a:ext cx="14876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Dockerfile</a:t>
              </a:r>
              <a:endParaRPr lang="en-US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0121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EFC772-EC57-4A9B-5C3F-B54C3A86A3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49084" y="2104431"/>
            <a:ext cx="11167634" cy="2182970"/>
          </a:xfrm>
        </p:spPr>
        <p:txBody>
          <a:bodyPr/>
          <a:lstStyle/>
          <a:p>
            <a:r>
              <a:rPr lang="en-US" sz="2200" b="1" dirty="0"/>
              <a:t>Why secrets matter:</a:t>
            </a:r>
            <a:r>
              <a:rPr lang="en-US" sz="2200" b="0" dirty="0"/>
              <a:t> never hardcode credentials — leaked tokens can compromise your Docker Hub account and any connected infrastructure</a:t>
            </a:r>
          </a:p>
          <a:p>
            <a:r>
              <a:rPr lang="en-US" sz="2200" b="1" dirty="0"/>
              <a:t>Adding Docker Hub credentials to GitHub Secrets:</a:t>
            </a:r>
            <a:r>
              <a:rPr lang="en-US" sz="2200" b="0" dirty="0"/>
              <a:t> go to Settings → Secrets and variables → Actions, then add </a:t>
            </a:r>
            <a:r>
              <a:rPr lang="en-US" sz="2200" b="0" dirty="0">
                <a:latin typeface="Consolas"/>
              </a:rPr>
              <a:t>DOCKERHUB_USERNAME</a:t>
            </a:r>
            <a:r>
              <a:rPr lang="en-US" sz="2200" b="0" dirty="0"/>
              <a:t> and </a:t>
            </a:r>
            <a:r>
              <a:rPr lang="en-US" sz="2200" b="0" dirty="0">
                <a:latin typeface="Consolas"/>
              </a:rPr>
              <a:t>DOCKERHUB_PASSWORD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ADB2242-F2BD-8B0A-D81E-34CAC9EF8C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9084" y="259559"/>
            <a:ext cx="9770386" cy="618631"/>
          </a:xfrm>
        </p:spPr>
        <p:txBody>
          <a:bodyPr/>
          <a:lstStyle/>
          <a:p>
            <a:r>
              <a:rPr lang="en-US" dirty="0"/>
              <a:t>Setting Up Secrets &amp; Credentials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12B592-7189-A556-F19F-5D885243DF61}"/>
              </a:ext>
            </a:extLst>
          </p:cNvPr>
          <p:cNvSpPr txBox="1"/>
          <p:nvPr/>
        </p:nvSpPr>
        <p:spPr>
          <a:xfrm>
            <a:off x="849084" y="904102"/>
            <a:ext cx="110015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Secrets keep sensitive credentials out of your code and safely stored in GitHub — never hardcode passwords or tokens in your workflow files.</a:t>
            </a:r>
          </a:p>
        </p:txBody>
      </p:sp>
    </p:spTree>
    <p:extLst>
      <p:ext uri="{BB962C8B-B14F-4D97-AF65-F5344CB8AC3E}">
        <p14:creationId xmlns:p14="http://schemas.microsoft.com/office/powerpoint/2010/main" val="10089218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ctrTitle"/>
          </p:nvPr>
        </p:nvSpPr>
        <p:spPr>
          <a:xfrm>
            <a:off x="849084" y="259559"/>
            <a:ext cx="9770386" cy="618631"/>
          </a:xfrm>
        </p:spPr>
        <p:txBody>
          <a:bodyPr/>
          <a:lstStyle/>
          <a:p>
            <a:r>
              <a:rPr lang="en-US" dirty="0"/>
              <a:t>What Is Layer Caching?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849084" y="904102"/>
            <a:ext cx="1100154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dirty="0">
                <a:latin typeface="Arial" panose="020B0604020202020204" pitchFamily="34" charset="0"/>
              </a:rPr>
              <a:t>Each Docker instruction creates a layer. Caching saves those layers so repeated builds only redo what actually changed.</a:t>
            </a:r>
          </a:p>
        </p:txBody>
      </p:sp>
      <p:sp>
        <p:nvSpPr>
          <p:cNvPr id="7" name="Left"/>
          <p:cNvSpPr txBox="1"/>
          <p:nvPr/>
        </p:nvSpPr>
        <p:spPr>
          <a:xfrm>
            <a:off x="849084" y="1750000"/>
            <a:ext cx="5200000" cy="45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>
              <a:buNone/>
            </a:pPr>
            <a:r>
              <a:rPr lang="en-US" sz="1900" b="1" dirty="0">
                <a:solidFill>
                  <a:srgbClr val="C050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⚠ The Problem</a:t>
            </a:r>
          </a:p>
          <a:p>
            <a:pPr>
              <a:buNone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Every GitHub Actions run starts on a brand-new virtual machine — there is no leftover cache from the previous run.</a:t>
            </a:r>
          </a:p>
          <a:p>
            <a:pPr>
              <a:buNone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Without caching, every build reinstalls all dependencies and rebuilds all layers from scratch — even if only one file changed.</a:t>
            </a:r>
          </a:p>
          <a:p>
            <a:pPr>
              <a:buNone/>
            </a:pP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900" b="1" dirty="0">
                <a:solidFill>
                  <a:srgbClr val="53813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✔ The Solution</a:t>
            </a:r>
          </a:p>
          <a:p>
            <a:pPr>
              <a:buNone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Add two lines to build-push-action to save layers to GitHub’s cache and pull them back on the next run:</a:t>
            </a:r>
          </a:p>
          <a:p>
            <a:pPr>
              <a:buNone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cache-from: type=gha</a:t>
            </a:r>
          </a:p>
          <a:p>
            <a:pPr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cache-to: type=gha,mode=max</a:t>
            </a:r>
          </a:p>
        </p:txBody>
      </p:sp>
      <p:sp>
        <p:nvSpPr>
          <p:cNvPr id="8" name="Right"/>
          <p:cNvSpPr txBox="1"/>
          <p:nvPr/>
        </p:nvSpPr>
        <p:spPr>
          <a:xfrm>
            <a:off x="6300000" y="1750000"/>
            <a:ext cx="5500000" cy="45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>
              <a:buNone/>
            </a:pPr>
            <a:r>
              <a:rPr lang="en-US" sz="1900" b="1" dirty="0">
                <a:solidFill>
                  <a:srgbClr val="2E74B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Layers Work</a:t>
            </a:r>
          </a:p>
          <a:p>
            <a:pPr>
              <a:buNone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• Each Dockerfile instruction (FROM, RUN, COPY) creates one layer</a:t>
            </a:r>
          </a:p>
          <a:p>
            <a:pPr>
              <a:buNone/>
            </a:pP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• Docker reuses cached layers until the first instruction that changed</a:t>
            </a:r>
          </a:p>
          <a:p>
            <a:pPr>
              <a:buNone/>
            </a:pP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• Everything after the changed instruction gets rebuilt</a:t>
            </a:r>
          </a:p>
          <a:p>
            <a:pPr>
              <a:buNone/>
            </a:pP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900" b="1" dirty="0">
                <a:solidFill>
                  <a:srgbClr val="2E74B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Where Are Layers Stored?</a:t>
            </a:r>
          </a:p>
          <a:p>
            <a:pPr>
              <a:buNone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type=gha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: GitHub’s own cache servers (10 GB, 7-day expiry) , easiest, no setup</a:t>
            </a:r>
          </a:p>
          <a:p>
            <a:pPr>
              <a:buNone/>
            </a:pP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type=registry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: Docker Hub (persists longer, uses registry storage)</a:t>
            </a:r>
          </a:p>
          <a:p>
            <a:pPr>
              <a:buNone/>
            </a:pP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type=local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: runner disk (self-hosted runners only)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FE863A8-5CBD-7D86-2BC4-25D13F3005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390" y="357095"/>
            <a:ext cx="6906874" cy="1144929"/>
          </a:xfrm>
        </p:spPr>
        <p:txBody>
          <a:bodyPr/>
          <a:lstStyle/>
          <a:p>
            <a:r>
              <a:rPr lang="en-US" dirty="0"/>
              <a:t>CPU architecture matters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C003002-72B0-87C5-6085-209C4E09CA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A314994-C7C8-C34D-EB64-1E1900B7C9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81980" y="1409614"/>
            <a:ext cx="10323480" cy="4342407"/>
          </a:xfrm>
        </p:spPr>
        <p:txBody>
          <a:bodyPr/>
          <a:lstStyle/>
          <a:p>
            <a:r>
              <a:rPr lang="en-US" sz="2400" b="0" dirty="0">
                <a:solidFill>
                  <a:schemeClr val="tx1"/>
                </a:solidFill>
              </a:rPr>
              <a:t>When using a container, you must choose an image built for the correct CPU architecture of your system, such as </a:t>
            </a:r>
            <a:r>
              <a:rPr lang="en-US" sz="2400" dirty="0">
                <a:solidFill>
                  <a:schemeClr val="tx1"/>
                </a:solidFill>
              </a:rPr>
              <a:t>x86_64/amd64 </a:t>
            </a:r>
            <a:r>
              <a:rPr lang="en-US" sz="2400" b="0" dirty="0">
                <a:solidFill>
                  <a:schemeClr val="tx1"/>
                </a:solidFill>
              </a:rPr>
              <a:t>or </a:t>
            </a:r>
            <a:r>
              <a:rPr lang="en-US" sz="2400" dirty="0">
                <a:solidFill>
                  <a:schemeClr val="tx1"/>
                </a:solidFill>
              </a:rPr>
              <a:t>arm64</a:t>
            </a:r>
            <a:r>
              <a:rPr lang="en-US" sz="2400" b="0" dirty="0">
                <a:solidFill>
                  <a:schemeClr val="tx1"/>
                </a:solidFill>
              </a:rPr>
              <a:t>.</a:t>
            </a:r>
          </a:p>
          <a:p>
            <a:r>
              <a:rPr lang="en-US" sz="2400" b="0" dirty="0">
                <a:solidFill>
                  <a:schemeClr val="tx1"/>
                </a:solidFill>
              </a:rPr>
              <a:t>A container does not ignore hardware differences. If the image was built for the wrong architecture, it may fail to start or run much more slowly through emulation.</a:t>
            </a:r>
          </a:p>
          <a:p>
            <a:r>
              <a:rPr lang="en-US" sz="2400" b="0" dirty="0">
                <a:solidFill>
                  <a:schemeClr val="tx1"/>
                </a:solidFill>
              </a:rPr>
              <a:t>For example, a container built for </a:t>
            </a:r>
            <a:r>
              <a:rPr lang="en-US" sz="2400" dirty="0">
                <a:solidFill>
                  <a:schemeClr val="tx1"/>
                </a:solidFill>
              </a:rPr>
              <a:t>amd64</a:t>
            </a:r>
            <a:r>
              <a:rPr lang="en-US" sz="2400" b="0" dirty="0">
                <a:solidFill>
                  <a:schemeClr val="tx1"/>
                </a:solidFill>
              </a:rPr>
              <a:t> may not run natively on an </a:t>
            </a:r>
            <a:r>
              <a:rPr lang="en-US" sz="2400" dirty="0">
                <a:solidFill>
                  <a:schemeClr val="tx1"/>
                </a:solidFill>
              </a:rPr>
              <a:t>Apple Silicon Mac</a:t>
            </a:r>
            <a:r>
              <a:rPr lang="en-US" sz="2400" b="0" dirty="0">
                <a:solidFill>
                  <a:schemeClr val="tx1"/>
                </a:solidFill>
              </a:rPr>
              <a:t>, which uses </a:t>
            </a:r>
            <a:r>
              <a:rPr lang="en-US" sz="2400" dirty="0">
                <a:solidFill>
                  <a:schemeClr val="tx1"/>
                </a:solidFill>
              </a:rPr>
              <a:t>arm64</a:t>
            </a:r>
            <a:r>
              <a:rPr lang="en-US" sz="2400" b="0" dirty="0">
                <a:solidFill>
                  <a:schemeClr val="tx1"/>
                </a:solidFill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09740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ctrTitle"/>
          </p:nvPr>
        </p:nvSpPr>
        <p:spPr>
          <a:xfrm>
            <a:off x="849084" y="259559"/>
            <a:ext cx="9770386" cy="618631"/>
          </a:xfrm>
        </p:spPr>
        <p:txBody>
          <a:bodyPr/>
          <a:lstStyle/>
          <a:p>
            <a:r>
              <a:rPr lang="en-US" dirty="0"/>
              <a:t>Building Multi-Architecture Images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849084" y="904102"/>
            <a:ext cx="1100154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100" dirty="0">
                <a:latin typeface="Arial" panose="020B0604020202020204" pitchFamily="34" charset="0"/>
              </a:rPr>
              <a:t>One image manifest, two architectures: users on Apple Silicon, AWS Graviton, and x86 servers all pull the right variant automatically.</a:t>
            </a:r>
          </a:p>
        </p:txBody>
      </p:sp>
      <p:sp>
        <p:nvSpPr>
          <p:cNvPr id="7" name="Left"/>
          <p:cNvSpPr txBox="1"/>
          <p:nvPr/>
        </p:nvSpPr>
        <p:spPr>
          <a:xfrm>
            <a:off x="985084" y="1730000"/>
            <a:ext cx="5300000" cy="46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>
              <a:buNone/>
            </a:pPr>
            <a:r>
              <a:rPr lang="en-US" sz="1900" b="1" dirty="0">
                <a:solidFill>
                  <a:srgbClr val="2E74B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Why It Matters</a:t>
            </a:r>
          </a:p>
          <a:p>
            <a:pPr>
              <a:buNone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• Apple Silicon Macs run ARM natively, an amd64-only image runs slowly under emulation</a:t>
            </a:r>
          </a:p>
          <a:p>
            <a:pPr>
              <a:buNone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• Tufts HPC and PC can only run amd64 images.</a:t>
            </a:r>
          </a:p>
          <a:p>
            <a:pPr>
              <a:buNone/>
            </a:pP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• Docker Hub serves the correct variant automatically via a manifest list</a:t>
            </a:r>
          </a:p>
          <a:p>
            <a:pPr>
              <a:buNone/>
            </a:pP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900" b="1" dirty="0">
                <a:solidFill>
                  <a:srgbClr val="2E74B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 to Your Workflow</a:t>
            </a:r>
          </a:p>
          <a:p>
            <a:pPr>
              <a:buNone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# Step 1 — add before setup-buildx</a:t>
            </a:r>
          </a:p>
          <a:p>
            <a:pPr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- uses: docker/setup-qemu-action@v4</a:t>
            </a:r>
          </a:p>
          <a:p>
            <a:pPr>
              <a:buNone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# Step 2 — add to build-push-action</a:t>
            </a:r>
          </a:p>
          <a:p>
            <a:pPr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platforms: linux/amd64,linux/arm64</a:t>
            </a:r>
          </a:p>
        </p:txBody>
      </p:sp>
      <p:sp>
        <p:nvSpPr>
          <p:cNvPr id="8" name="Right"/>
          <p:cNvSpPr txBox="1"/>
          <p:nvPr/>
        </p:nvSpPr>
        <p:spPr>
          <a:xfrm>
            <a:off x="6400000" y="1730000"/>
            <a:ext cx="5400000" cy="46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>
              <a:buNone/>
            </a:pPr>
            <a:r>
              <a:rPr lang="en-US" sz="1900" b="1" dirty="0">
                <a:solidFill>
                  <a:srgbClr val="2E74B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It Works</a:t>
            </a:r>
          </a:p>
          <a:p>
            <a:pPr>
              <a:buNone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QEMU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emulates ARM64 on the x86 runner so both architectures can be built in one job</a:t>
            </a:r>
          </a:p>
          <a:p>
            <a:pPr>
              <a:buNone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Buildx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builds both variants and pushes them as a single multi-arch manifest to Docker Hub</a:t>
            </a:r>
          </a:p>
          <a:p>
            <a:pPr>
              <a:buNone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docker pull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automatically fetches the right variant for the host platform</a:t>
            </a:r>
          </a:p>
          <a:p>
            <a:pPr>
              <a:buNone/>
            </a:pP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900" b="1" dirty="0">
                <a:solidFill>
                  <a:srgbClr val="C050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Trade-offs</a:t>
            </a:r>
          </a:p>
          <a:p>
            <a:pPr>
              <a:buNone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• ARM build under QEMU emulation is 4–8× slower than native, a 5 min build may take 30–40 min</a:t>
            </a:r>
          </a:p>
          <a:p>
            <a:pPr>
              <a:buNone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buNone/>
            </a:pP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• For faster ARM builds, use a native ARM self-hosted runner (e.g. Apple M-series or AWS Graviton) with runs-on: [self-hosted, arm64]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A2418-085F-C422-FB3D-B034627FB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D4235-944B-7E23-F8BD-AD7D7AD912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214" y="1134162"/>
            <a:ext cx="6979920" cy="646331"/>
          </a:xfrm>
        </p:spPr>
        <p:txBody>
          <a:bodyPr/>
          <a:lstStyle/>
          <a:p>
            <a:r>
              <a:rPr lang="en-US" dirty="0"/>
              <a:t>04 Demo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0BE0D8-5DBE-D618-B936-782B67538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214" y="2283972"/>
            <a:ext cx="9754335" cy="86793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https://</a:t>
            </a:r>
            <a:r>
              <a:rPr lang="en-US" dirty="0" err="1">
                <a:solidFill>
                  <a:schemeClr val="tx1"/>
                </a:solidFill>
              </a:rPr>
              <a:t>github.com</a:t>
            </a:r>
            <a:r>
              <a:rPr lang="en-US" dirty="0">
                <a:solidFill>
                  <a:schemeClr val="tx1"/>
                </a:solidFill>
              </a:rPr>
              <a:t>/</a:t>
            </a:r>
            <a:r>
              <a:rPr lang="en-US" dirty="0" err="1">
                <a:solidFill>
                  <a:schemeClr val="tx1"/>
                </a:solidFill>
              </a:rPr>
              <a:t>TuftsHPCbioinfo</a:t>
            </a:r>
            <a:r>
              <a:rPr lang="en-US" dirty="0">
                <a:solidFill>
                  <a:schemeClr val="tx1"/>
                </a:solidFill>
              </a:rPr>
              <a:t>/</a:t>
            </a:r>
            <a:r>
              <a:rPr lang="en-US" dirty="0" err="1">
                <a:solidFill>
                  <a:schemeClr val="tx1"/>
                </a:solidFill>
              </a:rPr>
              <a:t>GitHubActionDemo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D067D4-C916-9EAC-BCF5-F3B5A7E71A35}"/>
              </a:ext>
            </a:extLst>
          </p:cNvPr>
          <p:cNvSpPr txBox="1"/>
          <p:nvPr/>
        </p:nvSpPr>
        <p:spPr>
          <a:xfrm>
            <a:off x="361214" y="2977687"/>
            <a:ext cx="1043897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cd Downloads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git clone  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TuftsHPCbioinfo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GitHubActionDemo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docker run --rm \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 -p 8787:8787 \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 -e DISABLE_AUTH=true \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 -v ~/Downloads/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GitHubActionDemo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:/home/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rstudio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workshop_demo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\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tuftsttsrt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/rstudio:4.6.0</a:t>
            </a:r>
          </a:p>
        </p:txBody>
      </p:sp>
    </p:spTree>
    <p:extLst>
      <p:ext uri="{BB962C8B-B14F-4D97-AF65-F5344CB8AC3E}">
        <p14:creationId xmlns:p14="http://schemas.microsoft.com/office/powerpoint/2010/main" val="6251771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B4381C-D53E-FC6F-9AE0-7A8644D660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7464" y="2858467"/>
            <a:ext cx="5917646" cy="840230"/>
          </a:xfrm>
        </p:spPr>
        <p:txBody>
          <a:bodyPr/>
          <a:lstStyle/>
          <a:p>
            <a:r>
              <a:rPr lang="en-US" sz="540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311826633"/>
      </p:ext>
    </p:extLst>
  </p:cSld>
  <p:clrMapOvr>
    <a:masterClrMapping/>
  </p:clrMapOvr>
</p:sld>
</file>

<file path=ppt/theme/theme1.xml><?xml version="1.0" encoding="utf-8"?>
<a:theme xmlns:a="http://schemas.openxmlformats.org/drawingml/2006/main" name="6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7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8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7C9C41F272B604C8CC53D5F0D66DDC0" ma:contentTypeVersion="18" ma:contentTypeDescription="Create a new document." ma:contentTypeScope="" ma:versionID="f8113db4f5a8da995389a58735b55208">
  <xsd:schema xmlns:xsd="http://www.w3.org/2001/XMLSchema" xmlns:xs="http://www.w3.org/2001/XMLSchema" xmlns:p="http://schemas.microsoft.com/office/2006/metadata/properties" xmlns:ns2="607792bb-7e5d-42d7-b537-aadbed1bbc98" xmlns:ns3="54635187-68af-4f5f-8683-6ebd35fc842e" targetNamespace="http://schemas.microsoft.com/office/2006/metadata/properties" ma:root="true" ma:fieldsID="e070f0f1080cdda18e1190d655c75c10" ns2:_="" ns3:_="">
    <xsd:import namespace="607792bb-7e5d-42d7-b537-aadbed1bbc98"/>
    <xsd:import namespace="54635187-68af-4f5f-8683-6ebd35fc842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7792bb-7e5d-42d7-b537-aadbed1bbc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79dfb89d-109d-4eca-b661-b7c8ffd4a82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CR" ma:index="2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635187-68af-4f5f-8683-6ebd35fc842e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e58fec68-bcb4-4d15-9920-f008f4a63a1c}" ma:internalName="TaxCatchAll" ma:showField="CatchAllData" ma:web="54635187-68af-4f5f-8683-6ebd35fc842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4635187-68af-4f5f-8683-6ebd35fc842e" xsi:nil="true"/>
    <lcf76f155ced4ddcb4097134ff3c332f xmlns="607792bb-7e5d-42d7-b537-aadbed1bbc98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91811F3-7522-4495-A0F1-AB27F04C7D1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6CCE7F9-A01E-4F94-B05B-A5612F9DD448}">
  <ds:schemaRefs>
    <ds:schemaRef ds:uri="54635187-68af-4f5f-8683-6ebd35fc842e"/>
    <ds:schemaRef ds:uri="607792bb-7e5d-42d7-b537-aadbed1bbc9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6FC61CF7-A9B2-4343-8EC9-92827B53E71C}">
  <ds:schemaRefs>
    <ds:schemaRef ds:uri="54635187-68af-4f5f-8683-6ebd35fc842e"/>
    <ds:schemaRef ds:uri="607792bb-7e5d-42d7-b537-aadbed1bbc98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621</TotalTime>
  <Words>1847</Words>
  <Application>Microsoft Macintosh PowerPoint</Application>
  <PresentationFormat>Widescreen</PresentationFormat>
  <Paragraphs>234</Paragraphs>
  <Slides>30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30</vt:i4>
      </vt:variant>
    </vt:vector>
  </HeadingPairs>
  <TitlesOfParts>
    <vt:vector size="41" baseType="lpstr">
      <vt:lpstr>-apple-system</vt:lpstr>
      <vt:lpstr>System Font Regular</vt:lpstr>
      <vt:lpstr>var(--fontStack-monospace,ui-monospace,SFMono-Regular,SF Mono,Menlo,Consolas,Liberation Mono,monospace)</vt:lpstr>
      <vt:lpstr>Arial</vt:lpstr>
      <vt:lpstr>Calibri</vt:lpstr>
      <vt:lpstr>Consolas</vt:lpstr>
      <vt:lpstr>Helvetica</vt:lpstr>
      <vt:lpstr>Wingdings</vt:lpstr>
      <vt:lpstr>6_Custom Design</vt:lpstr>
      <vt:lpstr>7_Custom Design</vt:lpstr>
      <vt:lpstr>8_Custom Design</vt:lpstr>
      <vt:lpstr>Automating Container Builds with GitHub Actions:  From Code to Docker Hub</vt:lpstr>
      <vt:lpstr>Agenda</vt:lpstr>
      <vt:lpstr>01 Container</vt:lpstr>
      <vt:lpstr>PowerPoint Presentation</vt:lpstr>
      <vt:lpstr>What can container do?</vt:lpstr>
      <vt:lpstr>Why Use Containers?</vt:lpstr>
      <vt:lpstr>What do containers mean for Tufts HPC? </vt:lpstr>
      <vt:lpstr>PowerPoint Presentation</vt:lpstr>
      <vt:lpstr>PowerPoint Presentation</vt:lpstr>
      <vt:lpstr>02 GitHub Actions</vt:lpstr>
      <vt:lpstr>What is CI/CD?</vt:lpstr>
      <vt:lpstr>Top CI/CD platforms</vt:lpstr>
      <vt:lpstr>What is GitHub Actions</vt:lpstr>
      <vt:lpstr>Components of GitHub Actions</vt:lpstr>
      <vt:lpstr>Components of GitHub Actions</vt:lpstr>
      <vt:lpstr>Components of GitHub Actions</vt:lpstr>
      <vt:lpstr>Components of GitHub Actions</vt:lpstr>
      <vt:lpstr>Standard GitHub-hosted runners for public repositories </vt:lpstr>
      <vt:lpstr>03 GitHub action &amp; Docker build</vt:lpstr>
      <vt:lpstr>GitHub Actions for Docker Containers</vt:lpstr>
      <vt:lpstr>Build &amp; Push Docker Images — Workflow</vt:lpstr>
      <vt:lpstr>Anatomy of a Workflow File</vt:lpstr>
      <vt:lpstr>PowerPoint Presentation</vt:lpstr>
      <vt:lpstr>How TTS Research Technology use it?</vt:lpstr>
      <vt:lpstr>Setting Up Secrets &amp; Credentials</vt:lpstr>
      <vt:lpstr>What Is Layer Caching?</vt:lpstr>
      <vt:lpstr>CPU architecture matters</vt:lpstr>
      <vt:lpstr>Building Multi-Architecture Images</vt:lpstr>
      <vt:lpstr>04 Demo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Pham, Ann</dc:creator>
  <cp:lastModifiedBy>Zhang, Yucheng</cp:lastModifiedBy>
  <cp:revision>35</cp:revision>
  <dcterms:created xsi:type="dcterms:W3CDTF">2022-05-27T12:54:27Z</dcterms:created>
  <dcterms:modified xsi:type="dcterms:W3CDTF">2026-05-26T16:03:48Z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0x010100C7C9C41F272B604C8CC53D5F0D66DDC0</vt:lpwstr>
  </property>
</Properties>
</file>