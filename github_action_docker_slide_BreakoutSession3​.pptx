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7" r:id="rId4"/>
    <p:sldMasterId id="2147483701" r:id="rId5"/>
    <p:sldMasterId id="2147483720" r:id="rId6"/>
  </p:sldMasterIdLst>
  <p:notesMasterIdLst>
    <p:notesMasterId r:id="rId40"/>
  </p:notesMasterIdLst>
  <p:sldIdLst>
    <p:sldId id="279" r:id="rId7"/>
    <p:sldId id="280" r:id="rId8"/>
    <p:sldId id="321" r:id="rId9"/>
    <p:sldId id="306" r:id="rId10"/>
    <p:sldId id="305" r:id="rId11"/>
    <p:sldId id="302" r:id="rId12"/>
    <p:sldId id="307" r:id="rId13"/>
    <p:sldId id="304" r:id="rId14"/>
    <p:sldId id="303" r:id="rId15"/>
    <p:sldId id="353" r:id="rId16"/>
    <p:sldId id="354" r:id="rId17"/>
    <p:sldId id="322" r:id="rId18"/>
    <p:sldId id="332" r:id="rId19"/>
    <p:sldId id="330" r:id="rId20"/>
    <p:sldId id="331" r:id="rId21"/>
    <p:sldId id="324" r:id="rId22"/>
    <p:sldId id="325" r:id="rId23"/>
    <p:sldId id="326" r:id="rId24"/>
    <p:sldId id="328" r:id="rId25"/>
    <p:sldId id="343" r:id="rId26"/>
    <p:sldId id="323" r:id="rId27"/>
    <p:sldId id="334" r:id="rId28"/>
    <p:sldId id="316" r:id="rId29"/>
    <p:sldId id="337" r:id="rId30"/>
    <p:sldId id="333" r:id="rId31"/>
    <p:sldId id="345" r:id="rId32"/>
    <p:sldId id="309" r:id="rId33"/>
    <p:sldId id="341" r:id="rId34"/>
    <p:sldId id="344" r:id="rId35"/>
    <p:sldId id="342" r:id="rId36"/>
    <p:sldId id="346" r:id="rId37"/>
    <p:sldId id="336" r:id="rId38"/>
    <p:sldId id="30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0E5"/>
    <a:srgbClr val="3172AE"/>
    <a:srgbClr val="3E8EDE"/>
    <a:srgbClr val="20374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49"/>
    <p:restoredTop sz="88767"/>
  </p:normalViewPr>
  <p:slideViewPr>
    <p:cSldViewPr snapToGrid="0">
      <p:cViewPr varScale="1">
        <p:scale>
          <a:sx n="106" d="100"/>
          <a:sy n="106" d="100"/>
        </p:scale>
        <p:origin x="19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28CB5F-C029-8E4D-8C11-838922BE2791}" type="datetimeFigureOut">
              <a:rPr lang="en-US" smtClean="0"/>
              <a:t>6/1/26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50507-6ABD-D342-BD52-6EEA9C6115F4}" type="slidenum">
              <a:rPr lang="en-US" smtClean="0"/>
              <a:t>‹#›</a:t>
            </a:fld>
            <a:endParaRPr lang="en-US"/>
          </a:p>
        </p:txBody>
      </p:sp>
    </p:spTree>
    <p:extLst>
      <p:ext uri="{BB962C8B-B14F-4D97-AF65-F5344CB8AC3E}">
        <p14:creationId xmlns:p14="http://schemas.microsoft.com/office/powerpoint/2010/main" val="1187173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afternoon. My name is Yucheng Zhang, and I am a Senior Bioinformatics Engineer with TTS Research Technology. Today I will introduce how we can use GitHub Actions to automate Docker container builds and publish container images to Docker Hub. The goal is to show a practical workflow that can reduce manual work, improve reproducibility, and make container maintenance easier for research computing environments.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a:t>
            </a:fld>
            <a:endParaRPr lang="en-US"/>
          </a:p>
        </p:txBody>
      </p:sp>
    </p:spTree>
    <p:extLst>
      <p:ext uri="{BB962C8B-B14F-4D97-AF65-F5344CB8AC3E}">
        <p14:creationId xmlns:p14="http://schemas.microsoft.com/office/powerpoint/2010/main" val="1646825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the plan for today. I will start with a short overview of containers and why they matter. Then I will introduce CI/CD and GitHub Actions. After that, we will look at how GitHub Actions can build and publish Docker images automatically. At the end, I will walk through a demo repository so you can see the workflow in action.</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a:t>
            </a:fld>
            <a:endParaRPr lang="en-US"/>
          </a:p>
        </p:txBody>
      </p:sp>
    </p:spTree>
    <p:extLst>
      <p:ext uri="{BB962C8B-B14F-4D97-AF65-F5344CB8AC3E}">
        <p14:creationId xmlns:p14="http://schemas.microsoft.com/office/powerpoint/2010/main" val="3307752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first section is about containers. Before we talk about GitHub Actions, it is important to understand what we are trying to automate. In our case, the artifact we are building is a container image, so we need to know what a container is and why it is useful.</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3</a:t>
            </a:fld>
            <a:endParaRPr lang="en-US"/>
          </a:p>
        </p:txBody>
      </p:sp>
    </p:spTree>
    <p:extLst>
      <p:ext uri="{BB962C8B-B14F-4D97-AF65-F5344CB8AC3E}">
        <p14:creationId xmlns:p14="http://schemas.microsoft.com/office/powerpoint/2010/main" val="3934215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container packages an application together with the software environment it needs to run. That includes dependencies, libraries, runtime tools, and configuration. The main idea is portability. Instead of saying, “This works only on my laptop,” we want the same software environment to run consistently on a laptop, a server, the cloud, or an HPC system.</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4</a:t>
            </a:fld>
            <a:endParaRPr lang="en-US"/>
          </a:p>
        </p:txBody>
      </p:sp>
    </p:spTree>
    <p:extLst>
      <p:ext uri="{BB962C8B-B14F-4D97-AF65-F5344CB8AC3E}">
        <p14:creationId xmlns:p14="http://schemas.microsoft.com/office/powerpoint/2010/main" val="1640905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Containers allow us to package applications separately from the host operating system. Each application can have its own dependencies without interfering with other applications. For example, one container can run a web server, another can run a database, and another can run a workflow tool. This isolation makes software easier to deploy, test, and maintain.</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5</a:t>
            </a:fld>
            <a:endParaRPr lang="en-US"/>
          </a:p>
        </p:txBody>
      </p:sp>
    </p:spTree>
    <p:extLst>
      <p:ext uri="{BB962C8B-B14F-4D97-AF65-F5344CB8AC3E}">
        <p14:creationId xmlns:p14="http://schemas.microsoft.com/office/powerpoint/2010/main" val="3663340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most common problems in research computing is “it works on my machine.” Different users may have different operating systems, Python versions, library versions, or system packages. Containers help solve this by packaging the application and its environment together. This improves reproducibility and reduces the amount of time spent debugging environment problems.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6</a:t>
            </a:fld>
            <a:endParaRPr lang="en-US"/>
          </a:p>
        </p:txBody>
      </p:sp>
    </p:spTree>
    <p:extLst>
      <p:ext uri="{BB962C8B-B14F-4D97-AF65-F5344CB8AC3E}">
        <p14:creationId xmlns:p14="http://schemas.microsoft.com/office/powerpoint/2010/main" val="210325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Tufts HPC, containers are not just a convenience. They are a core part of how we deliver software. Many AI tools, GPU applications, bioinformatics software stacks, course environments, RStudio, </a:t>
            </a:r>
            <a:r>
              <a:rPr lang="en-US" dirty="0" err="1"/>
              <a:t>Jupyter</a:t>
            </a:r>
            <a:r>
              <a:rPr lang="en-US" dirty="0"/>
              <a:t> Notebook, and other applications are delivered through containers. This means container management is directly connected to user productivity on the cluster. If we can automate container builds, we can make software delivery faster and more reliable.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7</a:t>
            </a:fld>
            <a:endParaRPr lang="en-US"/>
          </a:p>
        </p:txBody>
      </p:sp>
    </p:spTree>
    <p:extLst>
      <p:ext uri="{BB962C8B-B14F-4D97-AF65-F5344CB8AC3E}">
        <p14:creationId xmlns:p14="http://schemas.microsoft.com/office/powerpoint/2010/main" val="1433327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Docker is one of the most widely used platforms for building and managing containers. Docker Hub is a public container registry where images can be stored, shared, and downloaded. In our workflow, GitHub Actions builds the Docker image, and then pushes the finished image to Docker Hub so that it can be reused by users, admins, or downstream systems.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8</a:t>
            </a:fld>
            <a:endParaRPr lang="en-US"/>
          </a:p>
        </p:txBody>
      </p:sp>
    </p:spTree>
    <p:extLst>
      <p:ext uri="{BB962C8B-B14F-4D97-AF65-F5344CB8AC3E}">
        <p14:creationId xmlns:p14="http://schemas.microsoft.com/office/powerpoint/2010/main" val="2152399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is important to distinguish between an image and a container. A Docker image is like a blueprint or recipe. It contains the application, dependencies, and filesystem layers. A container is a running instance of that image. So we build an image once, publish it, and then users can run containers from that image many times.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9</a:t>
            </a:fld>
            <a:endParaRPr lang="en-US"/>
          </a:p>
        </p:txBody>
      </p:sp>
    </p:spTree>
    <p:extLst>
      <p:ext uri="{BB962C8B-B14F-4D97-AF65-F5344CB8AC3E}">
        <p14:creationId xmlns:p14="http://schemas.microsoft.com/office/powerpoint/2010/main" val="1299234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that we have covered containers, the next question is: how do we automate the process of building them? This is where GitHub Actions comes in. GitHub Actions lets us define automated workflows directly inside a GitHub repository.</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12</a:t>
            </a:fld>
            <a:endParaRPr lang="en-US"/>
          </a:p>
        </p:txBody>
      </p:sp>
    </p:spTree>
    <p:extLst>
      <p:ext uri="{BB962C8B-B14F-4D97-AF65-F5344CB8AC3E}">
        <p14:creationId xmlns:p14="http://schemas.microsoft.com/office/powerpoint/2010/main" val="2551991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CI/CD stands for Continuous Integration and Continuous Delivery or Deployment. Continuous Integration means code changes are automatically built and tested. Continuous Delivery means that after the build and test steps succeed, a new version of the application or package can be published automatically. For containers, this means that when we update the </a:t>
            </a:r>
            <a:r>
              <a:rPr lang="en-US" dirty="0" err="1"/>
              <a:t>Dockerfile</a:t>
            </a:r>
            <a:r>
              <a:rPr lang="en-US" dirty="0"/>
              <a:t> or source code, a workflow can automatically build and publish a new container image.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13</a:t>
            </a:fld>
            <a:endParaRPr lang="en-US"/>
          </a:p>
        </p:txBody>
      </p:sp>
    </p:spTree>
    <p:extLst>
      <p:ext uri="{BB962C8B-B14F-4D97-AF65-F5344CB8AC3E}">
        <p14:creationId xmlns:p14="http://schemas.microsoft.com/office/powerpoint/2010/main" val="2888888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many CI/CD platforms, including GitHub Actions, Jenkins, GitLab CI/CD, </a:t>
            </a:r>
            <a:r>
              <a:rPr lang="en-US" dirty="0" err="1"/>
              <a:t>CircleCI</a:t>
            </a:r>
            <a:r>
              <a:rPr lang="en-US" dirty="0"/>
              <a:t>, Travis CI, Azure DevOps, and Bitbucket Pipelines. Today we focus on GitHub Actions because many of our container definitions and code repositories are already hosted on GitHub, so the automation can live directly next to the code.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14</a:t>
            </a:fld>
            <a:endParaRPr lang="en-US"/>
          </a:p>
        </p:txBody>
      </p:sp>
    </p:spTree>
    <p:extLst>
      <p:ext uri="{BB962C8B-B14F-4D97-AF65-F5344CB8AC3E}">
        <p14:creationId xmlns:p14="http://schemas.microsoft.com/office/powerpoint/2010/main" val="22844129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GitHub Actions is GitHub’s built-in automation platform. A workflow starts when something happens in the repository, such as a push, pull request, release, schedule, or manual trigger. The workflow runs jobs, and each job contains steps. Those steps can run shell commands or reusable actions from the GitHub Actions marketplace.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15</a:t>
            </a:fld>
            <a:endParaRPr lang="en-US"/>
          </a:p>
        </p:txBody>
      </p:sp>
    </p:spTree>
    <p:extLst>
      <p:ext uri="{BB962C8B-B14F-4D97-AF65-F5344CB8AC3E}">
        <p14:creationId xmlns:p14="http://schemas.microsoft.com/office/powerpoint/2010/main" val="420509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shows the basic components. An event triggers a workflow. The workflow contains one or more jobs. Jobs run on runners, which are machines provided by GitHub or managed by us. Each job is made up of steps. For a Docker build workflow, these steps usually include checking out the code, logging in to Docker Hub, building the image, and pushing the image.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16</a:t>
            </a:fld>
            <a:endParaRPr lang="en-US"/>
          </a:p>
        </p:txBody>
      </p:sp>
    </p:spTree>
    <p:extLst>
      <p:ext uri="{BB962C8B-B14F-4D97-AF65-F5344CB8AC3E}">
        <p14:creationId xmlns:p14="http://schemas.microsoft.com/office/powerpoint/2010/main" val="3679514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workflow is defined in a YAML file inside the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github</a:t>
            </a:r>
            <a:r>
              <a:rPr lang="en-US" sz="1200" kern="1200" dirty="0">
                <a:solidFill>
                  <a:schemeClr val="tx1"/>
                </a:solidFill>
                <a:latin typeface="+mn-lt"/>
                <a:ea typeface="+mn-ea"/>
                <a:cs typeface="+mn-cs"/>
              </a:rPr>
              <a:t>/workflows</a:t>
            </a:r>
            <a:r>
              <a:rPr lang="en-US" dirty="0"/>
              <a:t> directory of a repository. A repository can have multiple workflows. For example, one workflow might run tests, another might build documentation, and another might build and publish a Docker image. The workflow file defines when the workflow runs and what jobs and steps it should execute.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17</a:t>
            </a:fld>
            <a:endParaRPr lang="en-US"/>
          </a:p>
        </p:txBody>
      </p:sp>
    </p:spTree>
    <p:extLst>
      <p:ext uri="{BB962C8B-B14F-4D97-AF65-F5344CB8AC3E}">
        <p14:creationId xmlns:p14="http://schemas.microsoft.com/office/powerpoint/2010/main" val="2224249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Events are what trigger a workflow. A push event can run a workflow every time code is pushed. A pull request event can run tests before code is merged. A schedule event can run a workflow nightly or weekly. A release event can run when a GitHub Release is published. For production container builds, release-based triggers are often useful because they tie the container version to a formal software release.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18</a:t>
            </a:fld>
            <a:endParaRPr lang="en-US"/>
          </a:p>
        </p:txBody>
      </p:sp>
    </p:spTree>
    <p:extLst>
      <p:ext uri="{BB962C8B-B14F-4D97-AF65-F5344CB8AC3E}">
        <p14:creationId xmlns:p14="http://schemas.microsoft.com/office/powerpoint/2010/main" val="35107061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runner is the machine where the workflow runs. GitHub-hosted runners are temporary virtual machines provided by GitHub. They are convenient and work well for many builds. Self-hosted runners are machines we manage ourselves. They are useful when builds require special hardware, large storage, GPUs, or access to internal infrastructure. For standard Docker builds, GitHub-hosted runners are usually enough. For HPC-specific testing or deployment, self-hosted runners can be very useful.</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19</a:t>
            </a:fld>
            <a:endParaRPr lang="en-US"/>
          </a:p>
        </p:txBody>
      </p:sp>
    </p:spTree>
    <p:extLst>
      <p:ext uri="{BB962C8B-B14F-4D97-AF65-F5344CB8AC3E}">
        <p14:creationId xmlns:p14="http://schemas.microsoft.com/office/powerpoint/2010/main" val="27826684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shows the standard GitHub-hosted runner options. The important point is that these runners have limited CPU, memory, disk space, and runtime. For small or medium Docker images, this is usually fine. But for very large scientific containers, especially containers with large software stacks, we need to pay attention to build time, disk usage, and cache strategy.</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20</a:t>
            </a:fld>
            <a:endParaRPr lang="en-US"/>
          </a:p>
        </p:txBody>
      </p:sp>
    </p:spTree>
    <p:extLst>
      <p:ext uri="{BB962C8B-B14F-4D97-AF65-F5344CB8AC3E}">
        <p14:creationId xmlns:p14="http://schemas.microsoft.com/office/powerpoint/2010/main" val="7886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we move to the main technical part: using GitHub Actions to build Docker images. The goal is to replace a manual process with an automated workflow. Instead of building and pushing images from an admin’s local machine, the repository itself can build and publish the image when the right event happens.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21</a:t>
            </a:fld>
            <a:endParaRPr lang="en-US"/>
          </a:p>
        </p:txBody>
      </p:sp>
    </p:spTree>
    <p:extLst>
      <p:ext uri="{BB962C8B-B14F-4D97-AF65-F5344CB8AC3E}">
        <p14:creationId xmlns:p14="http://schemas.microsoft.com/office/powerpoint/2010/main" val="38711274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high-level workflow. First, code is pushed or a release is published. Second, GitHub Actions detects the event and starts the workflow. Third, the Docker image is built and tested on the runner. Fourth, the image is tagged and pushed to Docker Hub. The result is a published, versioned container image that can be pulled and used elsewhere.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22</a:t>
            </a:fld>
            <a:endParaRPr lang="en-US"/>
          </a:p>
        </p:txBody>
      </p:sp>
    </p:spTree>
    <p:extLst>
      <p:ext uri="{BB962C8B-B14F-4D97-AF65-F5344CB8AC3E}">
        <p14:creationId xmlns:p14="http://schemas.microsoft.com/office/powerpoint/2010/main" val="791637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a real example of a workflow file. This workflow is triggered when a GitHub Release is published. It runs on an Ubuntu GitHub-hosted runner. It checks out the repository, logs in to Docker Hub, extracts metadata from the release version, and builds and publishes the Docker image. Notice that credentials are not written directly in the YAML file. They are referenced through GitHub variables and secrets.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23</a:t>
            </a:fld>
            <a:endParaRPr lang="en-US"/>
          </a:p>
        </p:txBody>
      </p:sp>
    </p:spTree>
    <p:extLst>
      <p:ext uri="{BB962C8B-B14F-4D97-AF65-F5344CB8AC3E}">
        <p14:creationId xmlns:p14="http://schemas.microsoft.com/office/powerpoint/2010/main" val="985424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summarizes the same workflow visually. A release is published in GitHub. That release triggers the GitHub Actions workflow. The workflow checks out the code, logs in to Docker Hub, generates the image tag, builds the image, and pushes it to Docker Hub. The final result is a published image with a version tag, such as </a:t>
            </a:r>
            <a:r>
              <a:rPr lang="en-US" sz="1200" kern="1200" dirty="0">
                <a:solidFill>
                  <a:schemeClr val="tx1"/>
                </a:solidFill>
                <a:latin typeface="+mn-lt"/>
                <a:ea typeface="+mn-ea"/>
                <a:cs typeface="+mn-cs"/>
              </a:rPr>
              <a:t>v1.2.3</a:t>
            </a:r>
            <a:r>
              <a:rPr lang="en-US" dirty="0"/>
              <a:t>.</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24</a:t>
            </a:fld>
            <a:endParaRPr lang="en-US"/>
          </a:p>
        </p:txBody>
      </p:sp>
    </p:spTree>
    <p:extLst>
      <p:ext uri="{BB962C8B-B14F-4D97-AF65-F5344CB8AC3E}">
        <p14:creationId xmlns:p14="http://schemas.microsoft.com/office/powerpoint/2010/main" val="1720419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shows how TTS Research Technology uses this workflow. Previously, a system administrator might manually build an image from a </a:t>
            </a:r>
            <a:r>
              <a:rPr lang="en-US" dirty="0" err="1"/>
              <a:t>Dockerfile</a:t>
            </a:r>
            <a:r>
              <a:rPr lang="en-US" dirty="0"/>
              <a:t> and then manually push it to Docker Hub. With GitHub Actions, the repository can handle that process automatically. The admin updates the </a:t>
            </a:r>
            <a:r>
              <a:rPr lang="en-US" dirty="0" err="1"/>
              <a:t>Dockerfile</a:t>
            </a:r>
            <a:r>
              <a:rPr lang="en-US" dirty="0"/>
              <a:t> or publishes a release, and GitHub Actions performs the build and push steps in a repeatable way. This reduces manual work and makes the build process easier to audit.</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25</a:t>
            </a:fld>
            <a:endParaRPr lang="en-US"/>
          </a:p>
        </p:txBody>
      </p:sp>
    </p:spTree>
    <p:extLst>
      <p:ext uri="{BB962C8B-B14F-4D97-AF65-F5344CB8AC3E}">
        <p14:creationId xmlns:p14="http://schemas.microsoft.com/office/powerpoint/2010/main" val="975527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HPC, this workflow is not just about convenience. It also improves documentation and transparency. When the </a:t>
            </a:r>
            <a:r>
              <a:rPr lang="en-US" dirty="0" err="1"/>
              <a:t>Dockerfile</a:t>
            </a:r>
            <a:r>
              <a:rPr lang="en-US" dirty="0"/>
              <a:t> is stored in GitHub, we have a clear record of how the container was built: which base image was used, which packages were installed, and what commands were run. The Git history also shows who changed the container definition, when it changed, and why. That makes the container easier to maintain, easier to reproduce, and easier to troubleshoot later.</a:t>
            </a:r>
          </a:p>
        </p:txBody>
      </p:sp>
      <p:sp>
        <p:nvSpPr>
          <p:cNvPr id="4" name="Slide Number Placeholder 3"/>
          <p:cNvSpPr>
            <a:spLocks noGrp="1"/>
          </p:cNvSpPr>
          <p:nvPr>
            <p:ph type="sldNum" sz="quarter" idx="5"/>
          </p:nvPr>
        </p:nvSpPr>
        <p:spPr/>
        <p:txBody>
          <a:bodyPr/>
          <a:lstStyle/>
          <a:p>
            <a:fld id="{A9E50507-6ABD-D342-BD52-6EEA9C6115F4}" type="slidenum">
              <a:rPr lang="en-US" smtClean="0"/>
              <a:t>26</a:t>
            </a:fld>
            <a:endParaRPr lang="en-US"/>
          </a:p>
        </p:txBody>
      </p:sp>
    </p:spTree>
    <p:extLst>
      <p:ext uri="{BB962C8B-B14F-4D97-AF65-F5344CB8AC3E}">
        <p14:creationId xmlns:p14="http://schemas.microsoft.com/office/powerpoint/2010/main" val="23383097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Credentials are one of the most important parts of this workflow. We should never hardcode Docker Hub usernames, passwords, or tokens directly in a workflow file. Instead, we store them in GitHub Secrets or variables. The workflow can use those values at runtime, but they are not exposed in the repository. For Docker Hub, it is better to use an access token instead of a normal account password.</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27</a:t>
            </a:fld>
            <a:endParaRPr lang="en-US"/>
          </a:p>
        </p:txBody>
      </p:sp>
    </p:spTree>
    <p:extLst>
      <p:ext uri="{BB962C8B-B14F-4D97-AF65-F5344CB8AC3E}">
        <p14:creationId xmlns:p14="http://schemas.microsoft.com/office/powerpoint/2010/main" val="3768461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Docker images are built in layers. Each </a:t>
            </a:r>
            <a:r>
              <a:rPr lang="en-US" dirty="0" err="1"/>
              <a:t>Dockerfile</a:t>
            </a:r>
            <a:r>
              <a:rPr lang="en-US" dirty="0"/>
              <a:t> instruction creates a layer. If nothing changes in an earlier layer, Docker can reuse that layer instead of rebuilding it. The challenge with GitHub-hosted runners is that every run starts on a fresh virtual machine, so the local cache is gone. To solve this, we can use the GitHub Actions cache with </a:t>
            </a:r>
            <a:r>
              <a:rPr lang="en-US" sz="1200" kern="1200" dirty="0">
                <a:solidFill>
                  <a:schemeClr val="tx1"/>
                </a:solidFill>
                <a:latin typeface="+mn-lt"/>
                <a:ea typeface="+mn-ea"/>
                <a:cs typeface="+mn-cs"/>
              </a:rPr>
              <a:t>cache-from: type=</a:t>
            </a:r>
            <a:r>
              <a:rPr lang="en-US" sz="1200" kern="1200" dirty="0" err="1">
                <a:solidFill>
                  <a:schemeClr val="tx1"/>
                </a:solidFill>
                <a:latin typeface="+mn-lt"/>
                <a:ea typeface="+mn-ea"/>
                <a:cs typeface="+mn-cs"/>
              </a:rPr>
              <a:t>gha</a:t>
            </a:r>
            <a:r>
              <a:rPr lang="en-US" dirty="0"/>
              <a:t> and </a:t>
            </a:r>
            <a:r>
              <a:rPr lang="en-US" sz="1200" kern="1200" dirty="0">
                <a:solidFill>
                  <a:schemeClr val="tx1"/>
                </a:solidFill>
                <a:latin typeface="+mn-lt"/>
                <a:ea typeface="+mn-ea"/>
                <a:cs typeface="+mn-cs"/>
              </a:rPr>
              <a:t>cache-to: type=</a:t>
            </a:r>
            <a:r>
              <a:rPr lang="en-US" sz="1200" kern="1200" dirty="0" err="1">
                <a:solidFill>
                  <a:schemeClr val="tx1"/>
                </a:solidFill>
                <a:latin typeface="+mn-lt"/>
                <a:ea typeface="+mn-ea"/>
                <a:cs typeface="+mn-cs"/>
              </a:rPr>
              <a:t>gha,mode</a:t>
            </a:r>
            <a:r>
              <a:rPr lang="en-US" sz="1200" kern="1200" dirty="0">
                <a:solidFill>
                  <a:schemeClr val="tx1"/>
                </a:solidFill>
                <a:latin typeface="+mn-lt"/>
                <a:ea typeface="+mn-ea"/>
                <a:cs typeface="+mn-cs"/>
              </a:rPr>
              <a:t>=max</a:t>
            </a:r>
            <a:r>
              <a:rPr lang="en-US" dirty="0"/>
              <a:t>. This can make repeated builds much faster.</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28</a:t>
            </a:fld>
            <a:endParaRPr lang="en-US"/>
          </a:p>
        </p:txBody>
      </p:sp>
    </p:spTree>
    <p:extLst>
      <p:ext uri="{BB962C8B-B14F-4D97-AF65-F5344CB8AC3E}">
        <p14:creationId xmlns:p14="http://schemas.microsoft.com/office/powerpoint/2010/main" val="33266817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CPU architecture matters when building and running containers. An image built for </a:t>
            </a:r>
            <a:r>
              <a:rPr lang="en-US" sz="1200" kern="1200" dirty="0">
                <a:solidFill>
                  <a:schemeClr val="tx1"/>
                </a:solidFill>
                <a:latin typeface="+mn-lt"/>
                <a:ea typeface="+mn-ea"/>
                <a:cs typeface="+mn-cs"/>
              </a:rPr>
              <a:t>amd64</a:t>
            </a:r>
            <a:r>
              <a:rPr lang="en-US" dirty="0"/>
              <a:t> is not the same as an image built for </a:t>
            </a:r>
            <a:r>
              <a:rPr lang="en-US" sz="1200" kern="1200" dirty="0">
                <a:solidFill>
                  <a:schemeClr val="tx1"/>
                </a:solidFill>
                <a:latin typeface="+mn-lt"/>
                <a:ea typeface="+mn-ea"/>
                <a:cs typeface="+mn-cs"/>
              </a:rPr>
              <a:t>arm64</a:t>
            </a:r>
            <a:r>
              <a:rPr lang="en-US" dirty="0"/>
              <a:t>. Most HPC systems, including Tufts HPC, typically run </a:t>
            </a:r>
            <a:r>
              <a:rPr lang="en-US" sz="1200" kern="1200" dirty="0">
                <a:solidFill>
                  <a:schemeClr val="tx1"/>
                </a:solidFill>
                <a:latin typeface="+mn-lt"/>
                <a:ea typeface="+mn-ea"/>
                <a:cs typeface="+mn-cs"/>
              </a:rPr>
              <a:t>amd64</a:t>
            </a:r>
            <a:r>
              <a:rPr lang="en-US" dirty="0"/>
              <a:t> images. Apple Silicon Macs use </a:t>
            </a:r>
            <a:r>
              <a:rPr lang="en-US" sz="1200" kern="1200" dirty="0">
                <a:solidFill>
                  <a:schemeClr val="tx1"/>
                </a:solidFill>
                <a:latin typeface="+mn-lt"/>
                <a:ea typeface="+mn-ea"/>
                <a:cs typeface="+mn-cs"/>
              </a:rPr>
              <a:t>arm64</a:t>
            </a:r>
            <a:r>
              <a:rPr lang="en-US" dirty="0"/>
              <a:t>. If users pull an image built for the wrong architecture, it may fail to run or may run slowly through emulation. So when we publish images, we need to be clear about which architectures are supported.</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29</a:t>
            </a:fld>
            <a:endParaRPr lang="en-US"/>
          </a:p>
        </p:txBody>
      </p:sp>
    </p:spTree>
    <p:extLst>
      <p:ext uri="{BB962C8B-B14F-4D97-AF65-F5344CB8AC3E}">
        <p14:creationId xmlns:p14="http://schemas.microsoft.com/office/powerpoint/2010/main" val="2048334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Multi-architecture images allow one image name to support multiple CPU architectures. For example, the same Docker Hub image tag can contain both </a:t>
            </a:r>
            <a:r>
              <a:rPr lang="en-US" sz="1200" kern="1200" dirty="0" err="1">
                <a:solidFill>
                  <a:schemeClr val="tx1"/>
                </a:solidFill>
                <a:latin typeface="+mn-lt"/>
                <a:ea typeface="+mn-ea"/>
                <a:cs typeface="+mn-cs"/>
              </a:rPr>
              <a:t>linux</a:t>
            </a:r>
            <a:r>
              <a:rPr lang="en-US" sz="1200" kern="1200" dirty="0">
                <a:solidFill>
                  <a:schemeClr val="tx1"/>
                </a:solidFill>
                <a:latin typeface="+mn-lt"/>
                <a:ea typeface="+mn-ea"/>
                <a:cs typeface="+mn-cs"/>
              </a:rPr>
              <a:t>/amd64</a:t>
            </a:r>
            <a:r>
              <a:rPr lang="en-US" dirty="0"/>
              <a:t> and </a:t>
            </a:r>
            <a:r>
              <a:rPr lang="en-US" sz="1200" kern="1200" dirty="0" err="1">
                <a:solidFill>
                  <a:schemeClr val="tx1"/>
                </a:solidFill>
                <a:latin typeface="+mn-lt"/>
                <a:ea typeface="+mn-ea"/>
                <a:cs typeface="+mn-cs"/>
              </a:rPr>
              <a:t>linux</a:t>
            </a:r>
            <a:r>
              <a:rPr lang="en-US" sz="1200" kern="1200" dirty="0">
                <a:solidFill>
                  <a:schemeClr val="tx1"/>
                </a:solidFill>
                <a:latin typeface="+mn-lt"/>
                <a:ea typeface="+mn-ea"/>
                <a:cs typeface="+mn-cs"/>
              </a:rPr>
              <a:t>/arm64</a:t>
            </a:r>
            <a:r>
              <a:rPr lang="en-US" dirty="0"/>
              <a:t> variants. Docker will automatically pull the correct one for the user’s machine. This is helpful if users develop on Apple Silicon Macs but deploy to x86 servers. The trade-off is that building ARM images through QEMU emulation can be much slower. For production HPC images, we should always make sure the </a:t>
            </a:r>
            <a:r>
              <a:rPr lang="en-US" sz="1200" kern="1200" dirty="0">
                <a:solidFill>
                  <a:schemeClr val="tx1"/>
                </a:solidFill>
                <a:latin typeface="+mn-lt"/>
                <a:ea typeface="+mn-ea"/>
                <a:cs typeface="+mn-cs"/>
              </a:rPr>
              <a:t>amd64</a:t>
            </a:r>
            <a:r>
              <a:rPr lang="en-US" dirty="0"/>
              <a:t> image is built and tested.</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30</a:t>
            </a:fld>
            <a:endParaRPr lang="en-US"/>
          </a:p>
        </p:txBody>
      </p:sp>
    </p:spTree>
    <p:extLst>
      <p:ext uri="{BB962C8B-B14F-4D97-AF65-F5344CB8AC3E}">
        <p14:creationId xmlns:p14="http://schemas.microsoft.com/office/powerpoint/2010/main" val="22673943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E50507-6ABD-D342-BD52-6EEA9C6115F4}" type="slidenum">
              <a:rPr lang="en-US" smtClean="0"/>
              <a:t>31</a:t>
            </a:fld>
            <a:endParaRPr lang="en-US"/>
          </a:p>
        </p:txBody>
      </p:sp>
    </p:spTree>
    <p:extLst>
      <p:ext uri="{BB962C8B-B14F-4D97-AF65-F5344CB8AC3E}">
        <p14:creationId xmlns:p14="http://schemas.microsoft.com/office/powerpoint/2010/main" val="6306879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demo, I will use this GitHub repository: </a:t>
            </a:r>
            <a:r>
              <a:rPr lang="en-US" sz="1200" kern="1200" dirty="0" err="1">
                <a:solidFill>
                  <a:schemeClr val="tx1"/>
                </a:solidFill>
                <a:latin typeface="+mn-lt"/>
                <a:ea typeface="+mn-ea"/>
                <a:cs typeface="+mn-cs"/>
              </a:rPr>
              <a:t>TuftsHPCbioinfo</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GitHubActionDemo</a:t>
            </a:r>
            <a:r>
              <a:rPr lang="en-US" dirty="0"/>
              <a:t>. I will clone the repository, run the provided Docker image, and show how the workflow is connected to the repository. The example runs an RStudio container and mounts the demo repository into the container. This gives us a simple way to demonstrate how a containerized environment can be built, published, and used.</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32</a:t>
            </a:fld>
            <a:endParaRPr lang="en-US"/>
          </a:p>
        </p:txBody>
      </p:sp>
    </p:spTree>
    <p:extLst>
      <p:ext uri="{BB962C8B-B14F-4D97-AF65-F5344CB8AC3E}">
        <p14:creationId xmlns:p14="http://schemas.microsoft.com/office/powerpoint/2010/main" val="32524128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 concludes the presentation. The main takeaway is that GitHub Actions can turn container builds from a manual process into a repeatable automated workflow. For research technology and HPC, this helps us deliver software environments more reliably, reduce manual maintenance, and create a foundation for more complete CI/CD workflows in the future. I am happy to take questions.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33</a:t>
            </a:fld>
            <a:endParaRPr lang="en-US"/>
          </a:p>
        </p:txBody>
      </p:sp>
    </p:spTree>
    <p:extLst>
      <p:ext uri="{BB962C8B-B14F-4D97-AF65-F5344CB8AC3E}">
        <p14:creationId xmlns:p14="http://schemas.microsoft.com/office/powerpoint/2010/main" val="3097706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Click to Edit Title">
            <a:extLst>
              <a:ext uri="{FF2B5EF4-FFF2-40B4-BE49-F238E27FC236}">
                <a16:creationId xmlns:a16="http://schemas.microsoft.com/office/drawing/2014/main" id="{DCC2942B-EBA9-CE44-CBF0-064F55559564}"/>
              </a:ext>
            </a:extLst>
          </p:cNvPr>
          <p:cNvSpPr>
            <a:spLocks noGrp="1"/>
          </p:cNvSpPr>
          <p:nvPr>
            <p:ph type="ctrTitle" hasCustomPrompt="1"/>
          </p:nvPr>
        </p:nvSpPr>
        <p:spPr>
          <a:xfrm>
            <a:off x="352977" y="2802942"/>
            <a:ext cx="6979920" cy="646331"/>
          </a:xfrm>
          <a:prstGeom prst="rect">
            <a:avLst/>
          </a:prstGeom>
        </p:spPr>
        <p:txBody>
          <a:bodyPr anchor="t">
            <a:spAutoFit/>
          </a:bodyPr>
          <a:lstStyle>
            <a:lvl1pPr algn="l">
              <a:defRPr sz="4000" b="1">
                <a:solidFill>
                  <a:srgbClr val="3172AE"/>
                </a:solidFill>
                <a:latin typeface="Arial" panose="020B0604020202020204" pitchFamily="34" charset="0"/>
                <a:cs typeface="Arial" panose="020B0604020202020204" pitchFamily="34" charset="0"/>
              </a:defRPr>
            </a:lvl1pPr>
          </a:lstStyle>
          <a:p>
            <a:r>
              <a:rPr lang="en-US"/>
              <a:t>Click to Add Title</a:t>
            </a:r>
          </a:p>
        </p:txBody>
      </p:sp>
      <p:sp>
        <p:nvSpPr>
          <p:cNvPr id="3" name="Title Subhead or department name">
            <a:extLst>
              <a:ext uri="{FF2B5EF4-FFF2-40B4-BE49-F238E27FC236}">
                <a16:creationId xmlns:a16="http://schemas.microsoft.com/office/drawing/2014/main" id="{49175329-E67E-B390-0D2D-E3B892A40751}"/>
              </a:ext>
            </a:extLst>
          </p:cNvPr>
          <p:cNvSpPr>
            <a:spLocks noGrp="1"/>
          </p:cNvSpPr>
          <p:nvPr>
            <p:ph type="subTitle" idx="1" hasCustomPrompt="1"/>
          </p:nvPr>
        </p:nvSpPr>
        <p:spPr>
          <a:xfrm>
            <a:off x="361215" y="3644142"/>
            <a:ext cx="6979920" cy="996170"/>
          </a:xfrm>
          <a:prstGeom prst="rect">
            <a:avLst/>
          </a:prstGeom>
        </p:spPr>
        <p:txBody>
          <a:bodyPr>
            <a:spAutoFit/>
          </a:bodyPr>
          <a:lstStyle>
            <a:lvl1pPr marL="0" indent="0" algn="l">
              <a:buNone/>
              <a:defRPr sz="28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solidFill>
                  <a:schemeClr val="tx1">
                    <a:lumMod val="65000"/>
                    <a:lumOff val="35000"/>
                  </a:schemeClr>
                </a:solidFill>
              </a:rPr>
              <a:t>Title subhead or department name</a:t>
            </a:r>
          </a:p>
          <a:p>
            <a:r>
              <a:rPr lang="en-US">
                <a:solidFill>
                  <a:schemeClr val="tx1">
                    <a:lumMod val="65000"/>
                    <a:lumOff val="35000"/>
                  </a:schemeClr>
                </a:solidFill>
              </a:rPr>
              <a:t>Can go here and fill one or two lines</a:t>
            </a:r>
          </a:p>
        </p:txBody>
      </p:sp>
    </p:spTree>
    <p:extLst>
      <p:ext uri="{BB962C8B-B14F-4D97-AF65-F5344CB8AC3E}">
        <p14:creationId xmlns:p14="http://schemas.microsoft.com/office/powerpoint/2010/main" val="1326701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4" name="Click to Edit Title">
            <a:extLst>
              <a:ext uri="{FF2B5EF4-FFF2-40B4-BE49-F238E27FC236}">
                <a16:creationId xmlns:a16="http://schemas.microsoft.com/office/drawing/2014/main" id="{591499BD-67CC-CD67-4074-4DEE8EECA44F}"/>
              </a:ext>
            </a:extLst>
          </p:cNvPr>
          <p:cNvSpPr>
            <a:spLocks noGrp="1"/>
          </p:cNvSpPr>
          <p:nvPr>
            <p:ph type="ctrTitle" hasCustomPrompt="1"/>
          </p:nvPr>
        </p:nvSpPr>
        <p:spPr>
          <a:xfrm>
            <a:off x="611964" y="351793"/>
            <a:ext cx="4040471" cy="618631"/>
          </a:xfrm>
          <a:prstGeom prst="rect">
            <a:avLst/>
          </a:prstGeom>
        </p:spPr>
        <p:txBody>
          <a:bodyPr anchor="t">
            <a:spAutoFit/>
          </a:bodyPr>
          <a:lstStyle>
            <a:lvl1pPr algn="l">
              <a:defRPr sz="3800" b="1">
                <a:solidFill>
                  <a:srgbClr val="3172AE"/>
                </a:solidFill>
                <a:latin typeface="Arial" panose="020B0604020202020204" pitchFamily="34" charset="0"/>
                <a:cs typeface="Arial" panose="020B0604020202020204" pitchFamily="34" charset="0"/>
              </a:defRPr>
            </a:lvl1pPr>
          </a:lstStyle>
          <a:p>
            <a:r>
              <a:rPr lang="en-US"/>
              <a:t>Slide Title</a:t>
            </a:r>
          </a:p>
        </p:txBody>
      </p:sp>
      <p:sp>
        <p:nvSpPr>
          <p:cNvPr id="5" name="Title Subhead or department name">
            <a:extLst>
              <a:ext uri="{FF2B5EF4-FFF2-40B4-BE49-F238E27FC236}">
                <a16:creationId xmlns:a16="http://schemas.microsoft.com/office/drawing/2014/main" id="{FD384D3E-69C9-80C5-0FB5-7585BC16F584}"/>
              </a:ext>
            </a:extLst>
          </p:cNvPr>
          <p:cNvSpPr>
            <a:spLocks noGrp="1"/>
          </p:cNvSpPr>
          <p:nvPr>
            <p:ph type="subTitle" idx="1" hasCustomPrompt="1"/>
          </p:nvPr>
        </p:nvSpPr>
        <p:spPr>
          <a:xfrm>
            <a:off x="614975" y="951374"/>
            <a:ext cx="3412389" cy="452432"/>
          </a:xfrm>
          <a:prstGeom prst="rect">
            <a:avLst/>
          </a:prstGeom>
        </p:spPr>
        <p:txBody>
          <a:bodyPr>
            <a:spAutoFit/>
          </a:bodyPr>
          <a:lstStyle>
            <a:lvl1pPr marL="0" indent="0" algn="l">
              <a:buNone/>
              <a:defRPr sz="2600">
                <a:solidFill>
                  <a:schemeClr val="bg1">
                    <a:lumMod val="50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chemeClr val="bg1">
                    <a:lumMod val="50000"/>
                  </a:schemeClr>
                </a:solidFill>
                <a:latin typeface="Arial" panose="020B0604020202020204" pitchFamily="34" charset="0"/>
                <a:cs typeface="Arial" panose="020B0604020202020204" pitchFamily="34" charset="0"/>
              </a:rPr>
              <a:t>Slide Title Subhead</a:t>
            </a:r>
          </a:p>
        </p:txBody>
      </p:sp>
      <p:sp>
        <p:nvSpPr>
          <p:cNvPr id="2" name="Text Placeholder 3">
            <a:extLst>
              <a:ext uri="{FF2B5EF4-FFF2-40B4-BE49-F238E27FC236}">
                <a16:creationId xmlns:a16="http://schemas.microsoft.com/office/drawing/2014/main" id="{400D8DFA-E35C-30A0-34FD-7EBAE91EECBF}"/>
              </a:ext>
            </a:extLst>
          </p:cNvPr>
          <p:cNvSpPr>
            <a:spLocks noGrp="1"/>
          </p:cNvSpPr>
          <p:nvPr>
            <p:ph type="body" sz="half" idx="10" hasCustomPrompt="1"/>
          </p:nvPr>
        </p:nvSpPr>
        <p:spPr>
          <a:xfrm>
            <a:off x="5721774" y="887624"/>
            <a:ext cx="5960177" cy="3278590"/>
          </a:xfrm>
          <a:prstGeom prst="rect">
            <a:avLst/>
          </a:prstGeom>
        </p:spPr>
        <p:txBody>
          <a:bodyPr>
            <a:spAutoFit/>
          </a:bodyPr>
          <a:lstStyle>
            <a:lvl1pPr marL="0" indent="0">
              <a:buNone/>
              <a:defRPr sz="2400">
                <a:solidFill>
                  <a:schemeClr val="tx1">
                    <a:lumMod val="65000"/>
                    <a:lumOff val="35000"/>
                  </a:schemeClr>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lnSpc>
                <a:spcPts val="3600"/>
              </a:lnSpc>
            </a:pPr>
            <a:r>
              <a:rPr lang="en-US" sz="2400">
                <a:solidFill>
                  <a:schemeClr val="tx1">
                    <a:lumMod val="65000"/>
                    <a:lumOff val="35000"/>
                  </a:schemeClr>
                </a:solidFill>
                <a:latin typeface="Arial" panose="020B0604020202020204" pitchFamily="34" charset="0"/>
                <a:cs typeface="Arial" panose="020B0604020202020204" pitchFamily="34" charset="0"/>
              </a:rPr>
              <a:t>Sea ne </a:t>
            </a:r>
            <a:r>
              <a:rPr lang="en-US" sz="2400" err="1">
                <a:solidFill>
                  <a:schemeClr val="tx1">
                    <a:lumMod val="65000"/>
                    <a:lumOff val="35000"/>
                  </a:schemeClr>
                </a:solidFill>
                <a:latin typeface="Arial" panose="020B0604020202020204" pitchFamily="34" charset="0"/>
                <a:cs typeface="Arial" panose="020B0604020202020204" pitchFamily="34" charset="0"/>
              </a:rPr>
              <a:t>assum</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referrentur</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enim</a:t>
            </a:r>
            <a:r>
              <a:rPr lang="en-US" sz="2400">
                <a:solidFill>
                  <a:schemeClr val="tx1">
                    <a:lumMod val="65000"/>
                    <a:lumOff val="35000"/>
                  </a:schemeClr>
                </a:solidFill>
                <a:latin typeface="Arial" panose="020B0604020202020204" pitchFamily="34" charset="0"/>
                <a:cs typeface="Arial" panose="020B0604020202020204" pitchFamily="34" charset="0"/>
              </a:rPr>
              <a:t> vide </a:t>
            </a:r>
            <a:r>
              <a:rPr lang="en-US" sz="2400" err="1">
                <a:solidFill>
                  <a:schemeClr val="tx1">
                    <a:lumMod val="65000"/>
                    <a:lumOff val="35000"/>
                  </a:schemeClr>
                </a:solidFill>
                <a:latin typeface="Arial" panose="020B0604020202020204" pitchFamily="34" charset="0"/>
                <a:cs typeface="Arial" panose="020B0604020202020204" pitchFamily="34" charset="0"/>
              </a:rPr>
              <a:t>putant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te</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mel</a:t>
            </a:r>
            <a:r>
              <a:rPr lang="en-US" sz="2400">
                <a:solidFill>
                  <a:schemeClr val="tx1">
                    <a:lumMod val="65000"/>
                    <a:lumOff val="35000"/>
                  </a:schemeClr>
                </a:solidFill>
                <a:latin typeface="Arial" panose="020B0604020202020204" pitchFamily="34" charset="0"/>
                <a:cs typeface="Arial" panose="020B0604020202020204" pitchFamily="34" charset="0"/>
              </a:rPr>
              <a:t>. Cum </a:t>
            </a:r>
            <a:r>
              <a:rPr lang="en-US" sz="2400" err="1">
                <a:solidFill>
                  <a:schemeClr val="tx1">
                    <a:lumMod val="65000"/>
                    <a:lumOff val="35000"/>
                  </a:schemeClr>
                </a:solidFill>
                <a:latin typeface="Arial" panose="020B0604020202020204" pitchFamily="34" charset="0"/>
                <a:cs typeface="Arial" panose="020B0604020202020204" pitchFamily="34" charset="0"/>
              </a:rPr>
              <a:t>tollit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intellegebat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eu</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disputationi</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consequuntur</a:t>
            </a:r>
            <a:r>
              <a:rPr lang="en-US" sz="2400">
                <a:solidFill>
                  <a:schemeClr val="tx1">
                    <a:lumMod val="65000"/>
                    <a:lumOff val="35000"/>
                  </a:schemeClr>
                </a:solidFill>
                <a:latin typeface="Arial" panose="020B0604020202020204" pitchFamily="34" charset="0"/>
                <a:cs typeface="Arial" panose="020B0604020202020204" pitchFamily="34" charset="0"/>
              </a:rPr>
              <a:t> ex pro. Mel </a:t>
            </a:r>
            <a:r>
              <a:rPr lang="en-US" sz="2400" err="1">
                <a:solidFill>
                  <a:schemeClr val="tx1">
                    <a:lumMod val="65000"/>
                    <a:lumOff val="35000"/>
                  </a:schemeClr>
                </a:solidFill>
                <a:latin typeface="Arial" panose="020B0604020202020204" pitchFamily="34" charset="0"/>
                <a:cs typeface="Arial" panose="020B0604020202020204" pitchFamily="34" charset="0"/>
              </a:rPr>
              <a:t>ullum</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laoreet</a:t>
            </a:r>
            <a:r>
              <a:rPr lang="en-US" sz="2400">
                <a:solidFill>
                  <a:schemeClr val="tx1">
                    <a:lumMod val="65000"/>
                    <a:lumOff val="35000"/>
                  </a:schemeClr>
                </a:solidFill>
                <a:latin typeface="Arial" panose="020B0604020202020204" pitchFamily="34" charset="0"/>
                <a:cs typeface="Arial" panose="020B0604020202020204" pitchFamily="34" charset="0"/>
              </a:rPr>
              <a:t> cu, </a:t>
            </a:r>
            <a:r>
              <a:rPr lang="en-US" sz="2400" err="1">
                <a:solidFill>
                  <a:schemeClr val="tx1">
                    <a:lumMod val="65000"/>
                    <a:lumOff val="35000"/>
                  </a:schemeClr>
                </a:solidFill>
                <a:latin typeface="Arial" panose="020B0604020202020204" pitchFamily="34" charset="0"/>
                <a:cs typeface="Arial" panose="020B0604020202020204" pitchFamily="34" charset="0"/>
              </a:rPr>
              <a:t>aliquam</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ullamcorper</a:t>
            </a:r>
            <a:r>
              <a:rPr lang="en-US" sz="2400">
                <a:solidFill>
                  <a:schemeClr val="tx1">
                    <a:lumMod val="65000"/>
                    <a:lumOff val="35000"/>
                  </a:schemeClr>
                </a:solidFill>
                <a:latin typeface="Arial" panose="020B0604020202020204" pitchFamily="34" charset="0"/>
                <a:cs typeface="Arial" panose="020B0604020202020204" pitchFamily="34" charset="0"/>
              </a:rPr>
              <a:t> vis </a:t>
            </a:r>
            <a:r>
              <a:rPr lang="en-US" sz="2400" err="1">
                <a:solidFill>
                  <a:schemeClr val="tx1">
                    <a:lumMod val="65000"/>
                    <a:lumOff val="35000"/>
                  </a:schemeClr>
                </a:solidFill>
                <a:latin typeface="Arial" panose="020B0604020202020204" pitchFamily="34" charset="0"/>
                <a:cs typeface="Arial" panose="020B0604020202020204" pitchFamily="34" charset="0"/>
              </a:rPr>
              <a:t>ea</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iudicabit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maluisset</a:t>
            </a:r>
            <a:r>
              <a:rPr lang="en-US" sz="2400">
                <a:solidFill>
                  <a:schemeClr val="tx1">
                    <a:lumMod val="65000"/>
                    <a:lumOff val="35000"/>
                  </a:schemeClr>
                </a:solidFill>
                <a:latin typeface="Arial" panose="020B0604020202020204" pitchFamily="34" charset="0"/>
                <a:cs typeface="Arial" panose="020B0604020202020204" pitchFamily="34" charset="0"/>
              </a:rPr>
              <a:t> ex </a:t>
            </a:r>
            <a:r>
              <a:rPr lang="en-US" sz="2400" err="1">
                <a:solidFill>
                  <a:schemeClr val="tx1">
                    <a:lumMod val="65000"/>
                    <a:lumOff val="35000"/>
                  </a:schemeClr>
                </a:solidFill>
                <a:latin typeface="Arial" panose="020B0604020202020204" pitchFamily="34" charset="0"/>
                <a:cs typeface="Arial" panose="020B0604020202020204" pitchFamily="34" charset="0"/>
              </a:rPr>
              <a:t>mel</a:t>
            </a:r>
            <a:r>
              <a:rPr lang="en-US" sz="2400">
                <a:solidFill>
                  <a:schemeClr val="tx1">
                    <a:lumMod val="65000"/>
                    <a:lumOff val="35000"/>
                  </a:schemeClr>
                </a:solidFill>
                <a:latin typeface="Arial" panose="020B0604020202020204" pitchFamily="34" charset="0"/>
                <a:cs typeface="Arial" panose="020B0604020202020204" pitchFamily="34" charset="0"/>
              </a:rPr>
              <a:t>. His in tale </a:t>
            </a:r>
            <a:r>
              <a:rPr lang="en-US" sz="2400" err="1">
                <a:solidFill>
                  <a:schemeClr val="tx1">
                    <a:lumMod val="65000"/>
                    <a:lumOff val="35000"/>
                  </a:schemeClr>
                </a:solidFill>
                <a:latin typeface="Arial" panose="020B0604020202020204" pitchFamily="34" charset="0"/>
                <a:cs typeface="Arial" panose="020B0604020202020204" pitchFamily="34" charset="0"/>
              </a:rPr>
              <a:t>saperet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quodsi</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fabulas</a:t>
            </a:r>
            <a:r>
              <a:rPr lang="en-US" sz="2400">
                <a:solidFill>
                  <a:schemeClr val="tx1">
                    <a:lumMod val="65000"/>
                    <a:lumOff val="35000"/>
                  </a:schemeClr>
                </a:solidFill>
                <a:latin typeface="Arial" panose="020B0604020202020204" pitchFamily="34" charset="0"/>
                <a:cs typeface="Arial" panose="020B0604020202020204" pitchFamily="34" charset="0"/>
              </a:rPr>
              <a:t> vim in, </a:t>
            </a:r>
            <a:r>
              <a:rPr lang="en-US" sz="2400" err="1">
                <a:solidFill>
                  <a:schemeClr val="tx1">
                    <a:lumMod val="65000"/>
                    <a:lumOff val="35000"/>
                  </a:schemeClr>
                </a:solidFill>
                <a:latin typeface="Arial" panose="020B0604020202020204" pitchFamily="34" charset="0"/>
                <a:cs typeface="Arial" panose="020B0604020202020204" pitchFamily="34" charset="0"/>
              </a:rPr>
              <a:t>ei</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ius</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debet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homero</a:t>
            </a:r>
            <a:r>
              <a:rPr lang="en-US" sz="2400">
                <a:solidFill>
                  <a:schemeClr val="tx1">
                    <a:lumMod val="65000"/>
                    <a:lumOff val="35000"/>
                  </a:schemeClr>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613975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llet Points Slide">
    <p:spTree>
      <p:nvGrpSpPr>
        <p:cNvPr id="1" name=""/>
        <p:cNvGrpSpPr/>
        <p:nvPr/>
      </p:nvGrpSpPr>
      <p:grpSpPr>
        <a:xfrm>
          <a:off x="0" y="0"/>
          <a:ext cx="0" cy="0"/>
          <a:chOff x="0" y="0"/>
          <a:chExt cx="0" cy="0"/>
        </a:xfrm>
      </p:grpSpPr>
      <p:sp>
        <p:nvSpPr>
          <p:cNvPr id="7" name="Bullet Points ">
            <a:extLst>
              <a:ext uri="{FF2B5EF4-FFF2-40B4-BE49-F238E27FC236}">
                <a16:creationId xmlns:a16="http://schemas.microsoft.com/office/drawing/2014/main" id="{506D478E-CBEA-43F8-5B40-597A8D300C0D}"/>
              </a:ext>
            </a:extLst>
          </p:cNvPr>
          <p:cNvSpPr>
            <a:spLocks noGrp="1"/>
          </p:cNvSpPr>
          <p:nvPr>
            <p:ph type="body" sz="quarter" idx="12" hasCustomPrompt="1"/>
          </p:nvPr>
        </p:nvSpPr>
        <p:spPr>
          <a:xfrm>
            <a:off x="5425679" y="839880"/>
            <a:ext cx="3606800" cy="3259354"/>
          </a:xfrm>
          <a:prstGeom prst="rect">
            <a:avLst/>
          </a:prstGeom>
        </p:spPr>
        <p:txBody>
          <a:bodyPr>
            <a:spAutoFit/>
          </a:bodyPr>
          <a:lstStyle>
            <a:lvl1pPr marL="283464" indent="-283464">
              <a:lnSpc>
                <a:spcPts val="4200"/>
              </a:lnSpc>
              <a:spcBef>
                <a:spcPts val="0"/>
              </a:spcBef>
              <a:buFont typeface="Arial" panose="020B0604020202020204" pitchFamily="34" charset="0"/>
              <a:buChar char="•"/>
              <a:defRPr sz="2600" b="1">
                <a:solidFill>
                  <a:schemeClr val="tx1">
                    <a:lumMod val="65000"/>
                    <a:lumOff val="35000"/>
                  </a:schemeClr>
                </a:solidFill>
                <a:latin typeface="Arial" panose="020B0604020202020204" pitchFamily="34" charset="0"/>
                <a:cs typeface="Arial" panose="020B0604020202020204" pitchFamily="34" charset="0"/>
              </a:defRPr>
            </a:lvl1pPr>
            <a:lvl2pPr marL="649224" indent="-283464" defTabSz="1371600">
              <a:lnSpc>
                <a:spcPts val="4200"/>
              </a:lnSpc>
              <a:spcBef>
                <a:spcPts val="0"/>
              </a:spcBef>
              <a:buFont typeface="System Font Regular"/>
              <a:buChar char="-"/>
              <a:defRPr sz="2600">
                <a:solidFill>
                  <a:schemeClr val="tx1">
                    <a:lumMod val="65000"/>
                    <a:lumOff val="35000"/>
                  </a:schemeClr>
                </a:solidFill>
                <a:latin typeface="Arial" panose="020B0604020202020204" pitchFamily="34" charset="0"/>
                <a:cs typeface="Arial" panose="020B0604020202020204" pitchFamily="34" charset="0"/>
              </a:defRPr>
            </a:lvl2pPr>
            <a:lvl3pPr marL="1097280" indent="-283464">
              <a:lnSpc>
                <a:spcPts val="4200"/>
              </a:lnSpc>
              <a:spcBef>
                <a:spcPts val="0"/>
              </a:spcBef>
              <a:buFont typeface="System Font Regular"/>
              <a:buChar char="-"/>
              <a:defRPr sz="2400">
                <a:solidFill>
                  <a:schemeClr val="tx1">
                    <a:lumMod val="65000"/>
                    <a:lumOff val="35000"/>
                  </a:schemeClr>
                </a:solidFill>
                <a:latin typeface="Arial" panose="020B0604020202020204" pitchFamily="34" charset="0"/>
                <a:cs typeface="Arial" panose="020B0604020202020204" pitchFamily="34" charset="0"/>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a:t>Bullet One</a:t>
            </a:r>
          </a:p>
          <a:p>
            <a:pPr lvl="1"/>
            <a:r>
              <a:rPr lang="en-US"/>
              <a:t>Second Level</a:t>
            </a:r>
          </a:p>
          <a:p>
            <a:pPr lvl="2"/>
            <a:r>
              <a:rPr lang="en-US"/>
              <a:t>Third Level</a:t>
            </a:r>
          </a:p>
          <a:p>
            <a:pPr lvl="0"/>
            <a:r>
              <a:rPr lang="en-US"/>
              <a:t>Bullet Two</a:t>
            </a:r>
          </a:p>
          <a:p>
            <a:pPr lvl="1"/>
            <a:r>
              <a:rPr lang="en-US"/>
              <a:t>Second Level</a:t>
            </a:r>
          </a:p>
          <a:p>
            <a:pPr lvl="2"/>
            <a:r>
              <a:rPr lang="en-US"/>
              <a:t>Third Level</a:t>
            </a:r>
          </a:p>
        </p:txBody>
      </p:sp>
      <p:sp>
        <p:nvSpPr>
          <p:cNvPr id="2" name="Click to Edit Title">
            <a:extLst>
              <a:ext uri="{FF2B5EF4-FFF2-40B4-BE49-F238E27FC236}">
                <a16:creationId xmlns:a16="http://schemas.microsoft.com/office/drawing/2014/main" id="{2D1B5B0D-CC78-086C-2188-B66B472C9506}"/>
              </a:ext>
            </a:extLst>
          </p:cNvPr>
          <p:cNvSpPr>
            <a:spLocks noGrp="1"/>
          </p:cNvSpPr>
          <p:nvPr>
            <p:ph type="ctrTitle" hasCustomPrompt="1"/>
          </p:nvPr>
        </p:nvSpPr>
        <p:spPr>
          <a:xfrm>
            <a:off x="629390" y="357095"/>
            <a:ext cx="4363718" cy="618631"/>
          </a:xfrm>
          <a:prstGeom prst="rect">
            <a:avLst/>
          </a:prstGeom>
        </p:spPr>
        <p:txBody>
          <a:bodyPr anchor="t">
            <a:spAutoFit/>
          </a:bodyPr>
          <a:lstStyle>
            <a:lvl1pPr algn="l">
              <a:defRPr sz="3800" b="1">
                <a:solidFill>
                  <a:srgbClr val="3172AE"/>
                </a:solidFill>
                <a:latin typeface="Arial" panose="020B0604020202020204" pitchFamily="34" charset="0"/>
                <a:cs typeface="Arial" panose="020B0604020202020204" pitchFamily="34" charset="0"/>
              </a:defRPr>
            </a:lvl1pPr>
          </a:lstStyle>
          <a:p>
            <a:r>
              <a:rPr lang="en-US"/>
              <a:t>Bullet Points</a:t>
            </a:r>
          </a:p>
        </p:txBody>
      </p:sp>
      <p:sp>
        <p:nvSpPr>
          <p:cNvPr id="4" name="Title Subhead or department name">
            <a:extLst>
              <a:ext uri="{FF2B5EF4-FFF2-40B4-BE49-F238E27FC236}">
                <a16:creationId xmlns:a16="http://schemas.microsoft.com/office/drawing/2014/main" id="{56A8B033-4104-E833-30DB-E42DB41F5F85}"/>
              </a:ext>
            </a:extLst>
          </p:cNvPr>
          <p:cNvSpPr>
            <a:spLocks noGrp="1"/>
          </p:cNvSpPr>
          <p:nvPr>
            <p:ph type="subTitle" idx="1" hasCustomPrompt="1"/>
          </p:nvPr>
        </p:nvSpPr>
        <p:spPr>
          <a:xfrm>
            <a:off x="620452" y="957182"/>
            <a:ext cx="3412389" cy="452432"/>
          </a:xfrm>
          <a:prstGeom prst="rect">
            <a:avLst/>
          </a:prstGeom>
        </p:spPr>
        <p:txBody>
          <a:bodyPr>
            <a:spAutoFit/>
          </a:bodyPr>
          <a:lstStyle>
            <a:lvl1pPr marL="0" indent="0" algn="l">
              <a:buNone/>
              <a:defRPr sz="2600">
                <a:solidFill>
                  <a:schemeClr val="bg1">
                    <a:lumMod val="50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chemeClr val="bg1">
                    <a:lumMod val="50000"/>
                  </a:schemeClr>
                </a:solidFill>
                <a:latin typeface="Arial" panose="020B0604020202020204" pitchFamily="34" charset="0"/>
                <a:cs typeface="Arial" panose="020B0604020202020204" pitchFamily="34" charset="0"/>
              </a:rPr>
              <a:t>Slide Title Subhead</a:t>
            </a:r>
          </a:p>
        </p:txBody>
      </p:sp>
    </p:spTree>
    <p:extLst>
      <p:ext uri="{BB962C8B-B14F-4D97-AF65-F5344CB8AC3E}">
        <p14:creationId xmlns:p14="http://schemas.microsoft.com/office/powerpoint/2010/main" val="1260244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Title for Tables and Graphs/Charts">
    <p:spTree>
      <p:nvGrpSpPr>
        <p:cNvPr id="1" name=""/>
        <p:cNvGrpSpPr/>
        <p:nvPr/>
      </p:nvGrpSpPr>
      <p:grpSpPr>
        <a:xfrm>
          <a:off x="0" y="0"/>
          <a:ext cx="0" cy="0"/>
          <a:chOff x="0" y="0"/>
          <a:chExt cx="0" cy="0"/>
        </a:xfrm>
      </p:grpSpPr>
      <p:sp>
        <p:nvSpPr>
          <p:cNvPr id="7" name="Title Subhead or department name">
            <a:extLst>
              <a:ext uri="{FF2B5EF4-FFF2-40B4-BE49-F238E27FC236}">
                <a16:creationId xmlns:a16="http://schemas.microsoft.com/office/drawing/2014/main" id="{FA2DFCB2-FA00-5A9F-7212-5299E1B6E727}"/>
              </a:ext>
            </a:extLst>
          </p:cNvPr>
          <p:cNvSpPr>
            <a:spLocks noGrp="1"/>
          </p:cNvSpPr>
          <p:nvPr>
            <p:ph type="subTitle" idx="1" hasCustomPrompt="1"/>
          </p:nvPr>
        </p:nvSpPr>
        <p:spPr>
          <a:xfrm>
            <a:off x="615349" y="950851"/>
            <a:ext cx="3412389" cy="452432"/>
          </a:xfrm>
          <a:prstGeom prst="rect">
            <a:avLst/>
          </a:prstGeom>
        </p:spPr>
        <p:txBody>
          <a:bodyPr>
            <a:spAutoFit/>
          </a:bodyPr>
          <a:lstStyle>
            <a:lvl1pPr marL="0" indent="0" algn="l">
              <a:buNone/>
              <a:defRPr sz="2600">
                <a:solidFill>
                  <a:schemeClr val="bg1">
                    <a:lumMod val="50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chemeClr val="bg1">
                    <a:lumMod val="50000"/>
                  </a:schemeClr>
                </a:solidFill>
                <a:latin typeface="Arial" panose="020B0604020202020204" pitchFamily="34" charset="0"/>
                <a:cs typeface="Arial" panose="020B0604020202020204" pitchFamily="34" charset="0"/>
              </a:rPr>
              <a:t>Slide Title Subhead</a:t>
            </a:r>
          </a:p>
        </p:txBody>
      </p:sp>
      <p:sp>
        <p:nvSpPr>
          <p:cNvPr id="6" name="Click to Edit Title">
            <a:extLst>
              <a:ext uri="{FF2B5EF4-FFF2-40B4-BE49-F238E27FC236}">
                <a16:creationId xmlns:a16="http://schemas.microsoft.com/office/drawing/2014/main" id="{F7DBD260-BAA0-1208-B4B1-F244F98E835A}"/>
              </a:ext>
            </a:extLst>
          </p:cNvPr>
          <p:cNvSpPr>
            <a:spLocks noGrp="1"/>
          </p:cNvSpPr>
          <p:nvPr>
            <p:ph type="ctrTitle" hasCustomPrompt="1"/>
          </p:nvPr>
        </p:nvSpPr>
        <p:spPr>
          <a:xfrm>
            <a:off x="615349" y="348696"/>
            <a:ext cx="4363718" cy="618631"/>
          </a:xfrm>
          <a:prstGeom prst="rect">
            <a:avLst/>
          </a:prstGeom>
        </p:spPr>
        <p:txBody>
          <a:bodyPr anchor="b">
            <a:spAutoFit/>
          </a:bodyPr>
          <a:lstStyle>
            <a:lvl1pPr algn="l">
              <a:defRPr sz="3800" b="1">
                <a:solidFill>
                  <a:srgbClr val="3172AE"/>
                </a:solidFill>
                <a:latin typeface="Arial" panose="020B0604020202020204" pitchFamily="34" charset="0"/>
                <a:cs typeface="Arial" panose="020B0604020202020204" pitchFamily="34" charset="0"/>
              </a:defRPr>
            </a:lvl1pPr>
          </a:lstStyle>
          <a:p>
            <a:r>
              <a:rPr lang="en-US"/>
              <a:t>Slide Title</a:t>
            </a:r>
          </a:p>
        </p:txBody>
      </p:sp>
    </p:spTree>
    <p:extLst>
      <p:ext uri="{BB962C8B-B14F-4D97-AF65-F5344CB8AC3E}">
        <p14:creationId xmlns:p14="http://schemas.microsoft.com/office/powerpoint/2010/main" val="2484187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7" name="Title Placeholder 1" hidden="1">
            <a:extLst>
              <a:ext uri="{FF2B5EF4-FFF2-40B4-BE49-F238E27FC236}">
                <a16:creationId xmlns:a16="http://schemas.microsoft.com/office/drawing/2014/main" id="{5EA5C8D1-8C60-549B-8C35-0ADE0D19A07B}"/>
              </a:ext>
            </a:extLst>
          </p:cNvPr>
          <p:cNvSpPr>
            <a:spLocks noGrp="1"/>
          </p:cNvSpPr>
          <p:nvPr>
            <p:ph type="title" hasCustomPrompt="1"/>
          </p:nvPr>
        </p:nvSpPr>
        <p:spPr>
          <a:xfrm>
            <a:off x="838200" y="365125"/>
            <a:ext cx="10515600" cy="1325563"/>
          </a:xfrm>
          <a:prstGeom prst="rect">
            <a:avLst/>
          </a:prstGeom>
        </p:spPr>
        <p:txBody>
          <a:bodyPr vert="horz" lIns="91440" tIns="45720" rIns="91440" bIns="45720" rtlCol="0" anchor="ctr">
            <a:normAutofit/>
          </a:bodyPr>
          <a:lstStyle/>
          <a:p>
            <a:r>
              <a:rPr lang="en-US"/>
              <a:t>Image slide</a:t>
            </a:r>
          </a:p>
        </p:txBody>
      </p:sp>
      <p:sp>
        <p:nvSpPr>
          <p:cNvPr id="4" name="Text Placeholder 5">
            <a:extLst>
              <a:ext uri="{FF2B5EF4-FFF2-40B4-BE49-F238E27FC236}">
                <a16:creationId xmlns:a16="http://schemas.microsoft.com/office/drawing/2014/main" id="{668F18EF-9111-805D-639E-3B8E4DA45908}"/>
              </a:ext>
            </a:extLst>
          </p:cNvPr>
          <p:cNvSpPr>
            <a:spLocks noGrp="1"/>
          </p:cNvSpPr>
          <p:nvPr>
            <p:ph type="body" sz="half" idx="2" hasCustomPrompt="1"/>
          </p:nvPr>
        </p:nvSpPr>
        <p:spPr>
          <a:xfrm>
            <a:off x="8650910" y="5053917"/>
            <a:ext cx="1680210" cy="1394460"/>
          </a:xfrm>
          <a:prstGeom prst="rect">
            <a:avLst/>
          </a:prstGeom>
        </p:spPr>
        <p:txBody>
          <a:bodyPr/>
          <a:lstStyle>
            <a:lvl1pPr marL="0" indent="0">
              <a:buNone/>
              <a:defRPr sz="2000">
                <a:solidFill>
                  <a:srgbClr val="3172AE"/>
                </a:solidFill>
                <a:latin typeface="Arial" panose="020B0604020202020204" pitchFamily="34" charset="0"/>
                <a:cs typeface="Arial" panose="020B0604020202020204" pitchFamily="34" charset="0"/>
              </a:defRPr>
            </a:lvl1pPr>
          </a:lstStyle>
          <a:p>
            <a:r>
              <a:rPr lang="en-US"/>
              <a:t>Caption text</a:t>
            </a:r>
          </a:p>
        </p:txBody>
      </p:sp>
      <p:sp>
        <p:nvSpPr>
          <p:cNvPr id="3" name="Picture Placeholder 4" descr="Image Placeholder">
            <a:extLst>
              <a:ext uri="{FF2B5EF4-FFF2-40B4-BE49-F238E27FC236}">
                <a16:creationId xmlns:a16="http://schemas.microsoft.com/office/drawing/2014/main" id="{90A9B5A6-EEF1-85BE-64EE-4FB2AA13A700}"/>
              </a:ext>
            </a:extLst>
          </p:cNvPr>
          <p:cNvSpPr>
            <a:spLocks noGrp="1"/>
          </p:cNvSpPr>
          <p:nvPr>
            <p:ph type="pic" idx="1" hasCustomPrompt="1"/>
          </p:nvPr>
        </p:nvSpPr>
        <p:spPr>
          <a:xfrm>
            <a:off x="312516" y="461318"/>
            <a:ext cx="7977860" cy="5177057"/>
          </a:xfrm>
          <a:prstGeom prst="rect">
            <a:avLst/>
          </a:prstGeom>
        </p:spPr>
        <p:txBody>
          <a:bodyPr/>
          <a:lstStyle>
            <a:lvl1pPr marL="0" indent="0">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add image</a:t>
            </a:r>
          </a:p>
        </p:txBody>
      </p:sp>
    </p:spTree>
    <p:extLst>
      <p:ext uri="{BB962C8B-B14F-4D97-AF65-F5344CB8AC3E}">
        <p14:creationId xmlns:p14="http://schemas.microsoft.com/office/powerpoint/2010/main" val="2230339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 Screen Image Slide">
    <p:spTree>
      <p:nvGrpSpPr>
        <p:cNvPr id="1" name=""/>
        <p:cNvGrpSpPr/>
        <p:nvPr/>
      </p:nvGrpSpPr>
      <p:grpSpPr>
        <a:xfrm>
          <a:off x="0" y="0"/>
          <a:ext cx="0" cy="0"/>
          <a:chOff x="0" y="0"/>
          <a:chExt cx="0" cy="0"/>
        </a:xfrm>
      </p:grpSpPr>
      <p:sp>
        <p:nvSpPr>
          <p:cNvPr id="2" name="Full Screen Image " hidden="1">
            <a:extLst>
              <a:ext uri="{FF2B5EF4-FFF2-40B4-BE49-F238E27FC236}">
                <a16:creationId xmlns:a16="http://schemas.microsoft.com/office/drawing/2014/main" id="{E8B99B13-7691-A73F-D3BF-4484C6E5853C}"/>
              </a:ext>
            </a:extLst>
          </p:cNvPr>
          <p:cNvSpPr>
            <a:spLocks noGrp="1"/>
          </p:cNvSpPr>
          <p:nvPr>
            <p:ph type="title" hasCustomPrompt="1"/>
          </p:nvPr>
        </p:nvSpPr>
        <p:spPr>
          <a:xfrm>
            <a:off x="838200" y="365125"/>
            <a:ext cx="10515600" cy="1325563"/>
          </a:xfrm>
          <a:prstGeom prst="rect">
            <a:avLst/>
          </a:prstGeom>
        </p:spPr>
        <p:txBody>
          <a:bodyPr/>
          <a:lstStyle/>
          <a:p>
            <a:r>
              <a:rPr lang="en-US"/>
              <a:t>FULL SCREEN IMAGE</a:t>
            </a:r>
          </a:p>
        </p:txBody>
      </p:sp>
      <p:sp>
        <p:nvSpPr>
          <p:cNvPr id="3" name="Picture Placeholder 17" descr="Image Placeholder">
            <a:extLst>
              <a:ext uri="{FF2B5EF4-FFF2-40B4-BE49-F238E27FC236}">
                <a16:creationId xmlns:a16="http://schemas.microsoft.com/office/drawing/2014/main" id="{BDE0279E-56AC-178A-9173-75C460C24862}"/>
              </a:ext>
            </a:extLst>
          </p:cNvPr>
          <p:cNvSpPr>
            <a:spLocks noGrp="1"/>
          </p:cNvSpPr>
          <p:nvPr>
            <p:ph type="pic" idx="1" hasCustomPrompt="1"/>
          </p:nvPr>
        </p:nvSpPr>
        <p:spPr>
          <a:xfrm>
            <a:off x="0" y="-1"/>
            <a:ext cx="12191999" cy="6122505"/>
          </a:xfrm>
          <a:prstGeom prst="rect">
            <a:avLst/>
          </a:prstGeom>
        </p:spPr>
        <p:txBody>
          <a:bodyPr/>
          <a:lstStyle>
            <a:lvl1pPr marL="0" indent="0">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add image</a:t>
            </a:r>
          </a:p>
        </p:txBody>
      </p:sp>
      <p:sp>
        <p:nvSpPr>
          <p:cNvPr id="4" name="Caption text">
            <a:extLst>
              <a:ext uri="{FF2B5EF4-FFF2-40B4-BE49-F238E27FC236}">
                <a16:creationId xmlns:a16="http://schemas.microsoft.com/office/drawing/2014/main" id="{172E58CD-BC97-D0EA-8D91-8B419909D9E2}"/>
              </a:ext>
            </a:extLst>
          </p:cNvPr>
          <p:cNvSpPr>
            <a:spLocks noGrp="1"/>
          </p:cNvSpPr>
          <p:nvPr>
            <p:ph type="body" sz="half" idx="2" hasCustomPrompt="1"/>
          </p:nvPr>
        </p:nvSpPr>
        <p:spPr>
          <a:xfrm>
            <a:off x="10010899" y="0"/>
            <a:ext cx="2181100" cy="1270660"/>
          </a:xfrm>
          <a:prstGeom prst="rect">
            <a:avLst/>
          </a:prstGeom>
          <a:solidFill>
            <a:srgbClr val="3172AE"/>
          </a:solidFill>
        </p:spPr>
        <p:txBody>
          <a:bodyPr anchor="ctr"/>
          <a:lstStyle>
            <a:lvl1pPr marL="0" indent="0" algn="ctr">
              <a:buNone/>
              <a:defRPr sz="2000" b="0">
                <a:solidFill>
                  <a:schemeClr val="bg1"/>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Caption text</a:t>
            </a:r>
          </a:p>
        </p:txBody>
      </p:sp>
    </p:spTree>
    <p:extLst>
      <p:ext uri="{BB962C8B-B14F-4D97-AF65-F5344CB8AC3E}">
        <p14:creationId xmlns:p14="http://schemas.microsoft.com/office/powerpoint/2010/main" val="3319093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Click to Edit Title">
            <a:extLst>
              <a:ext uri="{FF2B5EF4-FFF2-40B4-BE49-F238E27FC236}">
                <a16:creationId xmlns:a16="http://schemas.microsoft.com/office/drawing/2014/main" id="{DCC2942B-EBA9-CE44-CBF0-064F55559564}"/>
              </a:ext>
            </a:extLst>
          </p:cNvPr>
          <p:cNvSpPr>
            <a:spLocks noGrp="1"/>
          </p:cNvSpPr>
          <p:nvPr>
            <p:ph type="ctrTitle" hasCustomPrompt="1"/>
          </p:nvPr>
        </p:nvSpPr>
        <p:spPr>
          <a:xfrm>
            <a:off x="352977" y="2802942"/>
            <a:ext cx="6979920" cy="646331"/>
          </a:xfrm>
          <a:prstGeom prst="rect">
            <a:avLst/>
          </a:prstGeom>
        </p:spPr>
        <p:txBody>
          <a:bodyPr anchor="t">
            <a:spAutoFit/>
          </a:bodyPr>
          <a:lstStyle>
            <a:lvl1pPr algn="l">
              <a:defRPr sz="4000" b="1">
                <a:solidFill>
                  <a:srgbClr val="3172AE"/>
                </a:solidFill>
                <a:latin typeface="Arial" panose="020B0604020202020204" pitchFamily="34" charset="0"/>
                <a:cs typeface="Arial" panose="020B0604020202020204" pitchFamily="34" charset="0"/>
              </a:defRPr>
            </a:lvl1pPr>
          </a:lstStyle>
          <a:p>
            <a:r>
              <a:rPr lang="en-US"/>
              <a:t>Click to Add Title</a:t>
            </a:r>
          </a:p>
        </p:txBody>
      </p:sp>
      <p:sp>
        <p:nvSpPr>
          <p:cNvPr id="3" name="Title Subhead or department name">
            <a:extLst>
              <a:ext uri="{FF2B5EF4-FFF2-40B4-BE49-F238E27FC236}">
                <a16:creationId xmlns:a16="http://schemas.microsoft.com/office/drawing/2014/main" id="{49175329-E67E-B390-0D2D-E3B892A40751}"/>
              </a:ext>
            </a:extLst>
          </p:cNvPr>
          <p:cNvSpPr>
            <a:spLocks noGrp="1"/>
          </p:cNvSpPr>
          <p:nvPr>
            <p:ph type="subTitle" idx="1" hasCustomPrompt="1"/>
          </p:nvPr>
        </p:nvSpPr>
        <p:spPr>
          <a:xfrm>
            <a:off x="361215" y="3644142"/>
            <a:ext cx="6979920" cy="996170"/>
          </a:xfrm>
          <a:prstGeom prst="rect">
            <a:avLst/>
          </a:prstGeom>
        </p:spPr>
        <p:txBody>
          <a:bodyPr>
            <a:spAutoFit/>
          </a:bodyPr>
          <a:lstStyle>
            <a:lvl1pPr marL="0" indent="0" algn="l">
              <a:buNone/>
              <a:defRPr sz="28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solidFill>
                  <a:schemeClr val="tx1">
                    <a:lumMod val="65000"/>
                    <a:lumOff val="35000"/>
                  </a:schemeClr>
                </a:solidFill>
              </a:rPr>
              <a:t>Title subhead or department name</a:t>
            </a:r>
          </a:p>
          <a:p>
            <a:r>
              <a:rPr lang="en-US">
                <a:solidFill>
                  <a:schemeClr val="tx1">
                    <a:lumMod val="65000"/>
                    <a:lumOff val="35000"/>
                  </a:schemeClr>
                </a:solidFill>
              </a:rPr>
              <a:t>Can go here and fill one or two lines</a:t>
            </a:r>
          </a:p>
        </p:txBody>
      </p:sp>
    </p:spTree>
    <p:extLst>
      <p:ext uri="{BB962C8B-B14F-4D97-AF65-F5344CB8AC3E}">
        <p14:creationId xmlns:p14="http://schemas.microsoft.com/office/powerpoint/2010/main" val="3619993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Image Slide">
    <p:spTree>
      <p:nvGrpSpPr>
        <p:cNvPr id="1" name=""/>
        <p:cNvGrpSpPr/>
        <p:nvPr/>
      </p:nvGrpSpPr>
      <p:grpSpPr>
        <a:xfrm>
          <a:off x="0" y="0"/>
          <a:ext cx="0" cy="0"/>
          <a:chOff x="0" y="0"/>
          <a:chExt cx="0" cy="0"/>
        </a:xfrm>
      </p:grpSpPr>
      <p:sp>
        <p:nvSpPr>
          <p:cNvPr id="2" name="Title Placeholder 1" hidden="1">
            <a:extLst>
              <a:ext uri="{FF2B5EF4-FFF2-40B4-BE49-F238E27FC236}">
                <a16:creationId xmlns:a16="http://schemas.microsoft.com/office/drawing/2014/main" id="{05A4F640-B8FB-70FB-5815-E87CB0C06114}"/>
              </a:ext>
            </a:extLst>
          </p:cNvPr>
          <p:cNvSpPr>
            <a:spLocks noGrp="1"/>
          </p:cNvSpPr>
          <p:nvPr>
            <p:ph type="title" hasCustomPrompt="1"/>
          </p:nvPr>
        </p:nvSpPr>
        <p:spPr>
          <a:xfrm>
            <a:off x="838200" y="365125"/>
            <a:ext cx="10515600" cy="1325563"/>
          </a:xfrm>
          <a:prstGeom prst="rect">
            <a:avLst/>
          </a:prstGeom>
        </p:spPr>
        <p:txBody>
          <a:bodyPr vert="horz" lIns="91440" tIns="45720" rIns="91440" bIns="45720" rtlCol="0" anchor="ctr">
            <a:normAutofit/>
          </a:bodyPr>
          <a:lstStyle/>
          <a:p>
            <a:r>
              <a:rPr lang="en-US"/>
              <a:t>3 Image Slide</a:t>
            </a:r>
            <a:br>
              <a:rPr lang="en-US"/>
            </a:br>
            <a:endParaRPr lang="en-US"/>
          </a:p>
        </p:txBody>
      </p:sp>
      <p:sp>
        <p:nvSpPr>
          <p:cNvPr id="6" name="Picture Placeholder 5">
            <a:extLst>
              <a:ext uri="{FF2B5EF4-FFF2-40B4-BE49-F238E27FC236}">
                <a16:creationId xmlns:a16="http://schemas.microsoft.com/office/drawing/2014/main" id="{1C1CF9E1-C8BB-53E6-8CB7-14F15790DFC3}"/>
              </a:ext>
            </a:extLst>
          </p:cNvPr>
          <p:cNvSpPr>
            <a:spLocks noGrp="1"/>
          </p:cNvSpPr>
          <p:nvPr>
            <p:ph type="pic" sz="quarter" idx="10" hasCustomPrompt="1"/>
          </p:nvPr>
        </p:nvSpPr>
        <p:spPr>
          <a:xfrm>
            <a:off x="0" y="-7037"/>
            <a:ext cx="9143626" cy="6865038"/>
          </a:xfrm>
          <a:custGeom>
            <a:avLst/>
            <a:gdLst>
              <a:gd name="connsiteX0" fmla="*/ 0 w 4006850"/>
              <a:gd name="connsiteY0" fmla="*/ 0 h 6881869"/>
              <a:gd name="connsiteX1" fmla="*/ 4006850 w 4006850"/>
              <a:gd name="connsiteY1" fmla="*/ 0 h 6881869"/>
              <a:gd name="connsiteX2" fmla="*/ 4006850 w 4006850"/>
              <a:gd name="connsiteY2" fmla="*/ 6881869 h 6881869"/>
              <a:gd name="connsiteX3" fmla="*/ 0 w 4006850"/>
              <a:gd name="connsiteY3" fmla="*/ 6881869 h 6881869"/>
              <a:gd name="connsiteX4" fmla="*/ 0 w 4006850"/>
              <a:gd name="connsiteY4" fmla="*/ 0 h 6881869"/>
              <a:gd name="connsiteX0" fmla="*/ 0 w 5970121"/>
              <a:gd name="connsiteY0" fmla="*/ 13447 h 6895316"/>
              <a:gd name="connsiteX1" fmla="*/ 5970121 w 5970121"/>
              <a:gd name="connsiteY1" fmla="*/ 0 h 6895316"/>
              <a:gd name="connsiteX2" fmla="*/ 4006850 w 5970121"/>
              <a:gd name="connsiteY2" fmla="*/ 6895316 h 6895316"/>
              <a:gd name="connsiteX3" fmla="*/ 0 w 5970121"/>
              <a:gd name="connsiteY3" fmla="*/ 6895316 h 6895316"/>
              <a:gd name="connsiteX4" fmla="*/ 0 w 5970121"/>
              <a:gd name="connsiteY4" fmla="*/ 13447 h 6895316"/>
              <a:gd name="connsiteX0" fmla="*/ 0 w 9143626"/>
              <a:gd name="connsiteY0" fmla="*/ 13447 h 6908763"/>
              <a:gd name="connsiteX1" fmla="*/ 5970121 w 9143626"/>
              <a:gd name="connsiteY1" fmla="*/ 0 h 6908763"/>
              <a:gd name="connsiteX2" fmla="*/ 9143626 w 9143626"/>
              <a:gd name="connsiteY2" fmla="*/ 6908763 h 6908763"/>
              <a:gd name="connsiteX3" fmla="*/ 0 w 9143626"/>
              <a:gd name="connsiteY3" fmla="*/ 6895316 h 6908763"/>
              <a:gd name="connsiteX4" fmla="*/ 0 w 9143626"/>
              <a:gd name="connsiteY4" fmla="*/ 13447 h 6908763"/>
              <a:gd name="connsiteX0" fmla="*/ 0 w 9143626"/>
              <a:gd name="connsiteY0" fmla="*/ 43725 h 6908763"/>
              <a:gd name="connsiteX1" fmla="*/ 5970121 w 9143626"/>
              <a:gd name="connsiteY1" fmla="*/ 0 h 6908763"/>
              <a:gd name="connsiteX2" fmla="*/ 9143626 w 9143626"/>
              <a:gd name="connsiteY2" fmla="*/ 6908763 h 6908763"/>
              <a:gd name="connsiteX3" fmla="*/ 0 w 9143626"/>
              <a:gd name="connsiteY3" fmla="*/ 6895316 h 6908763"/>
              <a:gd name="connsiteX4" fmla="*/ 0 w 9143626"/>
              <a:gd name="connsiteY4" fmla="*/ 43725 h 6908763"/>
              <a:gd name="connsiteX0" fmla="*/ 0 w 9143626"/>
              <a:gd name="connsiteY0" fmla="*/ 0 h 6865038"/>
              <a:gd name="connsiteX1" fmla="*/ 5994344 w 9143626"/>
              <a:gd name="connsiteY1" fmla="*/ 4720 h 6865038"/>
              <a:gd name="connsiteX2" fmla="*/ 9143626 w 9143626"/>
              <a:gd name="connsiteY2" fmla="*/ 6865038 h 6865038"/>
              <a:gd name="connsiteX3" fmla="*/ 0 w 9143626"/>
              <a:gd name="connsiteY3" fmla="*/ 6851591 h 6865038"/>
              <a:gd name="connsiteX4" fmla="*/ 0 w 9143626"/>
              <a:gd name="connsiteY4" fmla="*/ 0 h 6865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3626" h="6865038">
                <a:moveTo>
                  <a:pt x="0" y="0"/>
                </a:moveTo>
                <a:lnTo>
                  <a:pt x="5994344" y="4720"/>
                </a:lnTo>
                <a:lnTo>
                  <a:pt x="9143626" y="6865038"/>
                </a:lnTo>
                <a:lnTo>
                  <a:pt x="0" y="6851591"/>
                </a:lnTo>
                <a:lnTo>
                  <a:pt x="0" y="0"/>
                </a:lnTo>
                <a:close/>
              </a:path>
            </a:pathLst>
          </a:custGeom>
        </p:spPr>
        <p:txBody>
          <a:bodyPr/>
          <a:lstStyle>
            <a:lvl1pPr marL="0" indent="0">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add image</a:t>
            </a:r>
          </a:p>
        </p:txBody>
      </p:sp>
      <p:sp>
        <p:nvSpPr>
          <p:cNvPr id="12" name="Picture Placeholder 11">
            <a:extLst>
              <a:ext uri="{FF2B5EF4-FFF2-40B4-BE49-F238E27FC236}">
                <a16:creationId xmlns:a16="http://schemas.microsoft.com/office/drawing/2014/main" id="{3BBA80E4-CEF7-B197-A17B-A0FBDFDC6182}"/>
              </a:ext>
            </a:extLst>
          </p:cNvPr>
          <p:cNvSpPr>
            <a:spLocks noGrp="1"/>
          </p:cNvSpPr>
          <p:nvPr>
            <p:ph type="pic" sz="quarter" idx="11" hasCustomPrompt="1"/>
          </p:nvPr>
        </p:nvSpPr>
        <p:spPr>
          <a:xfrm>
            <a:off x="6236081" y="-15285"/>
            <a:ext cx="5971032" cy="3361736"/>
          </a:xfrm>
          <a:custGeom>
            <a:avLst/>
            <a:gdLst>
              <a:gd name="connsiteX0" fmla="*/ 0 w 6045187"/>
              <a:gd name="connsiteY0" fmla="*/ 3404126 h 3404126"/>
              <a:gd name="connsiteX1" fmla="*/ 851032 w 6045187"/>
              <a:gd name="connsiteY1" fmla="*/ 0 h 3404126"/>
              <a:gd name="connsiteX2" fmla="*/ 5194156 w 6045187"/>
              <a:gd name="connsiteY2" fmla="*/ 0 h 3404126"/>
              <a:gd name="connsiteX3" fmla="*/ 6045187 w 6045187"/>
              <a:gd name="connsiteY3" fmla="*/ 3404126 h 3404126"/>
              <a:gd name="connsiteX4" fmla="*/ 0 w 6045187"/>
              <a:gd name="connsiteY4" fmla="*/ 3404126 h 3404126"/>
              <a:gd name="connsiteX0" fmla="*/ 789509 w 5194155"/>
              <a:gd name="connsiteY0" fmla="*/ 3404126 h 3404126"/>
              <a:gd name="connsiteX1" fmla="*/ 0 w 5194155"/>
              <a:gd name="connsiteY1" fmla="*/ 0 h 3404126"/>
              <a:gd name="connsiteX2" fmla="*/ 4343124 w 5194155"/>
              <a:gd name="connsiteY2" fmla="*/ 0 h 3404126"/>
              <a:gd name="connsiteX3" fmla="*/ 5194155 w 5194155"/>
              <a:gd name="connsiteY3" fmla="*/ 3404126 h 3404126"/>
              <a:gd name="connsiteX4" fmla="*/ 789509 w 5194155"/>
              <a:gd name="connsiteY4" fmla="*/ 3404126 h 3404126"/>
              <a:gd name="connsiteX0" fmla="*/ 1461862 w 5866508"/>
              <a:gd name="connsiteY0" fmla="*/ 3404126 h 3404126"/>
              <a:gd name="connsiteX1" fmla="*/ 0 w 5866508"/>
              <a:gd name="connsiteY1" fmla="*/ 0 h 3404126"/>
              <a:gd name="connsiteX2" fmla="*/ 5015477 w 5866508"/>
              <a:gd name="connsiteY2" fmla="*/ 0 h 3404126"/>
              <a:gd name="connsiteX3" fmla="*/ 5866508 w 5866508"/>
              <a:gd name="connsiteY3" fmla="*/ 3404126 h 3404126"/>
              <a:gd name="connsiteX4" fmla="*/ 1461862 w 5866508"/>
              <a:gd name="connsiteY4" fmla="*/ 3404126 h 3404126"/>
              <a:gd name="connsiteX0" fmla="*/ 1596333 w 6000979"/>
              <a:gd name="connsiteY0" fmla="*/ 3404126 h 3404126"/>
              <a:gd name="connsiteX1" fmla="*/ 0 w 6000979"/>
              <a:gd name="connsiteY1" fmla="*/ 0 h 3404126"/>
              <a:gd name="connsiteX2" fmla="*/ 5149948 w 6000979"/>
              <a:gd name="connsiteY2" fmla="*/ 0 h 3404126"/>
              <a:gd name="connsiteX3" fmla="*/ 6000979 w 6000979"/>
              <a:gd name="connsiteY3" fmla="*/ 3404126 h 3404126"/>
              <a:gd name="connsiteX4" fmla="*/ 1596333 w 6000979"/>
              <a:gd name="connsiteY4" fmla="*/ 3404126 h 3404126"/>
              <a:gd name="connsiteX0" fmla="*/ 1596333 w 6010560"/>
              <a:gd name="connsiteY0" fmla="*/ 3404126 h 3404126"/>
              <a:gd name="connsiteX1" fmla="*/ 0 w 6010560"/>
              <a:gd name="connsiteY1" fmla="*/ 0 h 3404126"/>
              <a:gd name="connsiteX2" fmla="*/ 6010560 w 6010560"/>
              <a:gd name="connsiteY2" fmla="*/ 0 h 3404126"/>
              <a:gd name="connsiteX3" fmla="*/ 6000979 w 6010560"/>
              <a:gd name="connsiteY3" fmla="*/ 3404126 h 3404126"/>
              <a:gd name="connsiteX4" fmla="*/ 1596333 w 6010560"/>
              <a:gd name="connsiteY4" fmla="*/ 3404126 h 3404126"/>
              <a:gd name="connsiteX0" fmla="*/ 1596333 w 6010560"/>
              <a:gd name="connsiteY0" fmla="*/ 3404126 h 3404126"/>
              <a:gd name="connsiteX1" fmla="*/ 0 w 6010560"/>
              <a:gd name="connsiteY1" fmla="*/ 0 h 3404126"/>
              <a:gd name="connsiteX2" fmla="*/ 6010560 w 6010560"/>
              <a:gd name="connsiteY2" fmla="*/ 0 h 3404126"/>
              <a:gd name="connsiteX3" fmla="*/ 6000979 w 6010560"/>
              <a:gd name="connsiteY3" fmla="*/ 3404126 h 3404126"/>
              <a:gd name="connsiteX4" fmla="*/ 1596333 w 6010560"/>
              <a:gd name="connsiteY4" fmla="*/ 3404126 h 3404126"/>
              <a:gd name="connsiteX0" fmla="*/ 1578166 w 5992393"/>
              <a:gd name="connsiteY0" fmla="*/ 3404126 h 3404126"/>
              <a:gd name="connsiteX1" fmla="*/ 0 w 5992393"/>
              <a:gd name="connsiteY1" fmla="*/ 42390 h 3404126"/>
              <a:gd name="connsiteX2" fmla="*/ 5992393 w 5992393"/>
              <a:gd name="connsiteY2" fmla="*/ 0 h 3404126"/>
              <a:gd name="connsiteX3" fmla="*/ 5982812 w 5992393"/>
              <a:gd name="connsiteY3" fmla="*/ 3404126 h 3404126"/>
              <a:gd name="connsiteX4" fmla="*/ 1578166 w 5992393"/>
              <a:gd name="connsiteY4" fmla="*/ 3404126 h 3404126"/>
              <a:gd name="connsiteX0" fmla="*/ 1578166 w 5986338"/>
              <a:gd name="connsiteY0" fmla="*/ 3361737 h 3361737"/>
              <a:gd name="connsiteX1" fmla="*/ 0 w 5986338"/>
              <a:gd name="connsiteY1" fmla="*/ 1 h 3361737"/>
              <a:gd name="connsiteX2" fmla="*/ 5986338 w 5986338"/>
              <a:gd name="connsiteY2" fmla="*/ 0 h 3361737"/>
              <a:gd name="connsiteX3" fmla="*/ 5982812 w 5986338"/>
              <a:gd name="connsiteY3" fmla="*/ 3361737 h 3361737"/>
              <a:gd name="connsiteX4" fmla="*/ 1578166 w 5986338"/>
              <a:gd name="connsiteY4" fmla="*/ 3361737 h 3361737"/>
              <a:gd name="connsiteX0" fmla="*/ 1578166 w 5986338"/>
              <a:gd name="connsiteY0" fmla="*/ 3361737 h 3361737"/>
              <a:gd name="connsiteX1" fmla="*/ 0 w 5986338"/>
              <a:gd name="connsiteY1" fmla="*/ 1 h 3361737"/>
              <a:gd name="connsiteX2" fmla="*/ 5986338 w 5986338"/>
              <a:gd name="connsiteY2" fmla="*/ 0 h 3361737"/>
              <a:gd name="connsiteX3" fmla="*/ 5970701 w 5986338"/>
              <a:gd name="connsiteY3" fmla="*/ 3361737 h 3361737"/>
              <a:gd name="connsiteX4" fmla="*/ 1578166 w 5986338"/>
              <a:gd name="connsiteY4" fmla="*/ 3361737 h 3361737"/>
              <a:gd name="connsiteX0" fmla="*/ 1578166 w 5971032"/>
              <a:gd name="connsiteY0" fmla="*/ 3361736 h 3361736"/>
              <a:gd name="connsiteX1" fmla="*/ 0 w 5971032"/>
              <a:gd name="connsiteY1" fmla="*/ 0 h 3361736"/>
              <a:gd name="connsiteX2" fmla="*/ 5956060 w 5971032"/>
              <a:gd name="connsiteY2" fmla="*/ 24222 h 3361736"/>
              <a:gd name="connsiteX3" fmla="*/ 5970701 w 5971032"/>
              <a:gd name="connsiteY3" fmla="*/ 3361736 h 3361736"/>
              <a:gd name="connsiteX4" fmla="*/ 1578166 w 5971032"/>
              <a:gd name="connsiteY4" fmla="*/ 3361736 h 3361736"/>
              <a:gd name="connsiteX0" fmla="*/ 1578166 w 5971032"/>
              <a:gd name="connsiteY0" fmla="*/ 3361736 h 3361736"/>
              <a:gd name="connsiteX1" fmla="*/ 0 w 5971032"/>
              <a:gd name="connsiteY1" fmla="*/ 0 h 3361736"/>
              <a:gd name="connsiteX2" fmla="*/ 5956060 w 5971032"/>
              <a:gd name="connsiteY2" fmla="*/ 18167 h 3361736"/>
              <a:gd name="connsiteX3" fmla="*/ 5970701 w 5971032"/>
              <a:gd name="connsiteY3" fmla="*/ 3361736 h 3361736"/>
              <a:gd name="connsiteX4" fmla="*/ 1578166 w 5971032"/>
              <a:gd name="connsiteY4" fmla="*/ 3361736 h 3361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71032" h="3361736">
                <a:moveTo>
                  <a:pt x="1578166" y="3361736"/>
                </a:moveTo>
                <a:lnTo>
                  <a:pt x="0" y="0"/>
                </a:lnTo>
                <a:lnTo>
                  <a:pt x="5956060" y="18167"/>
                </a:lnTo>
                <a:cubicBezTo>
                  <a:pt x="5952866" y="1152876"/>
                  <a:pt x="5973895" y="2227027"/>
                  <a:pt x="5970701" y="3361736"/>
                </a:cubicBezTo>
                <a:lnTo>
                  <a:pt x="1578166" y="3361736"/>
                </a:lnTo>
                <a:close/>
              </a:path>
            </a:pathLst>
          </a:custGeom>
        </p:spPr>
        <p:txBody>
          <a:bodyPr/>
          <a:lstStyle>
            <a:lvl1pPr marL="0" indent="0">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add image</a:t>
            </a:r>
          </a:p>
        </p:txBody>
      </p:sp>
      <p:sp>
        <p:nvSpPr>
          <p:cNvPr id="15" name="Picture Placeholder 11">
            <a:extLst>
              <a:ext uri="{FF2B5EF4-FFF2-40B4-BE49-F238E27FC236}">
                <a16:creationId xmlns:a16="http://schemas.microsoft.com/office/drawing/2014/main" id="{1A72B707-7C36-ECD6-0B49-20B70556341D}"/>
              </a:ext>
            </a:extLst>
          </p:cNvPr>
          <p:cNvSpPr>
            <a:spLocks noGrp="1"/>
          </p:cNvSpPr>
          <p:nvPr>
            <p:ph type="pic" sz="quarter" idx="12" hasCustomPrompt="1"/>
          </p:nvPr>
        </p:nvSpPr>
        <p:spPr>
          <a:xfrm>
            <a:off x="7925690" y="3592232"/>
            <a:ext cx="4248810" cy="3278094"/>
          </a:xfrm>
          <a:custGeom>
            <a:avLst/>
            <a:gdLst>
              <a:gd name="connsiteX0" fmla="*/ 0 w 6045187"/>
              <a:gd name="connsiteY0" fmla="*/ 3404126 h 3404126"/>
              <a:gd name="connsiteX1" fmla="*/ 851032 w 6045187"/>
              <a:gd name="connsiteY1" fmla="*/ 0 h 3404126"/>
              <a:gd name="connsiteX2" fmla="*/ 5194156 w 6045187"/>
              <a:gd name="connsiteY2" fmla="*/ 0 h 3404126"/>
              <a:gd name="connsiteX3" fmla="*/ 6045187 w 6045187"/>
              <a:gd name="connsiteY3" fmla="*/ 3404126 h 3404126"/>
              <a:gd name="connsiteX4" fmla="*/ 0 w 6045187"/>
              <a:gd name="connsiteY4" fmla="*/ 3404126 h 3404126"/>
              <a:gd name="connsiteX0" fmla="*/ 789509 w 5194155"/>
              <a:gd name="connsiteY0" fmla="*/ 3404126 h 3404126"/>
              <a:gd name="connsiteX1" fmla="*/ 0 w 5194155"/>
              <a:gd name="connsiteY1" fmla="*/ 0 h 3404126"/>
              <a:gd name="connsiteX2" fmla="*/ 4343124 w 5194155"/>
              <a:gd name="connsiteY2" fmla="*/ 0 h 3404126"/>
              <a:gd name="connsiteX3" fmla="*/ 5194155 w 5194155"/>
              <a:gd name="connsiteY3" fmla="*/ 3404126 h 3404126"/>
              <a:gd name="connsiteX4" fmla="*/ 789509 w 5194155"/>
              <a:gd name="connsiteY4" fmla="*/ 3404126 h 3404126"/>
              <a:gd name="connsiteX0" fmla="*/ 1461862 w 5866508"/>
              <a:gd name="connsiteY0" fmla="*/ 3404126 h 3404126"/>
              <a:gd name="connsiteX1" fmla="*/ 0 w 5866508"/>
              <a:gd name="connsiteY1" fmla="*/ 0 h 3404126"/>
              <a:gd name="connsiteX2" fmla="*/ 5015477 w 5866508"/>
              <a:gd name="connsiteY2" fmla="*/ 0 h 3404126"/>
              <a:gd name="connsiteX3" fmla="*/ 5866508 w 5866508"/>
              <a:gd name="connsiteY3" fmla="*/ 3404126 h 3404126"/>
              <a:gd name="connsiteX4" fmla="*/ 1461862 w 5866508"/>
              <a:gd name="connsiteY4" fmla="*/ 3404126 h 3404126"/>
              <a:gd name="connsiteX0" fmla="*/ 1596333 w 6000979"/>
              <a:gd name="connsiteY0" fmla="*/ 3404126 h 3404126"/>
              <a:gd name="connsiteX1" fmla="*/ 0 w 6000979"/>
              <a:gd name="connsiteY1" fmla="*/ 0 h 3404126"/>
              <a:gd name="connsiteX2" fmla="*/ 5149948 w 6000979"/>
              <a:gd name="connsiteY2" fmla="*/ 0 h 3404126"/>
              <a:gd name="connsiteX3" fmla="*/ 6000979 w 6000979"/>
              <a:gd name="connsiteY3" fmla="*/ 3404126 h 3404126"/>
              <a:gd name="connsiteX4" fmla="*/ 1596333 w 6000979"/>
              <a:gd name="connsiteY4" fmla="*/ 3404126 h 3404126"/>
              <a:gd name="connsiteX0" fmla="*/ 1596333 w 6010560"/>
              <a:gd name="connsiteY0" fmla="*/ 3404126 h 3404126"/>
              <a:gd name="connsiteX1" fmla="*/ 0 w 6010560"/>
              <a:gd name="connsiteY1" fmla="*/ 0 h 3404126"/>
              <a:gd name="connsiteX2" fmla="*/ 6010560 w 6010560"/>
              <a:gd name="connsiteY2" fmla="*/ 0 h 3404126"/>
              <a:gd name="connsiteX3" fmla="*/ 6000979 w 6010560"/>
              <a:gd name="connsiteY3" fmla="*/ 3404126 h 3404126"/>
              <a:gd name="connsiteX4" fmla="*/ 1596333 w 6010560"/>
              <a:gd name="connsiteY4" fmla="*/ 3404126 h 3404126"/>
              <a:gd name="connsiteX0" fmla="*/ 1596333 w 6010560"/>
              <a:gd name="connsiteY0" fmla="*/ 3404126 h 3404126"/>
              <a:gd name="connsiteX1" fmla="*/ 0 w 6010560"/>
              <a:gd name="connsiteY1" fmla="*/ 0 h 3404126"/>
              <a:gd name="connsiteX2" fmla="*/ 6010560 w 6010560"/>
              <a:gd name="connsiteY2" fmla="*/ 0 h 3404126"/>
              <a:gd name="connsiteX3" fmla="*/ 6000979 w 6010560"/>
              <a:gd name="connsiteY3" fmla="*/ 3404126 h 3404126"/>
              <a:gd name="connsiteX4" fmla="*/ 1596333 w 6010560"/>
              <a:gd name="connsiteY4" fmla="*/ 3404126 h 3404126"/>
              <a:gd name="connsiteX0" fmla="*/ 1555992 w 6010560"/>
              <a:gd name="connsiteY0" fmla="*/ 3323444 h 3404126"/>
              <a:gd name="connsiteX1" fmla="*/ 0 w 6010560"/>
              <a:gd name="connsiteY1" fmla="*/ 0 h 3404126"/>
              <a:gd name="connsiteX2" fmla="*/ 6010560 w 6010560"/>
              <a:gd name="connsiteY2" fmla="*/ 0 h 3404126"/>
              <a:gd name="connsiteX3" fmla="*/ 6000979 w 6010560"/>
              <a:gd name="connsiteY3" fmla="*/ 3404126 h 3404126"/>
              <a:gd name="connsiteX4" fmla="*/ 1555992 w 6010560"/>
              <a:gd name="connsiteY4" fmla="*/ 3323444 h 3404126"/>
              <a:gd name="connsiteX0" fmla="*/ 1555992 w 6010560"/>
              <a:gd name="connsiteY0" fmla="*/ 3323444 h 3323444"/>
              <a:gd name="connsiteX1" fmla="*/ 0 w 6010560"/>
              <a:gd name="connsiteY1" fmla="*/ 0 h 3323444"/>
              <a:gd name="connsiteX2" fmla="*/ 6010560 w 6010560"/>
              <a:gd name="connsiteY2" fmla="*/ 0 h 3323444"/>
              <a:gd name="connsiteX3" fmla="*/ 6000979 w 6010560"/>
              <a:gd name="connsiteY3" fmla="*/ 3309997 h 3323444"/>
              <a:gd name="connsiteX4" fmla="*/ 1555992 w 6010560"/>
              <a:gd name="connsiteY4" fmla="*/ 3323444 h 3323444"/>
              <a:gd name="connsiteX0" fmla="*/ 1529097 w 6010560"/>
              <a:gd name="connsiteY0" fmla="*/ 3256209 h 3309997"/>
              <a:gd name="connsiteX1" fmla="*/ 0 w 6010560"/>
              <a:gd name="connsiteY1" fmla="*/ 0 h 3309997"/>
              <a:gd name="connsiteX2" fmla="*/ 6010560 w 6010560"/>
              <a:gd name="connsiteY2" fmla="*/ 0 h 3309997"/>
              <a:gd name="connsiteX3" fmla="*/ 6000979 w 6010560"/>
              <a:gd name="connsiteY3" fmla="*/ 3309997 h 3309997"/>
              <a:gd name="connsiteX4" fmla="*/ 1529097 w 6010560"/>
              <a:gd name="connsiteY4" fmla="*/ 3256209 h 3309997"/>
              <a:gd name="connsiteX0" fmla="*/ 1529097 w 6010560"/>
              <a:gd name="connsiteY0" fmla="*/ 3256209 h 3269656"/>
              <a:gd name="connsiteX1" fmla="*/ 0 w 6010560"/>
              <a:gd name="connsiteY1" fmla="*/ 0 h 3269656"/>
              <a:gd name="connsiteX2" fmla="*/ 6010560 w 6010560"/>
              <a:gd name="connsiteY2" fmla="*/ 0 h 3269656"/>
              <a:gd name="connsiteX3" fmla="*/ 6000979 w 6010560"/>
              <a:gd name="connsiteY3" fmla="*/ 3269656 h 3269656"/>
              <a:gd name="connsiteX4" fmla="*/ 1529097 w 6010560"/>
              <a:gd name="connsiteY4" fmla="*/ 3256209 h 3269656"/>
              <a:gd name="connsiteX0" fmla="*/ 1529097 w 6000983"/>
              <a:gd name="connsiteY0" fmla="*/ 3256209 h 3269656"/>
              <a:gd name="connsiteX1" fmla="*/ 0 w 6000983"/>
              <a:gd name="connsiteY1" fmla="*/ 0 h 3269656"/>
              <a:gd name="connsiteX2" fmla="*/ 4343125 w 6000983"/>
              <a:gd name="connsiteY2" fmla="*/ 0 h 3269656"/>
              <a:gd name="connsiteX3" fmla="*/ 6000979 w 6000983"/>
              <a:gd name="connsiteY3" fmla="*/ 3269656 h 3269656"/>
              <a:gd name="connsiteX4" fmla="*/ 1529097 w 6000983"/>
              <a:gd name="connsiteY4" fmla="*/ 3256209 h 3269656"/>
              <a:gd name="connsiteX0" fmla="*/ 1529097 w 4347615"/>
              <a:gd name="connsiteY0" fmla="*/ 3256209 h 3269656"/>
              <a:gd name="connsiteX1" fmla="*/ 0 w 4347615"/>
              <a:gd name="connsiteY1" fmla="*/ 0 h 3269656"/>
              <a:gd name="connsiteX2" fmla="*/ 4343125 w 4347615"/>
              <a:gd name="connsiteY2" fmla="*/ 0 h 3269656"/>
              <a:gd name="connsiteX3" fmla="*/ 4346991 w 4347615"/>
              <a:gd name="connsiteY3" fmla="*/ 3269656 h 3269656"/>
              <a:gd name="connsiteX4" fmla="*/ 1529097 w 4347615"/>
              <a:gd name="connsiteY4" fmla="*/ 3256209 h 3269656"/>
              <a:gd name="connsiteX0" fmla="*/ 1539729 w 4347615"/>
              <a:gd name="connsiteY0" fmla="*/ 3282790 h 3282790"/>
              <a:gd name="connsiteX1" fmla="*/ 0 w 4347615"/>
              <a:gd name="connsiteY1" fmla="*/ 0 h 3282790"/>
              <a:gd name="connsiteX2" fmla="*/ 4343125 w 4347615"/>
              <a:gd name="connsiteY2" fmla="*/ 0 h 3282790"/>
              <a:gd name="connsiteX3" fmla="*/ 4346991 w 4347615"/>
              <a:gd name="connsiteY3" fmla="*/ 3269656 h 3282790"/>
              <a:gd name="connsiteX4" fmla="*/ 1539729 w 4347615"/>
              <a:gd name="connsiteY4" fmla="*/ 3282790 h 3282790"/>
              <a:gd name="connsiteX0" fmla="*/ 1539729 w 4347615"/>
              <a:gd name="connsiteY0" fmla="*/ 3282790 h 3296238"/>
              <a:gd name="connsiteX1" fmla="*/ 0 w 4347615"/>
              <a:gd name="connsiteY1" fmla="*/ 0 h 3296238"/>
              <a:gd name="connsiteX2" fmla="*/ 4343125 w 4347615"/>
              <a:gd name="connsiteY2" fmla="*/ 0 h 3296238"/>
              <a:gd name="connsiteX3" fmla="*/ 4346991 w 4347615"/>
              <a:gd name="connsiteY3" fmla="*/ 3296238 h 3296238"/>
              <a:gd name="connsiteX4" fmla="*/ 1539729 w 4347615"/>
              <a:gd name="connsiteY4" fmla="*/ 3282790 h 3296238"/>
              <a:gd name="connsiteX0" fmla="*/ 1539729 w 4347086"/>
              <a:gd name="connsiteY0" fmla="*/ 3282790 h 3296238"/>
              <a:gd name="connsiteX1" fmla="*/ 0 w 4347086"/>
              <a:gd name="connsiteY1" fmla="*/ 0 h 3296238"/>
              <a:gd name="connsiteX2" fmla="*/ 4275392 w 4347086"/>
              <a:gd name="connsiteY2" fmla="*/ 0 h 3296238"/>
              <a:gd name="connsiteX3" fmla="*/ 4346991 w 4347086"/>
              <a:gd name="connsiteY3" fmla="*/ 3296238 h 3296238"/>
              <a:gd name="connsiteX4" fmla="*/ 1539729 w 4347086"/>
              <a:gd name="connsiteY4" fmla="*/ 3282790 h 3296238"/>
              <a:gd name="connsiteX0" fmla="*/ 1539729 w 4275392"/>
              <a:gd name="connsiteY0" fmla="*/ 3282790 h 3296238"/>
              <a:gd name="connsiteX1" fmla="*/ 0 w 4275392"/>
              <a:gd name="connsiteY1" fmla="*/ 0 h 3296238"/>
              <a:gd name="connsiteX2" fmla="*/ 4275392 w 4275392"/>
              <a:gd name="connsiteY2" fmla="*/ 0 h 3296238"/>
              <a:gd name="connsiteX3" fmla="*/ 4267969 w 4275392"/>
              <a:gd name="connsiteY3" fmla="*/ 3296238 h 3296238"/>
              <a:gd name="connsiteX4" fmla="*/ 1539729 w 4275392"/>
              <a:gd name="connsiteY4" fmla="*/ 3282790 h 3296238"/>
              <a:gd name="connsiteX0" fmla="*/ 1539729 w 4268246"/>
              <a:gd name="connsiteY0" fmla="*/ 3282790 h 3296238"/>
              <a:gd name="connsiteX1" fmla="*/ 0 w 4268246"/>
              <a:gd name="connsiteY1" fmla="*/ 0 h 3296238"/>
              <a:gd name="connsiteX2" fmla="*/ 4248810 w 4268246"/>
              <a:gd name="connsiteY2" fmla="*/ 0 h 3296238"/>
              <a:gd name="connsiteX3" fmla="*/ 4267969 w 4268246"/>
              <a:gd name="connsiteY3" fmla="*/ 3296238 h 3296238"/>
              <a:gd name="connsiteX4" fmla="*/ 1539729 w 4268246"/>
              <a:gd name="connsiteY4" fmla="*/ 3282790 h 3296238"/>
              <a:gd name="connsiteX0" fmla="*/ 1539729 w 4248810"/>
              <a:gd name="connsiteY0" fmla="*/ 3282790 h 3282790"/>
              <a:gd name="connsiteX1" fmla="*/ 0 w 4248810"/>
              <a:gd name="connsiteY1" fmla="*/ 0 h 3282790"/>
              <a:gd name="connsiteX2" fmla="*/ 4248810 w 4248810"/>
              <a:gd name="connsiteY2" fmla="*/ 0 h 3282790"/>
              <a:gd name="connsiteX3" fmla="*/ 4236071 w 4248810"/>
              <a:gd name="connsiteY3" fmla="*/ 3274973 h 3282790"/>
              <a:gd name="connsiteX4" fmla="*/ 1539729 w 4248810"/>
              <a:gd name="connsiteY4" fmla="*/ 3282790 h 3282790"/>
              <a:gd name="connsiteX0" fmla="*/ 1534412 w 4248810"/>
              <a:gd name="connsiteY0" fmla="*/ 3272157 h 3274973"/>
              <a:gd name="connsiteX1" fmla="*/ 0 w 4248810"/>
              <a:gd name="connsiteY1" fmla="*/ 0 h 3274973"/>
              <a:gd name="connsiteX2" fmla="*/ 4248810 w 4248810"/>
              <a:gd name="connsiteY2" fmla="*/ 0 h 3274973"/>
              <a:gd name="connsiteX3" fmla="*/ 4236071 w 4248810"/>
              <a:gd name="connsiteY3" fmla="*/ 3274973 h 3274973"/>
              <a:gd name="connsiteX4" fmla="*/ 1534412 w 4248810"/>
              <a:gd name="connsiteY4" fmla="*/ 3272157 h 3274973"/>
              <a:gd name="connsiteX0" fmla="*/ 1486911 w 4248810"/>
              <a:gd name="connsiteY0" fmla="*/ 3278094 h 3278094"/>
              <a:gd name="connsiteX1" fmla="*/ 0 w 4248810"/>
              <a:gd name="connsiteY1" fmla="*/ 0 h 3278094"/>
              <a:gd name="connsiteX2" fmla="*/ 4248810 w 4248810"/>
              <a:gd name="connsiteY2" fmla="*/ 0 h 3278094"/>
              <a:gd name="connsiteX3" fmla="*/ 4236071 w 4248810"/>
              <a:gd name="connsiteY3" fmla="*/ 3274973 h 3278094"/>
              <a:gd name="connsiteX4" fmla="*/ 1486911 w 4248810"/>
              <a:gd name="connsiteY4" fmla="*/ 3278094 h 3278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8810" h="3278094">
                <a:moveTo>
                  <a:pt x="1486911" y="3278094"/>
                </a:moveTo>
                <a:lnTo>
                  <a:pt x="0" y="0"/>
                </a:lnTo>
                <a:lnTo>
                  <a:pt x="4248810" y="0"/>
                </a:lnTo>
                <a:cubicBezTo>
                  <a:pt x="4245616" y="1134709"/>
                  <a:pt x="4239265" y="2140264"/>
                  <a:pt x="4236071" y="3274973"/>
                </a:cubicBezTo>
                <a:lnTo>
                  <a:pt x="1486911" y="3278094"/>
                </a:lnTo>
                <a:close/>
              </a:path>
            </a:pathLst>
          </a:custGeom>
        </p:spPr>
        <p:txBody>
          <a:bodyPr/>
          <a:lstStyle>
            <a:lvl1pPr marL="0" indent="0">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add image</a:t>
            </a:r>
          </a:p>
        </p:txBody>
      </p:sp>
      <p:sp>
        <p:nvSpPr>
          <p:cNvPr id="3" name="Caption text">
            <a:extLst>
              <a:ext uri="{FF2B5EF4-FFF2-40B4-BE49-F238E27FC236}">
                <a16:creationId xmlns:a16="http://schemas.microsoft.com/office/drawing/2014/main" id="{0DE8C509-C12F-0D6D-D3B9-DD704095441F}"/>
              </a:ext>
            </a:extLst>
          </p:cNvPr>
          <p:cNvSpPr>
            <a:spLocks noGrp="1"/>
          </p:cNvSpPr>
          <p:nvPr>
            <p:ph type="body" sz="half" idx="2" hasCustomPrompt="1"/>
          </p:nvPr>
        </p:nvSpPr>
        <p:spPr>
          <a:xfrm>
            <a:off x="0" y="0"/>
            <a:ext cx="2181100" cy="1270660"/>
          </a:xfrm>
          <a:prstGeom prst="rect">
            <a:avLst/>
          </a:prstGeom>
          <a:solidFill>
            <a:schemeClr val="bg1"/>
          </a:solidFill>
        </p:spPr>
        <p:txBody>
          <a:bodyPr anchor="ctr"/>
          <a:lstStyle>
            <a:lvl1pPr marL="0" indent="0" algn="ctr">
              <a:buNone/>
              <a:defRPr sz="2000" b="0">
                <a:solidFill>
                  <a:srgbClr val="3172AE"/>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Caption text</a:t>
            </a:r>
          </a:p>
        </p:txBody>
      </p:sp>
    </p:spTree>
    <p:extLst>
      <p:ext uri="{BB962C8B-B14F-4D97-AF65-F5344CB8AC3E}">
        <p14:creationId xmlns:p14="http://schemas.microsoft.com/office/powerpoint/2010/main" val="9074048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A blue green and yellow squares  Description automatically generated">
            <a:extLst>
              <a:ext uri="{FF2B5EF4-FFF2-40B4-BE49-F238E27FC236}">
                <a16:creationId xmlns:a16="http://schemas.microsoft.com/office/drawing/2014/main" id="{47203D4E-3E31-637A-41E4-9C79F3E6A555}"/>
              </a:ext>
            </a:extLst>
          </p:cNvPr>
          <p:cNvPicPr>
            <a:picLocks noChangeAspect="1"/>
          </p:cNvPicPr>
          <p:nvPr userDrawn="1"/>
        </p:nvPicPr>
        <p:blipFill>
          <a:blip r:embed="rId3"/>
          <a:stretch>
            <a:fillRect/>
          </a:stretch>
        </p:blipFill>
        <p:spPr>
          <a:xfrm>
            <a:off x="0" y="0"/>
            <a:ext cx="12186834" cy="6855094"/>
          </a:xfrm>
          <a:prstGeom prst="rect">
            <a:avLst/>
          </a:prstGeom>
        </p:spPr>
      </p:pic>
      <p:pic>
        <p:nvPicPr>
          <p:cNvPr id="4" name="Picture 3" descr="Blue text on a black background  Description automatically generated">
            <a:extLst>
              <a:ext uri="{FF2B5EF4-FFF2-40B4-BE49-F238E27FC236}">
                <a16:creationId xmlns:a16="http://schemas.microsoft.com/office/drawing/2014/main" id="{1DD13B68-307E-1F4D-8324-F536B1DEA2E7}"/>
              </a:ext>
            </a:extLst>
          </p:cNvPr>
          <p:cNvPicPr>
            <a:picLocks noChangeAspect="1"/>
          </p:cNvPicPr>
          <p:nvPr userDrawn="1"/>
        </p:nvPicPr>
        <p:blipFill>
          <a:blip r:embed="rId4"/>
          <a:stretch>
            <a:fillRect/>
          </a:stretch>
        </p:blipFill>
        <p:spPr>
          <a:xfrm>
            <a:off x="5166" y="10353"/>
            <a:ext cx="2296899" cy="1492983"/>
          </a:xfrm>
          <a:prstGeom prst="rect">
            <a:avLst/>
          </a:prstGeom>
        </p:spPr>
      </p:pic>
    </p:spTree>
    <p:extLst>
      <p:ext uri="{BB962C8B-B14F-4D97-AF65-F5344CB8AC3E}">
        <p14:creationId xmlns:p14="http://schemas.microsoft.com/office/powerpoint/2010/main" val="288097735"/>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A white background with blue and green squares  Description automatically generated">
            <a:extLst>
              <a:ext uri="{FF2B5EF4-FFF2-40B4-BE49-F238E27FC236}">
                <a16:creationId xmlns:a16="http://schemas.microsoft.com/office/drawing/2014/main" id="{838D4C41-C3EC-5A64-0ABC-2A2BF95BAE91}"/>
              </a:ext>
            </a:extLst>
          </p:cNvPr>
          <p:cNvPicPr>
            <a:picLocks noChangeAspect="1"/>
          </p:cNvPicPr>
          <p:nvPr userDrawn="1"/>
        </p:nvPicPr>
        <p:blipFill>
          <a:blip r:embed="rId8"/>
          <a:stretch>
            <a:fillRect/>
          </a:stretch>
        </p:blipFill>
        <p:spPr>
          <a:xfrm flipV="1">
            <a:off x="0" y="69574"/>
            <a:ext cx="12192000" cy="6858000"/>
          </a:xfrm>
          <a:prstGeom prst="rect">
            <a:avLst/>
          </a:prstGeom>
        </p:spPr>
      </p:pic>
      <p:sp>
        <p:nvSpPr>
          <p:cNvPr id="9" name="Subtitle 2">
            <a:extLst>
              <a:ext uri="{FF2B5EF4-FFF2-40B4-BE49-F238E27FC236}">
                <a16:creationId xmlns:a16="http://schemas.microsoft.com/office/drawing/2014/main" id="{609E4D5C-9B53-A363-01B7-19A206E0E676}"/>
              </a:ext>
            </a:extLst>
          </p:cNvPr>
          <p:cNvSpPr txBox="1">
            <a:spLocks/>
          </p:cNvSpPr>
          <p:nvPr userDrawn="1"/>
        </p:nvSpPr>
        <p:spPr>
          <a:xfrm>
            <a:off x="1328896" y="6334130"/>
            <a:ext cx="6979920" cy="277055"/>
          </a:xfrm>
          <a:prstGeom prst="rect">
            <a:avLst/>
          </a:prstGeom>
        </p:spPr>
        <p:txBody>
          <a:bodyPr>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a:solidFill>
                  <a:schemeClr val="tx1">
                    <a:lumMod val="50000"/>
                    <a:lumOff val="50000"/>
                  </a:schemeClr>
                </a:solidFill>
              </a:rPr>
              <a:t>TTS Research Technology</a:t>
            </a:r>
          </a:p>
          <a:p>
            <a:endParaRPr lang="en-US" sz="1400">
              <a:solidFill>
                <a:schemeClr val="tx1">
                  <a:lumMod val="50000"/>
                  <a:lumOff val="50000"/>
                </a:schemeClr>
              </a:solidFill>
            </a:endParaRPr>
          </a:p>
        </p:txBody>
      </p:sp>
      <p:pic>
        <p:nvPicPr>
          <p:cNvPr id="6" name="Picture 5" descr="Blue text on a black background  Description automatically generated">
            <a:extLst>
              <a:ext uri="{FF2B5EF4-FFF2-40B4-BE49-F238E27FC236}">
                <a16:creationId xmlns:a16="http://schemas.microsoft.com/office/drawing/2014/main" id="{D4169D26-9FA1-18CE-84B8-BF1B03A3C2BB}"/>
              </a:ext>
            </a:extLst>
          </p:cNvPr>
          <p:cNvPicPr>
            <a:picLocks noChangeAspect="1"/>
          </p:cNvPicPr>
          <p:nvPr userDrawn="1"/>
        </p:nvPicPr>
        <p:blipFill>
          <a:blip r:embed="rId9"/>
          <a:stretch>
            <a:fillRect/>
          </a:stretch>
        </p:blipFill>
        <p:spPr>
          <a:xfrm>
            <a:off x="58487" y="6025662"/>
            <a:ext cx="1280520" cy="832338"/>
          </a:xfrm>
          <a:prstGeom prst="rect">
            <a:avLst/>
          </a:prstGeom>
        </p:spPr>
      </p:pic>
    </p:spTree>
    <p:extLst>
      <p:ext uri="{BB962C8B-B14F-4D97-AF65-F5344CB8AC3E}">
        <p14:creationId xmlns:p14="http://schemas.microsoft.com/office/powerpoint/2010/main" val="3060366166"/>
      </p:ext>
    </p:extLst>
  </p:cSld>
  <p:clrMap bg1="lt1" tx1="dk1" bg2="lt2" tx2="dk2" accent1="accent1" accent2="accent2" accent3="accent3" accent4="accent4" accent5="accent5" accent6="accent6" hlink="hlink" folHlink="folHlink"/>
  <p:sldLayoutIdLst>
    <p:sldLayoutId id="2147483703" r:id="rId1"/>
    <p:sldLayoutId id="2147483716" r:id="rId2"/>
    <p:sldLayoutId id="2147483717" r:id="rId3"/>
    <p:sldLayoutId id="2147483718" r:id="rId4"/>
    <p:sldLayoutId id="2147483719" r:id="rId5"/>
    <p:sldLayoutId id="2147483722"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609E4D5C-9B53-A363-01B7-19A206E0E676}"/>
              </a:ext>
            </a:extLst>
          </p:cNvPr>
          <p:cNvSpPr txBox="1">
            <a:spLocks/>
          </p:cNvSpPr>
          <p:nvPr userDrawn="1"/>
        </p:nvSpPr>
        <p:spPr>
          <a:xfrm>
            <a:off x="1328896" y="6334130"/>
            <a:ext cx="6979920" cy="277055"/>
          </a:xfrm>
          <a:prstGeom prst="rect">
            <a:avLst/>
          </a:prstGeom>
        </p:spPr>
        <p:txBody>
          <a:bodyPr>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a:solidFill>
                  <a:schemeClr val="tx1">
                    <a:lumMod val="50000"/>
                    <a:lumOff val="50000"/>
                  </a:schemeClr>
                </a:solidFill>
              </a:rPr>
              <a:t>School, department, or center name</a:t>
            </a:r>
          </a:p>
        </p:txBody>
      </p:sp>
      <p:pic>
        <p:nvPicPr>
          <p:cNvPr id="2" name="Picture 1" descr="Blue text on a black background  Description automatically generated">
            <a:extLst>
              <a:ext uri="{FF2B5EF4-FFF2-40B4-BE49-F238E27FC236}">
                <a16:creationId xmlns:a16="http://schemas.microsoft.com/office/drawing/2014/main" id="{D55BDAAC-2064-0DAA-9CED-C65EEA8BE93A}"/>
              </a:ext>
            </a:extLst>
          </p:cNvPr>
          <p:cNvPicPr>
            <a:picLocks noChangeAspect="1"/>
          </p:cNvPicPr>
          <p:nvPr userDrawn="1"/>
        </p:nvPicPr>
        <p:blipFill>
          <a:blip r:embed="rId3"/>
          <a:stretch>
            <a:fillRect/>
          </a:stretch>
        </p:blipFill>
        <p:spPr>
          <a:xfrm>
            <a:off x="58487" y="6025662"/>
            <a:ext cx="1280520" cy="832338"/>
          </a:xfrm>
          <a:prstGeom prst="rect">
            <a:avLst/>
          </a:prstGeom>
        </p:spPr>
      </p:pic>
    </p:spTree>
    <p:extLst>
      <p:ext uri="{BB962C8B-B14F-4D97-AF65-F5344CB8AC3E}">
        <p14:creationId xmlns:p14="http://schemas.microsoft.com/office/powerpoint/2010/main" val="3098123437"/>
      </p:ext>
    </p:extLst>
  </p:cSld>
  <p:clrMap bg1="lt1" tx1="dk1" bg2="lt2" tx2="dk2" accent1="accent1" accent2="accent2" accent3="accent3" accent4="accent4" accent5="accent5" accent6="accent6" hlink="hlink" folHlink="folHlink"/>
  <p:sldLayoutIdLst>
    <p:sldLayoutId id="214748372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A4F7F3-4D87-7012-A102-59C39C3522F6}"/>
              </a:ext>
            </a:extLst>
          </p:cNvPr>
          <p:cNvSpPr>
            <a:spLocks noGrp="1"/>
          </p:cNvSpPr>
          <p:nvPr>
            <p:ph type="ctrTitle"/>
          </p:nvPr>
        </p:nvSpPr>
        <p:spPr>
          <a:xfrm>
            <a:off x="361215" y="2144997"/>
            <a:ext cx="8072277" cy="1421928"/>
          </a:xfrm>
        </p:spPr>
        <p:txBody>
          <a:bodyPr/>
          <a:lstStyle/>
          <a:p>
            <a:r>
              <a:rPr lang="en-US" sz="3200" dirty="0"/>
              <a:t>Automating Container Builds with GitHub Actions: </a:t>
            </a:r>
            <a:br>
              <a:rPr lang="en-US" sz="3200" dirty="0"/>
            </a:br>
            <a:r>
              <a:rPr lang="en-US" sz="3200" dirty="0"/>
              <a:t>From Code to Docker Hub</a:t>
            </a:r>
          </a:p>
        </p:txBody>
      </p:sp>
      <p:sp>
        <p:nvSpPr>
          <p:cNvPr id="6" name="Subtitle 5">
            <a:extLst>
              <a:ext uri="{FF2B5EF4-FFF2-40B4-BE49-F238E27FC236}">
                <a16:creationId xmlns:a16="http://schemas.microsoft.com/office/drawing/2014/main" id="{E62793F6-F5B5-3DDA-73E2-B25EC725E108}"/>
              </a:ext>
            </a:extLst>
          </p:cNvPr>
          <p:cNvSpPr>
            <a:spLocks noGrp="1"/>
          </p:cNvSpPr>
          <p:nvPr>
            <p:ph type="subTitle" idx="1"/>
          </p:nvPr>
        </p:nvSpPr>
        <p:spPr>
          <a:xfrm>
            <a:off x="361215" y="3644142"/>
            <a:ext cx="6979920" cy="2028248"/>
          </a:xfrm>
        </p:spPr>
        <p:txBody>
          <a:bodyPr/>
          <a:lstStyle/>
          <a:p>
            <a:r>
              <a:rPr lang="en-US" dirty="0">
                <a:solidFill>
                  <a:schemeClr val="tx1">
                    <a:lumMod val="65000"/>
                    <a:lumOff val="35000"/>
                  </a:schemeClr>
                </a:solidFill>
              </a:rPr>
              <a:t>Yucheng Zhang</a:t>
            </a:r>
          </a:p>
          <a:p>
            <a:r>
              <a:rPr lang="en-US" dirty="0" err="1">
                <a:solidFill>
                  <a:schemeClr val="tx1">
                    <a:lumMod val="65000"/>
                    <a:lumOff val="35000"/>
                  </a:schemeClr>
                </a:solidFill>
              </a:rPr>
              <a:t>yucheng.zhang@tufts.edu</a:t>
            </a:r>
            <a:endParaRPr lang="en-US" dirty="0">
              <a:solidFill>
                <a:schemeClr val="tx1">
                  <a:lumMod val="65000"/>
                  <a:lumOff val="35000"/>
                </a:schemeClr>
              </a:solidFill>
            </a:endParaRPr>
          </a:p>
          <a:p>
            <a:r>
              <a:rPr lang="en-US" dirty="0">
                <a:solidFill>
                  <a:schemeClr val="tx1">
                    <a:lumMod val="65000"/>
                    <a:lumOff val="35000"/>
                  </a:schemeClr>
                </a:solidFill>
              </a:rPr>
              <a:t>Senior Bioinformatics Engineer</a:t>
            </a:r>
          </a:p>
          <a:p>
            <a:r>
              <a:rPr lang="en-US" dirty="0">
                <a:solidFill>
                  <a:schemeClr val="tx1">
                    <a:lumMod val="65000"/>
                    <a:lumOff val="35000"/>
                  </a:schemeClr>
                </a:solidFill>
              </a:rPr>
              <a:t>TTS Research Technology</a:t>
            </a:r>
          </a:p>
        </p:txBody>
      </p:sp>
    </p:spTree>
    <p:extLst>
      <p:ext uri="{BB962C8B-B14F-4D97-AF65-F5344CB8AC3E}">
        <p14:creationId xmlns:p14="http://schemas.microsoft.com/office/powerpoint/2010/main" val="3010642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8CC2C52-5C76-9A6B-D6CE-52E02EB2768F}"/>
              </a:ext>
            </a:extLst>
          </p:cNvPr>
          <p:cNvSpPr>
            <a:spLocks noGrp="1"/>
          </p:cNvSpPr>
          <p:nvPr>
            <p:ph type="ctrTitle"/>
          </p:nvPr>
        </p:nvSpPr>
        <p:spPr/>
        <p:txBody>
          <a:bodyPr/>
          <a:lstStyle/>
          <a:p>
            <a:r>
              <a:rPr lang="en-US"/>
              <a:t>Agenda</a:t>
            </a:r>
          </a:p>
        </p:txBody>
      </p:sp>
      <p:sp>
        <p:nvSpPr>
          <p:cNvPr id="10" name="Text Placeholder 9">
            <a:extLst>
              <a:ext uri="{FF2B5EF4-FFF2-40B4-BE49-F238E27FC236}">
                <a16:creationId xmlns:a16="http://schemas.microsoft.com/office/drawing/2014/main" id="{BF3B9BDD-E21B-2944-56E3-32B5FEA2E7D3}"/>
              </a:ext>
            </a:extLst>
          </p:cNvPr>
          <p:cNvSpPr>
            <a:spLocks noGrp="1"/>
          </p:cNvSpPr>
          <p:nvPr>
            <p:ph type="body" sz="half" idx="10"/>
          </p:nvPr>
        </p:nvSpPr>
        <p:spPr>
          <a:xfrm>
            <a:off x="774171" y="1622352"/>
            <a:ext cx="10643658" cy="3317062"/>
          </a:xfrm>
          <a:prstGeom prst="rect">
            <a:avLst/>
          </a:prstGeom>
        </p:spPr>
        <p:txBody>
          <a:bodyPr/>
          <a:lstStyle/>
          <a:p>
            <a:pPr marL="342900" indent="-342900">
              <a:lnSpc>
                <a:spcPct val="200000"/>
              </a:lnSpc>
              <a:buFont typeface="Wingdings" pitchFamily="2" charset="2"/>
              <a:buChar char="v"/>
            </a:pPr>
            <a:r>
              <a:rPr lang="en-US" dirty="0"/>
              <a:t>Containers</a:t>
            </a:r>
          </a:p>
          <a:p>
            <a:pPr marL="342900" indent="-342900">
              <a:lnSpc>
                <a:spcPct val="200000"/>
              </a:lnSpc>
              <a:buFont typeface="Wingdings" pitchFamily="2" charset="2"/>
              <a:buChar char="v"/>
            </a:pPr>
            <a:r>
              <a:rPr lang="en-US" dirty="0"/>
              <a:t>CI/CD &amp; GitHub Actions</a:t>
            </a:r>
          </a:p>
          <a:p>
            <a:pPr marL="342900" indent="-342900">
              <a:lnSpc>
                <a:spcPct val="200000"/>
              </a:lnSpc>
              <a:buFont typeface="Wingdings" pitchFamily="2" charset="2"/>
              <a:buChar char="v"/>
            </a:pPr>
            <a:r>
              <a:rPr lang="en-US" dirty="0"/>
              <a:t>GitHub Actions for Docker builds </a:t>
            </a:r>
          </a:p>
          <a:p>
            <a:pPr marL="342900" indent="-342900">
              <a:lnSpc>
                <a:spcPct val="200000"/>
              </a:lnSpc>
              <a:buFont typeface="Wingdings" pitchFamily="2" charset="2"/>
              <a:buChar char="v"/>
            </a:pPr>
            <a:r>
              <a:rPr lang="en-US" dirty="0"/>
              <a:t>Demo</a:t>
            </a:r>
          </a:p>
        </p:txBody>
      </p:sp>
    </p:spTree>
    <p:extLst>
      <p:ext uri="{BB962C8B-B14F-4D97-AF65-F5344CB8AC3E}">
        <p14:creationId xmlns:p14="http://schemas.microsoft.com/office/powerpoint/2010/main" val="1372668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7756E-6B90-E471-0BC1-BB2F86E8D237}"/>
              </a:ext>
            </a:extLst>
          </p:cNvPr>
          <p:cNvSpPr>
            <a:spLocks noGrp="1"/>
          </p:cNvSpPr>
          <p:nvPr>
            <p:ph type="ctrTitle"/>
          </p:nvPr>
        </p:nvSpPr>
        <p:spPr/>
        <p:txBody>
          <a:bodyPr/>
          <a:lstStyle/>
          <a:p>
            <a:r>
              <a:rPr lang="en-US" dirty="0"/>
              <a:t>01 Containers</a:t>
            </a:r>
          </a:p>
        </p:txBody>
      </p:sp>
      <p:sp>
        <p:nvSpPr>
          <p:cNvPr id="3" name="Subtitle 2">
            <a:extLst>
              <a:ext uri="{FF2B5EF4-FFF2-40B4-BE49-F238E27FC236}">
                <a16:creationId xmlns:a16="http://schemas.microsoft.com/office/drawing/2014/main" id="{6FBAC139-510D-0BCA-6FBF-B91CE5F6B1A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15517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3673C9-235C-AD70-8F72-229DCA4C6500}"/>
              </a:ext>
            </a:extLst>
          </p:cNvPr>
          <p:cNvPicPr>
            <a:picLocks noChangeAspect="1"/>
          </p:cNvPicPr>
          <p:nvPr/>
        </p:nvPicPr>
        <p:blipFill>
          <a:blip r:embed="rId3"/>
          <a:stretch>
            <a:fillRect/>
          </a:stretch>
        </p:blipFill>
        <p:spPr>
          <a:xfrm>
            <a:off x="1433384" y="0"/>
            <a:ext cx="9045145" cy="6030096"/>
          </a:xfrm>
          <a:prstGeom prst="rect">
            <a:avLst/>
          </a:prstGeom>
        </p:spPr>
      </p:pic>
    </p:spTree>
    <p:extLst>
      <p:ext uri="{BB962C8B-B14F-4D97-AF65-F5344CB8AC3E}">
        <p14:creationId xmlns:p14="http://schemas.microsoft.com/office/powerpoint/2010/main" val="241128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7B33F6-B006-B3B8-4F89-28D0C488433A}"/>
              </a:ext>
            </a:extLst>
          </p:cNvPr>
          <p:cNvSpPr>
            <a:spLocks noGrp="1"/>
          </p:cNvSpPr>
          <p:nvPr>
            <p:ph type="body" sz="quarter" idx="12"/>
          </p:nvPr>
        </p:nvSpPr>
        <p:spPr>
          <a:xfrm>
            <a:off x="629389" y="1858214"/>
            <a:ext cx="5685344" cy="2187971"/>
          </a:xfrm>
        </p:spPr>
        <p:txBody>
          <a:bodyPr/>
          <a:lstStyle/>
          <a:p>
            <a:r>
              <a:rPr lang="en-US" b="0" dirty="0"/>
              <a:t>Containerize applications</a:t>
            </a:r>
          </a:p>
          <a:p>
            <a:r>
              <a:rPr lang="en-US" b="0" dirty="0"/>
              <a:t>Run each service/application with its own dependencies in separate containers</a:t>
            </a:r>
          </a:p>
        </p:txBody>
      </p:sp>
      <p:sp>
        <p:nvSpPr>
          <p:cNvPr id="3" name="Title 2">
            <a:extLst>
              <a:ext uri="{FF2B5EF4-FFF2-40B4-BE49-F238E27FC236}">
                <a16:creationId xmlns:a16="http://schemas.microsoft.com/office/drawing/2014/main" id="{01DF2ED6-41E7-2B00-9240-D1D79809EE53}"/>
              </a:ext>
            </a:extLst>
          </p:cNvPr>
          <p:cNvSpPr>
            <a:spLocks noGrp="1"/>
          </p:cNvSpPr>
          <p:nvPr>
            <p:ph type="ctrTitle"/>
          </p:nvPr>
        </p:nvSpPr>
        <p:spPr>
          <a:xfrm>
            <a:off x="629389" y="357095"/>
            <a:ext cx="7089847" cy="618631"/>
          </a:xfrm>
        </p:spPr>
        <p:txBody>
          <a:bodyPr/>
          <a:lstStyle/>
          <a:p>
            <a:r>
              <a:rPr lang="en-US" dirty="0"/>
              <a:t>What can container do?</a:t>
            </a:r>
          </a:p>
        </p:txBody>
      </p:sp>
      <p:pic>
        <p:nvPicPr>
          <p:cNvPr id="5" name="Picture 4">
            <a:extLst>
              <a:ext uri="{FF2B5EF4-FFF2-40B4-BE49-F238E27FC236}">
                <a16:creationId xmlns:a16="http://schemas.microsoft.com/office/drawing/2014/main" id="{37D437AB-33B7-9890-4C98-596E52E45B49}"/>
              </a:ext>
            </a:extLst>
          </p:cNvPr>
          <p:cNvPicPr>
            <a:picLocks noChangeAspect="1"/>
          </p:cNvPicPr>
          <p:nvPr/>
        </p:nvPicPr>
        <p:blipFill>
          <a:blip r:embed="rId3"/>
          <a:srcRect l="5456" t="4740" r="5751" b="16055"/>
          <a:stretch>
            <a:fillRect/>
          </a:stretch>
        </p:blipFill>
        <p:spPr>
          <a:xfrm>
            <a:off x="6096000" y="1445741"/>
            <a:ext cx="6036857" cy="3589966"/>
          </a:xfrm>
          <a:prstGeom prst="rect">
            <a:avLst/>
          </a:prstGeom>
        </p:spPr>
      </p:pic>
    </p:spTree>
    <p:extLst>
      <p:ext uri="{BB962C8B-B14F-4D97-AF65-F5344CB8AC3E}">
        <p14:creationId xmlns:p14="http://schemas.microsoft.com/office/powerpoint/2010/main" val="3031974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CD151F-9977-F249-B2A2-DA164B7C2D0C}"/>
              </a:ext>
            </a:extLst>
          </p:cNvPr>
          <p:cNvSpPr>
            <a:spLocks noGrp="1"/>
          </p:cNvSpPr>
          <p:nvPr>
            <p:ph type="ctrTitle"/>
          </p:nvPr>
        </p:nvSpPr>
        <p:spPr>
          <a:xfrm>
            <a:off x="629390" y="357095"/>
            <a:ext cx="8780424" cy="618631"/>
          </a:xfrm>
        </p:spPr>
        <p:txBody>
          <a:bodyPr/>
          <a:lstStyle/>
          <a:p>
            <a:r>
              <a:rPr lang="en-US" dirty="0"/>
              <a:t>Why Use Containers?</a:t>
            </a:r>
          </a:p>
        </p:txBody>
      </p:sp>
      <p:pic>
        <p:nvPicPr>
          <p:cNvPr id="2" name="Picture 1">
            <a:extLst>
              <a:ext uri="{FF2B5EF4-FFF2-40B4-BE49-F238E27FC236}">
                <a16:creationId xmlns:a16="http://schemas.microsoft.com/office/drawing/2014/main" id="{83D7616C-0D33-D8BE-6853-35689109B059}"/>
              </a:ext>
            </a:extLst>
          </p:cNvPr>
          <p:cNvPicPr>
            <a:picLocks noChangeAspect="1"/>
          </p:cNvPicPr>
          <p:nvPr/>
        </p:nvPicPr>
        <p:blipFill>
          <a:blip r:embed="rId3"/>
          <a:srcRect t="11463"/>
          <a:stretch>
            <a:fillRect/>
          </a:stretch>
        </p:blipFill>
        <p:spPr>
          <a:xfrm>
            <a:off x="1290972" y="1185713"/>
            <a:ext cx="9718898" cy="5736530"/>
          </a:xfrm>
          <a:prstGeom prst="rect">
            <a:avLst/>
          </a:prstGeom>
        </p:spPr>
      </p:pic>
    </p:spTree>
    <p:extLst>
      <p:ext uri="{BB962C8B-B14F-4D97-AF65-F5344CB8AC3E}">
        <p14:creationId xmlns:p14="http://schemas.microsoft.com/office/powerpoint/2010/main" val="1457950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EFC772-EC57-4A9B-5C3F-B54C3A86A3E7}"/>
              </a:ext>
            </a:extLst>
          </p:cNvPr>
          <p:cNvSpPr>
            <a:spLocks noGrp="1"/>
          </p:cNvSpPr>
          <p:nvPr>
            <p:ph type="body" sz="quarter" idx="12"/>
          </p:nvPr>
        </p:nvSpPr>
        <p:spPr>
          <a:xfrm>
            <a:off x="849084" y="2150100"/>
            <a:ext cx="11167634" cy="3803798"/>
          </a:xfrm>
        </p:spPr>
        <p:txBody>
          <a:bodyPr/>
          <a:lstStyle/>
          <a:p>
            <a:r>
              <a:rPr lang="en-US" sz="2000" b="0" dirty="0"/>
              <a:t>Singularity, the container runtime, is the most heavily used application on the HPC system.</a:t>
            </a:r>
          </a:p>
          <a:p>
            <a:r>
              <a:rPr lang="en-US" sz="2000" b="0" dirty="0"/>
              <a:t>All AI tools running on the HPC system are delivered through containers.</a:t>
            </a:r>
          </a:p>
          <a:p>
            <a:r>
              <a:rPr lang="en-US" sz="2000" b="0" dirty="0"/>
              <a:t>Most applications that support NVIDIA GPUs are container-based.</a:t>
            </a:r>
          </a:p>
          <a:p>
            <a:r>
              <a:rPr lang="en-US" sz="2000" b="0" dirty="0"/>
              <a:t>Bioinformatics software stacks are built on containers.</a:t>
            </a:r>
          </a:p>
          <a:p>
            <a:r>
              <a:rPr lang="en-US" sz="2000" b="0" dirty="0"/>
              <a:t>Course computing environments that rely on HPC are provided through containers.</a:t>
            </a:r>
          </a:p>
          <a:p>
            <a:r>
              <a:rPr lang="en-US" sz="2000" b="0" dirty="0"/>
              <a:t>R, RStudio, </a:t>
            </a:r>
            <a:r>
              <a:rPr lang="en-US" sz="2000" b="0" dirty="0" err="1"/>
              <a:t>Jupyter</a:t>
            </a:r>
            <a:r>
              <a:rPr lang="en-US" sz="2000" b="0" dirty="0"/>
              <a:t> Notebook, and many other commonly used applications run in containers.</a:t>
            </a:r>
          </a:p>
          <a:p>
            <a:r>
              <a:rPr lang="en-US" sz="2000" b="0" dirty="0"/>
              <a:t>And much more.</a:t>
            </a:r>
          </a:p>
        </p:txBody>
      </p:sp>
      <p:sp>
        <p:nvSpPr>
          <p:cNvPr id="3" name="Title 2">
            <a:extLst>
              <a:ext uri="{FF2B5EF4-FFF2-40B4-BE49-F238E27FC236}">
                <a16:creationId xmlns:a16="http://schemas.microsoft.com/office/drawing/2014/main" id="{3ADB2242-F2BD-8B0A-D81E-34CAC9EF8C20}"/>
              </a:ext>
            </a:extLst>
          </p:cNvPr>
          <p:cNvSpPr>
            <a:spLocks noGrp="1"/>
          </p:cNvSpPr>
          <p:nvPr>
            <p:ph type="ctrTitle"/>
          </p:nvPr>
        </p:nvSpPr>
        <p:spPr>
          <a:xfrm>
            <a:off x="849084" y="259559"/>
            <a:ext cx="9770386" cy="618631"/>
          </a:xfrm>
        </p:spPr>
        <p:txBody>
          <a:bodyPr/>
          <a:lstStyle/>
          <a:p>
            <a:r>
              <a:rPr lang="en-US" dirty="0"/>
              <a:t>What do containers mean for Tufts HPC? </a:t>
            </a:r>
          </a:p>
        </p:txBody>
      </p:sp>
      <p:sp>
        <p:nvSpPr>
          <p:cNvPr id="6" name="TextBox 5">
            <a:extLst>
              <a:ext uri="{FF2B5EF4-FFF2-40B4-BE49-F238E27FC236}">
                <a16:creationId xmlns:a16="http://schemas.microsoft.com/office/drawing/2014/main" id="{D212B592-7189-A556-F19F-5D885243DF61}"/>
              </a:ext>
            </a:extLst>
          </p:cNvPr>
          <p:cNvSpPr txBox="1"/>
          <p:nvPr/>
        </p:nvSpPr>
        <p:spPr>
          <a:xfrm>
            <a:off x="849084" y="904102"/>
            <a:ext cx="11001540" cy="1200329"/>
          </a:xfrm>
          <a:prstGeom prst="rect">
            <a:avLst/>
          </a:prstGeom>
          <a:noFill/>
        </p:spPr>
        <p:txBody>
          <a:bodyPr wrap="square">
            <a:spAutoFit/>
          </a:bodyPr>
          <a:lstStyle/>
          <a:p>
            <a:pPr>
              <a:buNone/>
            </a:pPr>
            <a:r>
              <a:rPr lang="en-US" sz="2400" dirty="0">
                <a:latin typeface="Arial" panose="020B0604020202020204" pitchFamily="34" charset="0"/>
                <a:cs typeface="Arial" panose="020B0604020202020204" pitchFamily="34" charset="0"/>
              </a:rPr>
              <a:t>Containers are a core part of the Tufts HPC ecosystem. They support a large share of the software and workflows used across research, teaching, and AI computing.</a:t>
            </a:r>
          </a:p>
        </p:txBody>
      </p:sp>
    </p:spTree>
    <p:extLst>
      <p:ext uri="{BB962C8B-B14F-4D97-AF65-F5344CB8AC3E}">
        <p14:creationId xmlns:p14="http://schemas.microsoft.com/office/powerpoint/2010/main" val="1008921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17E4D1-B92E-0D9C-182C-2F563EC5F37C}"/>
              </a:ext>
            </a:extLst>
          </p:cNvPr>
          <p:cNvPicPr>
            <a:picLocks noChangeAspect="1"/>
          </p:cNvPicPr>
          <p:nvPr/>
        </p:nvPicPr>
        <p:blipFill>
          <a:blip r:embed="rId3"/>
          <a:stretch>
            <a:fillRect/>
          </a:stretch>
        </p:blipFill>
        <p:spPr>
          <a:xfrm>
            <a:off x="1312422" y="0"/>
            <a:ext cx="9127942" cy="6045780"/>
          </a:xfrm>
          <a:prstGeom prst="rect">
            <a:avLst/>
          </a:prstGeom>
        </p:spPr>
      </p:pic>
    </p:spTree>
    <p:extLst>
      <p:ext uri="{BB962C8B-B14F-4D97-AF65-F5344CB8AC3E}">
        <p14:creationId xmlns:p14="http://schemas.microsoft.com/office/powerpoint/2010/main" val="1582822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0F379D2-52AC-FD39-CA0C-A0337EEAC689}"/>
              </a:ext>
            </a:extLst>
          </p:cNvPr>
          <p:cNvPicPr>
            <a:picLocks noChangeAspect="1"/>
          </p:cNvPicPr>
          <p:nvPr/>
        </p:nvPicPr>
        <p:blipFill>
          <a:blip r:embed="rId3"/>
          <a:stretch>
            <a:fillRect/>
          </a:stretch>
        </p:blipFill>
        <p:spPr>
          <a:xfrm>
            <a:off x="629390" y="82041"/>
            <a:ext cx="10366936" cy="5786196"/>
          </a:xfrm>
          <a:prstGeom prst="rect">
            <a:avLst/>
          </a:prstGeom>
        </p:spPr>
      </p:pic>
      <p:sp>
        <p:nvSpPr>
          <p:cNvPr id="4" name="Title 3">
            <a:extLst>
              <a:ext uri="{FF2B5EF4-FFF2-40B4-BE49-F238E27FC236}">
                <a16:creationId xmlns:a16="http://schemas.microsoft.com/office/drawing/2014/main" id="{86A7A546-FA43-9A89-68A4-2C9A5CDE44C2}"/>
              </a:ext>
            </a:extLst>
          </p:cNvPr>
          <p:cNvSpPr>
            <a:spLocks noGrp="1"/>
          </p:cNvSpPr>
          <p:nvPr>
            <p:ph type="ctrTitle"/>
          </p:nvPr>
        </p:nvSpPr>
        <p:spPr/>
        <p:txBody>
          <a:bodyPr/>
          <a:lstStyle/>
          <a:p>
            <a:endParaRPr lang="en-US" dirty="0"/>
          </a:p>
        </p:txBody>
      </p:sp>
    </p:spTree>
    <p:extLst>
      <p:ext uri="{BB962C8B-B14F-4D97-AF65-F5344CB8AC3E}">
        <p14:creationId xmlns:p14="http://schemas.microsoft.com/office/powerpoint/2010/main" val="2387281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D104B-1AC9-5BDD-6E9A-D2DA2C74879C}"/>
              </a:ext>
            </a:extLst>
          </p:cNvPr>
          <p:cNvSpPr>
            <a:spLocks noGrp="1"/>
          </p:cNvSpPr>
          <p:nvPr>
            <p:ph type="ctrTitle"/>
          </p:nvPr>
        </p:nvSpPr>
        <p:spPr>
          <a:xfrm>
            <a:off x="629390" y="357095"/>
            <a:ext cx="9561090" cy="1200329"/>
          </a:xfrm>
        </p:spPr>
        <p:txBody>
          <a:bodyPr/>
          <a:lstStyle/>
          <a:p>
            <a:r>
              <a:rPr lang="en-US" sz="4000" dirty="0"/>
              <a:t>Essential Docker Commands</a:t>
            </a:r>
            <a:endParaRPr lang="en-US" dirty="0"/>
          </a:p>
        </p:txBody>
      </p:sp>
      <p:sp>
        <p:nvSpPr>
          <p:cNvPr id="4" name="Subtitle 3">
            <a:extLst>
              <a:ext uri="{FF2B5EF4-FFF2-40B4-BE49-F238E27FC236}">
                <a16:creationId xmlns:a16="http://schemas.microsoft.com/office/drawing/2014/main" id="{76029428-F080-9EE2-3E7D-F164EABCDC3F}"/>
              </a:ext>
            </a:extLst>
          </p:cNvPr>
          <p:cNvSpPr>
            <a:spLocks noGrp="1"/>
          </p:cNvSpPr>
          <p:nvPr>
            <p:ph type="subTitle" idx="1"/>
          </p:nvPr>
        </p:nvSpPr>
        <p:spPr/>
        <p:txBody>
          <a:bodyPr/>
          <a:lstStyle/>
          <a:p>
            <a:r>
              <a:rPr lang="en-US" dirty="0"/>
              <a:t>build, run, and push</a:t>
            </a:r>
          </a:p>
        </p:txBody>
      </p:sp>
      <p:sp>
        <p:nvSpPr>
          <p:cNvPr id="5" name="Subtitle 8">
            <a:extLst>
              <a:ext uri="{FF2B5EF4-FFF2-40B4-BE49-F238E27FC236}">
                <a16:creationId xmlns:a16="http://schemas.microsoft.com/office/drawing/2014/main" id="{719C5374-D402-4963-BD84-F2EADDDF2CA6}"/>
              </a:ext>
            </a:extLst>
          </p:cNvPr>
          <p:cNvSpPr txBox="1">
            <a:spLocks/>
          </p:cNvSpPr>
          <p:nvPr/>
        </p:nvSpPr>
        <p:spPr>
          <a:xfrm>
            <a:off x="6625011" y="2362041"/>
            <a:ext cx="5475549" cy="2133918"/>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2600" kern="1200">
                <a:solidFill>
                  <a:schemeClr val="bg1">
                    <a:lumMod val="50000"/>
                  </a:schemeClr>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spcBef>
                <a:spcPts val="0"/>
              </a:spcBef>
              <a:spcAft>
                <a:spcPts val="200"/>
              </a:spcAft>
              <a:buFont typeface="Arial" panose="020B0604020202020204" pitchFamily="34" charset="0"/>
              <a:buChar char="•"/>
            </a:pPr>
            <a:r>
              <a:rPr lang="en-US" sz="2000" dirty="0">
                <a:solidFill>
                  <a:schemeClr val="tx1"/>
                </a:solidFill>
              </a:rPr>
              <a:t>Build, run, and share images with these core commands.</a:t>
            </a:r>
          </a:p>
          <a:p>
            <a:pPr marL="285750" indent="-285750">
              <a:spcBef>
                <a:spcPts val="0"/>
              </a:spcBef>
              <a:spcAft>
                <a:spcPts val="200"/>
              </a:spcAft>
              <a:buFont typeface="Arial" panose="020B0604020202020204" pitchFamily="34" charset="0"/>
              <a:buChar char="•"/>
            </a:pPr>
            <a:endParaRPr lang="en-US" sz="2000" dirty="0">
              <a:solidFill>
                <a:schemeClr val="tx1"/>
              </a:solidFill>
            </a:endParaRPr>
          </a:p>
          <a:p>
            <a:pPr marL="285750" indent="-285750">
              <a:spcBef>
                <a:spcPts val="0"/>
              </a:spcBef>
              <a:spcAft>
                <a:spcPts val="200"/>
              </a:spcAft>
              <a:buFont typeface="Arial" panose="020B0604020202020204" pitchFamily="34" charset="0"/>
              <a:buChar char="•"/>
            </a:pPr>
            <a:r>
              <a:rPr lang="en-US" sz="2000" dirty="0">
                <a:solidFill>
                  <a:schemeClr val="tx1"/>
                </a:solidFill>
              </a:rPr>
              <a:t>Always tag with a version;</a:t>
            </a:r>
          </a:p>
          <a:p>
            <a:pPr marL="285750" indent="-285750">
              <a:spcBef>
                <a:spcPts val="0"/>
              </a:spcBef>
              <a:spcAft>
                <a:spcPts val="200"/>
              </a:spcAft>
              <a:buFont typeface="Arial" panose="020B0604020202020204" pitchFamily="34" charset="0"/>
              <a:buChar char="•"/>
            </a:pPr>
            <a:endParaRPr lang="en-US" sz="2000" dirty="0">
              <a:solidFill>
                <a:schemeClr val="tx1"/>
              </a:solidFill>
            </a:endParaRPr>
          </a:p>
          <a:p>
            <a:pPr marL="285750" indent="-285750">
              <a:spcBef>
                <a:spcPts val="0"/>
              </a:spcBef>
              <a:spcAft>
                <a:spcPts val="200"/>
              </a:spcAft>
              <a:buFont typeface="Arial" panose="020B0604020202020204" pitchFamily="34" charset="0"/>
              <a:buChar char="•"/>
            </a:pPr>
            <a:r>
              <a:rPr lang="en-US" sz="2000" dirty="0">
                <a:solidFill>
                  <a:schemeClr val="tx1"/>
                </a:solidFill>
              </a:rPr>
              <a:t>use </a:t>
            </a:r>
            <a:r>
              <a:rPr lang="en-US" sz="2000" b="1" dirty="0">
                <a:solidFill>
                  <a:schemeClr val="tx1"/>
                </a:solidFill>
              </a:rPr>
              <a:t>--rm </a:t>
            </a:r>
            <a:r>
              <a:rPr lang="en-US" sz="2000" dirty="0">
                <a:solidFill>
                  <a:schemeClr val="tx1"/>
                </a:solidFill>
              </a:rPr>
              <a:t>to auto-remove containers after use.</a:t>
            </a:r>
          </a:p>
        </p:txBody>
      </p:sp>
      <p:sp>
        <p:nvSpPr>
          <p:cNvPr id="6" name="Text Placeholder 9">
            <a:extLst>
              <a:ext uri="{FF2B5EF4-FFF2-40B4-BE49-F238E27FC236}">
                <a16:creationId xmlns:a16="http://schemas.microsoft.com/office/drawing/2014/main" id="{714AE0FB-3143-AC21-4B0D-BDC2A9A24147}"/>
              </a:ext>
            </a:extLst>
          </p:cNvPr>
          <p:cNvSpPr txBox="1">
            <a:spLocks/>
          </p:cNvSpPr>
          <p:nvPr/>
        </p:nvSpPr>
        <p:spPr>
          <a:xfrm>
            <a:off x="294880" y="2177632"/>
            <a:ext cx="6105920" cy="2502736"/>
          </a:xfrm>
          <a:prstGeom prst="rect">
            <a:avLst/>
          </a:prstGeom>
          <a:solidFill>
            <a:schemeClr val="accent5">
              <a:lumMod val="20000"/>
              <a:lumOff val="80000"/>
            </a:schemeClr>
          </a:solidFill>
          <a:ln>
            <a:noFill/>
          </a:ln>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00"/>
              </a:spcBef>
              <a:spcAft>
                <a:spcPts val="100"/>
              </a:spcAft>
              <a:buNone/>
            </a:pPr>
            <a:r>
              <a:rPr lang="en-US" sz="1800" b="1" dirty="0">
                <a:latin typeface="Arial" panose="020B0604020202020204" pitchFamily="34" charset="0"/>
                <a:cs typeface="Arial" panose="020B0604020202020204" pitchFamily="34" charset="0"/>
              </a:rPr>
              <a:t># Build an image</a:t>
            </a:r>
          </a:p>
          <a:p>
            <a:pPr marL="0" indent="0">
              <a:spcBef>
                <a:spcPts val="0"/>
              </a:spcBef>
              <a:buNone/>
            </a:pPr>
            <a:r>
              <a:rPr lang="en-US" sz="1800" dirty="0">
                <a:latin typeface="Arial" panose="020B0604020202020204" pitchFamily="34" charset="0"/>
                <a:cs typeface="Arial" panose="020B0604020202020204" pitchFamily="34" charset="0"/>
              </a:rPr>
              <a:t>docker build -t myanalysis:v1.0 .</a:t>
            </a:r>
          </a:p>
          <a:p>
            <a:pPr marL="0" indent="0">
              <a:spcBef>
                <a:spcPts val="0"/>
              </a:spcBef>
              <a:buNone/>
            </a:pPr>
            <a:endParaRPr lang="en-US" sz="1800" dirty="0">
              <a:latin typeface="Arial" panose="020B0604020202020204" pitchFamily="34" charset="0"/>
              <a:cs typeface="Arial" panose="020B0604020202020204" pitchFamily="34" charset="0"/>
            </a:endParaRPr>
          </a:p>
          <a:p>
            <a:pPr marL="0" indent="0">
              <a:spcBef>
                <a:spcPts val="500"/>
              </a:spcBef>
              <a:spcAft>
                <a:spcPts val="100"/>
              </a:spcAft>
              <a:buNone/>
            </a:pPr>
            <a:r>
              <a:rPr lang="en-US" sz="1800" b="1" dirty="0">
                <a:latin typeface="Arial" panose="020B0604020202020204" pitchFamily="34" charset="0"/>
                <a:cs typeface="Arial" panose="020B0604020202020204" pitchFamily="34" charset="0"/>
              </a:rPr>
              <a:t># Run a container interactively</a:t>
            </a:r>
          </a:p>
          <a:p>
            <a:pPr marL="0" indent="0">
              <a:spcBef>
                <a:spcPts val="0"/>
              </a:spcBef>
              <a:buNone/>
            </a:pPr>
            <a:r>
              <a:rPr lang="en-US" sz="1800" dirty="0">
                <a:latin typeface="Arial" panose="020B0604020202020204" pitchFamily="34" charset="0"/>
                <a:cs typeface="Arial" panose="020B0604020202020204" pitchFamily="34" charset="0"/>
              </a:rPr>
              <a:t>docker run --rm -it myanalysis:v1.0 bash</a:t>
            </a:r>
          </a:p>
          <a:p>
            <a:pPr marL="0" indent="0">
              <a:spcBef>
                <a:spcPts val="0"/>
              </a:spcBef>
              <a:buNone/>
            </a:pPr>
            <a:r>
              <a:rPr lang="en-US" sz="1800" dirty="0">
                <a:latin typeface="Arial" panose="020B0604020202020204" pitchFamily="34" charset="0"/>
                <a:cs typeface="Arial" panose="020B0604020202020204" pitchFamily="34" charset="0"/>
              </a:rPr>
              <a:t>docker run --rm -v $(</a:t>
            </a:r>
            <a:r>
              <a:rPr lang="en-US" sz="1800" dirty="0" err="1">
                <a:latin typeface="Arial" panose="020B0604020202020204" pitchFamily="34" charset="0"/>
                <a:cs typeface="Arial" panose="020B0604020202020204" pitchFamily="34" charset="0"/>
              </a:rPr>
              <a:t>pwd</a:t>
            </a:r>
            <a:r>
              <a:rPr lang="en-US" sz="1800" dirty="0">
                <a:latin typeface="Arial" panose="020B0604020202020204" pitchFamily="34" charset="0"/>
                <a:cs typeface="Arial" panose="020B0604020202020204" pitchFamily="34" charset="0"/>
              </a:rPr>
              <a:t>)/data:/app/data myanalysis:v1.0</a:t>
            </a:r>
          </a:p>
          <a:p>
            <a:pPr marL="0" indent="0">
              <a:spcBef>
                <a:spcPts val="0"/>
              </a:spcBef>
              <a:buNone/>
            </a:pPr>
            <a:endParaRPr lang="en-US" sz="1800" b="1" dirty="0">
              <a:latin typeface="Arial" panose="020B0604020202020204" pitchFamily="34" charset="0"/>
              <a:cs typeface="Arial" panose="020B0604020202020204" pitchFamily="34" charset="0"/>
            </a:endParaRPr>
          </a:p>
          <a:p>
            <a:pPr marL="0" indent="0">
              <a:spcBef>
                <a:spcPts val="500"/>
              </a:spcBef>
              <a:spcAft>
                <a:spcPts val="100"/>
              </a:spcAft>
              <a:buNone/>
            </a:pPr>
            <a:r>
              <a:rPr lang="en-US" sz="1800" b="1" dirty="0">
                <a:latin typeface="Arial" panose="020B0604020202020204" pitchFamily="34" charset="0"/>
                <a:cs typeface="Arial" panose="020B0604020202020204" pitchFamily="34" charset="0"/>
              </a:rPr>
              <a:t># Share your image</a:t>
            </a:r>
          </a:p>
          <a:p>
            <a:pPr marL="0" indent="0">
              <a:spcBef>
                <a:spcPts val="0"/>
              </a:spcBef>
              <a:buNone/>
            </a:pPr>
            <a:r>
              <a:rPr lang="en-US" sz="1800" dirty="0">
                <a:latin typeface="Arial" panose="020B0604020202020204" pitchFamily="34" charset="0"/>
                <a:cs typeface="Arial" panose="020B0604020202020204" pitchFamily="34" charset="0"/>
              </a:rPr>
              <a:t>docker push </a:t>
            </a:r>
            <a:r>
              <a:rPr lang="en-US" sz="1800" dirty="0" err="1">
                <a:latin typeface="Arial" panose="020B0604020202020204" pitchFamily="34" charset="0"/>
                <a:cs typeface="Arial" panose="020B0604020202020204" pitchFamily="34" charset="0"/>
              </a:rPr>
              <a:t>yourusername</a:t>
            </a:r>
            <a:r>
              <a:rPr lang="en-US" sz="1800" dirty="0">
                <a:latin typeface="Arial" panose="020B0604020202020204" pitchFamily="34" charset="0"/>
                <a:cs typeface="Arial" panose="020B0604020202020204" pitchFamily="34" charset="0"/>
              </a:rPr>
              <a:t>/myanalysis:v1.0</a:t>
            </a:r>
          </a:p>
        </p:txBody>
      </p:sp>
    </p:spTree>
    <p:extLst>
      <p:ext uri="{BB962C8B-B14F-4D97-AF65-F5344CB8AC3E}">
        <p14:creationId xmlns:p14="http://schemas.microsoft.com/office/powerpoint/2010/main" val="1366324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SlideNum"/>
          <p:cNvSpPr>
            <a:spLocks noGrp="1"/>
          </p:cNvSpPr>
          <p:nvPr/>
        </p:nvSpPr>
        <p:spPr>
          <a:xfrm>
            <a:off x="5796000" y="6430000"/>
            <a:ext cx="600000" cy="300000"/>
          </a:xfrm>
          <a:prstGeom prst="rect">
            <a:avLst/>
          </a:prstGeom>
          <a:noFill/>
          <a:ln>
            <a:noFill/>
          </a:ln>
        </p:spPr>
        <p:txBody>
          <a:bodyPr/>
          <a:lstStyle/>
          <a:p>
            <a:pPr algn="ctr"/>
            <a:r>
              <a:rPr lang="en-US" sz="900" dirty="0">
                <a:solidFill>
                  <a:srgbClr val="AAAAAA"/>
                </a:solidFill>
                <a:latin typeface="Arial" pitchFamily="34" charset="0"/>
              </a:rPr>
              <a:t>16</a:t>
            </a:r>
          </a:p>
        </p:txBody>
      </p:sp>
      <p:pic>
        <p:nvPicPr>
          <p:cNvPr id="11" name="Picture 10">
            <a:extLst>
              <a:ext uri="{FF2B5EF4-FFF2-40B4-BE49-F238E27FC236}">
                <a16:creationId xmlns:a16="http://schemas.microsoft.com/office/drawing/2014/main" id="{1325FB10-2085-6A7E-8AB0-FE043DA64BA3}"/>
              </a:ext>
            </a:extLst>
          </p:cNvPr>
          <p:cNvPicPr>
            <a:picLocks noChangeAspect="1"/>
          </p:cNvPicPr>
          <p:nvPr/>
        </p:nvPicPr>
        <p:blipFill>
          <a:blip r:embed="rId2"/>
          <a:stretch>
            <a:fillRect/>
          </a:stretch>
        </p:blipFill>
        <p:spPr>
          <a:xfrm>
            <a:off x="1200435" y="0"/>
            <a:ext cx="10391130" cy="6927420"/>
          </a:xfrm>
          <a:prstGeom prst="rect">
            <a:avLst/>
          </a:prstGeom>
        </p:spPr>
      </p:pic>
    </p:spTree>
    <p:extLst>
      <p:ext uri="{BB962C8B-B14F-4D97-AF65-F5344CB8AC3E}">
        <p14:creationId xmlns:p14="http://schemas.microsoft.com/office/powerpoint/2010/main" val="1122849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87BC4-1020-0580-1551-A2937F374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690E5-7D81-BD98-C289-1B7DB6EC009C}"/>
              </a:ext>
            </a:extLst>
          </p:cNvPr>
          <p:cNvSpPr>
            <a:spLocks noGrp="1"/>
          </p:cNvSpPr>
          <p:nvPr>
            <p:ph type="ctrTitle"/>
          </p:nvPr>
        </p:nvSpPr>
        <p:spPr/>
        <p:txBody>
          <a:bodyPr/>
          <a:lstStyle/>
          <a:p>
            <a:r>
              <a:rPr lang="en-US" dirty="0"/>
              <a:t>02 GitHub Actions</a:t>
            </a:r>
          </a:p>
        </p:txBody>
      </p:sp>
      <p:sp>
        <p:nvSpPr>
          <p:cNvPr id="3" name="Subtitle 2">
            <a:extLst>
              <a:ext uri="{FF2B5EF4-FFF2-40B4-BE49-F238E27FC236}">
                <a16:creationId xmlns:a16="http://schemas.microsoft.com/office/drawing/2014/main" id="{CE3D7E00-2FCA-BD91-93C3-D8F0FB72D22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99542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B86784-EAC8-4CC9-492F-C7A00318332F}"/>
              </a:ext>
            </a:extLst>
          </p:cNvPr>
          <p:cNvSpPr>
            <a:spLocks noGrp="1"/>
          </p:cNvSpPr>
          <p:nvPr>
            <p:ph type="ctrTitle"/>
          </p:nvPr>
        </p:nvSpPr>
        <p:spPr/>
        <p:txBody>
          <a:bodyPr/>
          <a:lstStyle/>
          <a:p>
            <a:r>
              <a:rPr lang="en-US" dirty="0"/>
              <a:t>What is CI/CD?</a:t>
            </a:r>
          </a:p>
        </p:txBody>
      </p:sp>
      <p:sp>
        <p:nvSpPr>
          <p:cNvPr id="4" name="Subtitle 3">
            <a:extLst>
              <a:ext uri="{FF2B5EF4-FFF2-40B4-BE49-F238E27FC236}">
                <a16:creationId xmlns:a16="http://schemas.microsoft.com/office/drawing/2014/main" id="{110A1D40-09A0-399E-D346-E026CEDD884B}"/>
              </a:ext>
            </a:extLst>
          </p:cNvPr>
          <p:cNvSpPr>
            <a:spLocks noGrp="1"/>
          </p:cNvSpPr>
          <p:nvPr>
            <p:ph type="subTitle" idx="1"/>
          </p:nvPr>
        </p:nvSpPr>
        <p:spPr/>
        <p:txBody>
          <a:bodyPr/>
          <a:lstStyle/>
          <a:p>
            <a:endParaRPr lang="en-US" dirty="0"/>
          </a:p>
        </p:txBody>
      </p:sp>
      <p:sp>
        <p:nvSpPr>
          <p:cNvPr id="5" name="TextBox 4">
            <a:extLst>
              <a:ext uri="{FF2B5EF4-FFF2-40B4-BE49-F238E27FC236}">
                <a16:creationId xmlns:a16="http://schemas.microsoft.com/office/drawing/2014/main" id="{689BE70A-7FD7-AE7E-2EF2-D09089AF4387}"/>
              </a:ext>
            </a:extLst>
          </p:cNvPr>
          <p:cNvSpPr txBox="1"/>
          <p:nvPr/>
        </p:nvSpPr>
        <p:spPr>
          <a:xfrm>
            <a:off x="877331" y="1778868"/>
            <a:ext cx="3682314" cy="4616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Continuous Integration</a:t>
            </a:r>
          </a:p>
        </p:txBody>
      </p:sp>
      <p:sp>
        <p:nvSpPr>
          <p:cNvPr id="8" name="TextBox 7">
            <a:extLst>
              <a:ext uri="{FF2B5EF4-FFF2-40B4-BE49-F238E27FC236}">
                <a16:creationId xmlns:a16="http://schemas.microsoft.com/office/drawing/2014/main" id="{47B580F2-3A7B-9674-6295-18EF527B2D2E}"/>
              </a:ext>
            </a:extLst>
          </p:cNvPr>
          <p:cNvSpPr txBox="1"/>
          <p:nvPr/>
        </p:nvSpPr>
        <p:spPr>
          <a:xfrm>
            <a:off x="7405818" y="1778868"/>
            <a:ext cx="3682314" cy="46166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Continuous Delivery</a:t>
            </a:r>
          </a:p>
        </p:txBody>
      </p:sp>
      <p:sp>
        <p:nvSpPr>
          <p:cNvPr id="11" name="Down Arrow 10">
            <a:extLst>
              <a:ext uri="{FF2B5EF4-FFF2-40B4-BE49-F238E27FC236}">
                <a16:creationId xmlns:a16="http://schemas.microsoft.com/office/drawing/2014/main" id="{51F45C9C-3B95-0F0B-A97D-4762FDC6A5F1}"/>
              </a:ext>
            </a:extLst>
          </p:cNvPr>
          <p:cNvSpPr/>
          <p:nvPr/>
        </p:nvSpPr>
        <p:spPr>
          <a:xfrm>
            <a:off x="2446638" y="2434281"/>
            <a:ext cx="364611" cy="1297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C4DDC03C-F935-89F3-2D16-2C4B7B46F066}"/>
              </a:ext>
            </a:extLst>
          </p:cNvPr>
          <p:cNvSpPr/>
          <p:nvPr/>
        </p:nvSpPr>
        <p:spPr>
          <a:xfrm>
            <a:off x="9246975" y="2434281"/>
            <a:ext cx="364611" cy="1297460"/>
          </a:xfrm>
          <a:prstGeom prst="down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930F4E2-3C94-CC3C-59C8-B894A7889347}"/>
              </a:ext>
            </a:extLst>
          </p:cNvPr>
          <p:cNvSpPr txBox="1"/>
          <p:nvPr/>
        </p:nvSpPr>
        <p:spPr>
          <a:xfrm>
            <a:off x="877331" y="4056630"/>
            <a:ext cx="3682314" cy="1569660"/>
          </a:xfrm>
          <a:prstGeom prst="rect">
            <a:avLst/>
          </a:prstGeom>
          <a:solidFill>
            <a:srgbClr val="0090E5"/>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Code changes are automatically built, tested &amp; merged with existing codes</a:t>
            </a:r>
          </a:p>
        </p:txBody>
      </p:sp>
      <p:sp>
        <p:nvSpPr>
          <p:cNvPr id="14" name="TextBox 13">
            <a:extLst>
              <a:ext uri="{FF2B5EF4-FFF2-40B4-BE49-F238E27FC236}">
                <a16:creationId xmlns:a16="http://schemas.microsoft.com/office/drawing/2014/main" id="{F98877B0-E223-FC9B-BCC5-719D61F198E7}"/>
              </a:ext>
            </a:extLst>
          </p:cNvPr>
          <p:cNvSpPr txBox="1"/>
          <p:nvPr/>
        </p:nvSpPr>
        <p:spPr>
          <a:xfrm>
            <a:off x="7405818" y="4056630"/>
            <a:ext cx="3682314" cy="156966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After integration, new app or package versions are published automatically</a:t>
            </a:r>
          </a:p>
        </p:txBody>
      </p:sp>
      <p:sp>
        <p:nvSpPr>
          <p:cNvPr id="15" name="TextBox 14">
            <a:extLst>
              <a:ext uri="{FF2B5EF4-FFF2-40B4-BE49-F238E27FC236}">
                <a16:creationId xmlns:a16="http://schemas.microsoft.com/office/drawing/2014/main" id="{B6292AC9-49C0-C771-1639-EFF9E5B996DA}"/>
              </a:ext>
            </a:extLst>
          </p:cNvPr>
          <p:cNvSpPr txBox="1"/>
          <p:nvPr/>
        </p:nvSpPr>
        <p:spPr>
          <a:xfrm>
            <a:off x="4032841" y="2363751"/>
            <a:ext cx="3558254" cy="156966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Methods for automating app development &amp; deployment</a:t>
            </a:r>
          </a:p>
        </p:txBody>
      </p:sp>
    </p:spTree>
    <p:extLst>
      <p:ext uri="{BB962C8B-B14F-4D97-AF65-F5344CB8AC3E}">
        <p14:creationId xmlns:p14="http://schemas.microsoft.com/office/powerpoint/2010/main" val="210020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F14B92-73FB-E4F3-3F25-CF26456608DA}"/>
              </a:ext>
            </a:extLst>
          </p:cNvPr>
          <p:cNvSpPr>
            <a:spLocks noGrp="1"/>
          </p:cNvSpPr>
          <p:nvPr>
            <p:ph type="ctrTitle"/>
          </p:nvPr>
        </p:nvSpPr>
        <p:spPr>
          <a:xfrm>
            <a:off x="629390" y="357095"/>
            <a:ext cx="7661994" cy="1144929"/>
          </a:xfrm>
        </p:spPr>
        <p:txBody>
          <a:bodyPr/>
          <a:lstStyle/>
          <a:p>
            <a:r>
              <a:rPr lang="en-US" dirty="0"/>
              <a:t>Top CI/CD platforms</a:t>
            </a:r>
          </a:p>
        </p:txBody>
      </p:sp>
      <p:sp>
        <p:nvSpPr>
          <p:cNvPr id="4" name="Subtitle 3">
            <a:extLst>
              <a:ext uri="{FF2B5EF4-FFF2-40B4-BE49-F238E27FC236}">
                <a16:creationId xmlns:a16="http://schemas.microsoft.com/office/drawing/2014/main" id="{D6E08B1C-F32C-87E9-6CC8-A0424C30BEF8}"/>
              </a:ext>
            </a:extLst>
          </p:cNvPr>
          <p:cNvSpPr>
            <a:spLocks noGrp="1"/>
          </p:cNvSpPr>
          <p:nvPr>
            <p:ph type="subTitle" idx="1"/>
          </p:nvPr>
        </p:nvSpPr>
        <p:spPr/>
        <p:txBody>
          <a:bodyPr/>
          <a:lstStyle/>
          <a:p>
            <a:endParaRPr lang="en-US"/>
          </a:p>
        </p:txBody>
      </p:sp>
      <p:pic>
        <p:nvPicPr>
          <p:cNvPr id="7" name="Picture 6">
            <a:extLst>
              <a:ext uri="{FF2B5EF4-FFF2-40B4-BE49-F238E27FC236}">
                <a16:creationId xmlns:a16="http://schemas.microsoft.com/office/drawing/2014/main" id="{895FBBDA-1ADE-16D6-B0DD-622A85569685}"/>
              </a:ext>
            </a:extLst>
          </p:cNvPr>
          <p:cNvPicPr>
            <a:picLocks noChangeAspect="1"/>
          </p:cNvPicPr>
          <p:nvPr/>
        </p:nvPicPr>
        <p:blipFill>
          <a:blip r:embed="rId3"/>
          <a:stretch>
            <a:fillRect/>
          </a:stretch>
        </p:blipFill>
        <p:spPr>
          <a:xfrm>
            <a:off x="2209800" y="957182"/>
            <a:ext cx="7661994" cy="5107996"/>
          </a:xfrm>
          <a:prstGeom prst="rect">
            <a:avLst/>
          </a:prstGeom>
        </p:spPr>
      </p:pic>
    </p:spTree>
    <p:extLst>
      <p:ext uri="{BB962C8B-B14F-4D97-AF65-F5344CB8AC3E}">
        <p14:creationId xmlns:p14="http://schemas.microsoft.com/office/powerpoint/2010/main" val="735348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B18C88-5838-182A-0BEC-00F735DE6409}"/>
              </a:ext>
            </a:extLst>
          </p:cNvPr>
          <p:cNvSpPr>
            <a:spLocks noGrp="1"/>
          </p:cNvSpPr>
          <p:nvPr>
            <p:ph type="ctrTitle"/>
          </p:nvPr>
        </p:nvSpPr>
        <p:spPr>
          <a:xfrm>
            <a:off x="629389" y="357095"/>
            <a:ext cx="8205691" cy="1144929"/>
          </a:xfrm>
        </p:spPr>
        <p:txBody>
          <a:bodyPr/>
          <a:lstStyle/>
          <a:p>
            <a:r>
              <a:rPr lang="en-US" dirty="0"/>
              <a:t>What is GitHub Actions</a:t>
            </a:r>
          </a:p>
        </p:txBody>
      </p:sp>
      <p:pic>
        <p:nvPicPr>
          <p:cNvPr id="7" name="Picture 6">
            <a:extLst>
              <a:ext uri="{FF2B5EF4-FFF2-40B4-BE49-F238E27FC236}">
                <a16:creationId xmlns:a16="http://schemas.microsoft.com/office/drawing/2014/main" id="{5A3D8836-A2EC-5B69-4EC0-3E08CDA1DBEC}"/>
              </a:ext>
            </a:extLst>
          </p:cNvPr>
          <p:cNvPicPr>
            <a:picLocks noChangeAspect="1"/>
          </p:cNvPicPr>
          <p:nvPr/>
        </p:nvPicPr>
        <p:blipFill>
          <a:blip r:embed="rId3"/>
          <a:srcRect t="11759"/>
          <a:stretch>
            <a:fillRect/>
          </a:stretch>
        </p:blipFill>
        <p:spPr>
          <a:xfrm>
            <a:off x="2135659" y="1043679"/>
            <a:ext cx="7107195" cy="5018987"/>
          </a:xfrm>
          <a:prstGeom prst="rect">
            <a:avLst/>
          </a:prstGeom>
        </p:spPr>
      </p:pic>
    </p:spTree>
    <p:extLst>
      <p:ext uri="{BB962C8B-B14F-4D97-AF65-F5344CB8AC3E}">
        <p14:creationId xmlns:p14="http://schemas.microsoft.com/office/powerpoint/2010/main" val="1528609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A0C771-0132-1DC6-FA3E-857547D1845F}"/>
              </a:ext>
            </a:extLst>
          </p:cNvPr>
          <p:cNvSpPr>
            <a:spLocks noGrp="1"/>
          </p:cNvSpPr>
          <p:nvPr>
            <p:ph type="ctrTitle"/>
          </p:nvPr>
        </p:nvSpPr>
        <p:spPr>
          <a:xfrm>
            <a:off x="629390" y="357095"/>
            <a:ext cx="11406400" cy="618631"/>
          </a:xfrm>
        </p:spPr>
        <p:txBody>
          <a:bodyPr/>
          <a:lstStyle/>
          <a:p>
            <a:r>
              <a:rPr lang="en-US" dirty="0"/>
              <a:t>Components of GitHub Actions</a:t>
            </a:r>
          </a:p>
        </p:txBody>
      </p:sp>
      <p:sp>
        <p:nvSpPr>
          <p:cNvPr id="4" name="Subtitle 3">
            <a:extLst>
              <a:ext uri="{FF2B5EF4-FFF2-40B4-BE49-F238E27FC236}">
                <a16:creationId xmlns:a16="http://schemas.microsoft.com/office/drawing/2014/main" id="{8D0F248D-1343-7FC5-BEA6-9C9EF86722F6}"/>
              </a:ext>
            </a:extLst>
          </p:cNvPr>
          <p:cNvSpPr>
            <a:spLocks noGrp="1"/>
          </p:cNvSpPr>
          <p:nvPr>
            <p:ph type="subTitle" idx="1"/>
          </p:nvPr>
        </p:nvSpPr>
        <p:spPr/>
        <p:txBody>
          <a:bodyPr/>
          <a:lstStyle/>
          <a:p>
            <a:endParaRPr lang="en-US"/>
          </a:p>
        </p:txBody>
      </p:sp>
      <p:pic>
        <p:nvPicPr>
          <p:cNvPr id="1026" name="Picture 2" descr="Diagram of an event triggering Runner 1 to run Job 1, which triggers Runner 2 to run Job 2. Each of the jobs is broken into multiple steps.">
            <a:extLst>
              <a:ext uri="{FF2B5EF4-FFF2-40B4-BE49-F238E27FC236}">
                <a16:creationId xmlns:a16="http://schemas.microsoft.com/office/drawing/2014/main" id="{457595CF-132E-9067-8338-10262644B8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16" t="7460" r="8674" b="6734"/>
          <a:stretch>
            <a:fillRect/>
          </a:stretch>
        </p:blipFill>
        <p:spPr bwMode="auto">
          <a:xfrm>
            <a:off x="809120" y="1676317"/>
            <a:ext cx="8526162" cy="28628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4415ABF-10E9-542B-3D09-A4789B0ED0C5}"/>
              </a:ext>
            </a:extLst>
          </p:cNvPr>
          <p:cNvSpPr txBox="1"/>
          <p:nvPr/>
        </p:nvSpPr>
        <p:spPr>
          <a:xfrm>
            <a:off x="383368" y="4707924"/>
            <a:ext cx="11652422" cy="1477328"/>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GitHub Actions workflows run automatically when events happen in your repository. </a:t>
            </a:r>
          </a:p>
          <a:p>
            <a:r>
              <a:rPr lang="en-US" sz="2400" dirty="0">
                <a:latin typeface="Arial" panose="020B0604020202020204" pitchFamily="34" charset="0"/>
                <a:cs typeface="Arial" panose="020B0604020202020204" pitchFamily="34" charset="0"/>
              </a:rPr>
              <a:t>A workflow contains jobs that run on virtual machines or containers, with steps that execute scripts or reusable actions.</a:t>
            </a:r>
          </a:p>
          <a:p>
            <a:endParaRPr lang="en-US" dirty="0"/>
          </a:p>
        </p:txBody>
      </p:sp>
    </p:spTree>
    <p:extLst>
      <p:ext uri="{BB962C8B-B14F-4D97-AF65-F5344CB8AC3E}">
        <p14:creationId xmlns:p14="http://schemas.microsoft.com/office/powerpoint/2010/main" val="544179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025FD-FC29-8C28-21A0-7DF300A879D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19BE74-17F1-9809-039A-C7BCC7E35747}"/>
              </a:ext>
            </a:extLst>
          </p:cNvPr>
          <p:cNvSpPr>
            <a:spLocks noGrp="1"/>
          </p:cNvSpPr>
          <p:nvPr>
            <p:ph type="ctrTitle"/>
          </p:nvPr>
        </p:nvSpPr>
        <p:spPr>
          <a:xfrm>
            <a:off x="629390" y="357095"/>
            <a:ext cx="11406400" cy="618631"/>
          </a:xfrm>
        </p:spPr>
        <p:txBody>
          <a:bodyPr/>
          <a:lstStyle/>
          <a:p>
            <a:r>
              <a:rPr lang="en-US" dirty="0"/>
              <a:t>Components of GitHub Actions</a:t>
            </a:r>
          </a:p>
        </p:txBody>
      </p:sp>
      <p:sp>
        <p:nvSpPr>
          <p:cNvPr id="4" name="Subtitle 3">
            <a:extLst>
              <a:ext uri="{FF2B5EF4-FFF2-40B4-BE49-F238E27FC236}">
                <a16:creationId xmlns:a16="http://schemas.microsoft.com/office/drawing/2014/main" id="{E1C0C3FA-48D3-B631-7E4A-D41E14AEC7AE}"/>
              </a:ext>
            </a:extLst>
          </p:cNvPr>
          <p:cNvSpPr>
            <a:spLocks noGrp="1"/>
          </p:cNvSpPr>
          <p:nvPr>
            <p:ph type="subTitle" idx="1"/>
          </p:nvPr>
        </p:nvSpPr>
        <p:spPr/>
        <p:txBody>
          <a:bodyPr/>
          <a:lstStyle/>
          <a:p>
            <a:r>
              <a:rPr lang="en-US" dirty="0"/>
              <a:t>Workflows</a:t>
            </a:r>
          </a:p>
        </p:txBody>
      </p:sp>
      <p:sp>
        <p:nvSpPr>
          <p:cNvPr id="6" name="Rectangle 2">
            <a:extLst>
              <a:ext uri="{FF2B5EF4-FFF2-40B4-BE49-F238E27FC236}">
                <a16:creationId xmlns:a16="http://schemas.microsoft.com/office/drawing/2014/main" id="{3CB9D878-5765-C3F0-4CFC-3EF5A3617F09}"/>
              </a:ext>
            </a:extLst>
          </p:cNvPr>
          <p:cNvSpPr>
            <a:spLocks noChangeArrowheads="1"/>
          </p:cNvSpPr>
          <p:nvPr/>
        </p:nvSpPr>
        <p:spPr bwMode="auto">
          <a:xfrm>
            <a:off x="629390" y="1797784"/>
            <a:ext cx="11158956" cy="3262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F2328"/>
                </a:solidFill>
                <a:effectLst/>
                <a:ea typeface="-apple-system"/>
                <a:cs typeface="Arial" panose="020B0604020202020204" pitchFamily="34" charset="0"/>
              </a:rPr>
              <a:t>A </a:t>
            </a:r>
            <a:r>
              <a:rPr kumimoji="0" lang="en-US" altLang="en-US" sz="2400" b="1" i="0" u="none" strike="noStrike" cap="none" normalizeH="0" baseline="0" dirty="0">
                <a:ln>
                  <a:noFill/>
                </a:ln>
                <a:solidFill>
                  <a:srgbClr val="1F2328"/>
                </a:solidFill>
                <a:effectLst/>
                <a:ea typeface="-apple-system"/>
                <a:cs typeface="Arial" panose="020B0604020202020204" pitchFamily="34" charset="0"/>
              </a:rPr>
              <a:t>workflow</a:t>
            </a:r>
            <a:r>
              <a:rPr kumimoji="0" lang="en-US" altLang="en-US" sz="2400" b="0" i="0" u="none" strike="noStrike" cap="none" normalizeH="0" baseline="0" dirty="0">
                <a:ln>
                  <a:noFill/>
                </a:ln>
                <a:solidFill>
                  <a:srgbClr val="1F2328"/>
                </a:solidFill>
                <a:effectLst/>
                <a:ea typeface="-apple-system"/>
                <a:cs typeface="Arial" panose="020B0604020202020204" pitchFamily="34" charset="0"/>
              </a:rPr>
              <a:t> is a configurable automated process that will run one or more jobs.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1F2328"/>
              </a:solidFill>
              <a:effectLst/>
              <a:ea typeface="-apple-system"/>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F2328"/>
                </a:solidFill>
                <a:effectLst/>
                <a:ea typeface="-apple-system"/>
                <a:cs typeface="Arial" panose="020B0604020202020204" pitchFamily="34" charset="0"/>
              </a:rPr>
              <a:t>Workflows are defined by a </a:t>
            </a:r>
            <a:r>
              <a:rPr kumimoji="0" lang="en-US" altLang="en-US" sz="2400" b="1" i="0" u="none" strike="noStrike" cap="none" normalizeH="0" baseline="0" dirty="0">
                <a:ln>
                  <a:noFill/>
                </a:ln>
                <a:solidFill>
                  <a:srgbClr val="1F2328"/>
                </a:solidFill>
                <a:effectLst/>
                <a:ea typeface="-apple-system"/>
                <a:cs typeface="Arial" panose="020B0604020202020204" pitchFamily="34" charset="0"/>
              </a:rPr>
              <a:t>YAML</a:t>
            </a:r>
            <a:r>
              <a:rPr kumimoji="0" lang="en-US" altLang="en-US" sz="2400" b="0" i="0" u="none" strike="noStrike" cap="none" normalizeH="0" baseline="0" dirty="0">
                <a:ln>
                  <a:noFill/>
                </a:ln>
                <a:solidFill>
                  <a:srgbClr val="1F2328"/>
                </a:solidFill>
                <a:effectLst/>
                <a:ea typeface="-apple-system"/>
                <a:cs typeface="Arial" panose="020B0604020202020204" pitchFamily="34" charset="0"/>
              </a:rPr>
              <a:t> file checked in to your repository and will run when triggered by an event in your repository, or they can be triggered manually, or at a defined schedule.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cs typeface="Arial" panose="020B0604020202020204" pitchFamily="34" charset="0"/>
            </a:endParaRPr>
          </a:p>
          <a:p>
            <a:r>
              <a:rPr kumimoji="0" lang="en-US" altLang="en-US" sz="2400" b="0" i="0" u="none" strike="noStrike" cap="none" normalizeH="0" baseline="0" dirty="0">
                <a:ln>
                  <a:noFill/>
                </a:ln>
                <a:solidFill>
                  <a:srgbClr val="1F2328"/>
                </a:solidFill>
                <a:effectLst/>
                <a:ea typeface="-apple-system"/>
                <a:cs typeface="Arial" panose="020B0604020202020204" pitchFamily="34" charset="0"/>
              </a:rPr>
              <a:t>Workflows are defined in the </a:t>
            </a:r>
            <a:r>
              <a:rPr kumimoji="0" lang="en-US" altLang="en-US" sz="2400" b="0" i="0" u="none" strike="noStrike" cap="none" normalizeH="0" baseline="0" dirty="0">
                <a:ln>
                  <a:noFill/>
                </a:ln>
                <a:solidFill>
                  <a:srgbClr val="1F2328"/>
                </a:solidFill>
                <a:effectLst/>
                <a:highlight>
                  <a:srgbClr val="C0C0C0"/>
                </a:highlight>
                <a:ea typeface="var(--fontStack-monospace,ui-monospace,SFMono-Regular,SF Mono,Menlo,Consolas,Liberation Mono,monospace)"/>
                <a:cs typeface="Arial" panose="020B0604020202020204" pitchFamily="34" charset="0"/>
              </a:rPr>
              <a:t>.</a:t>
            </a:r>
            <a:r>
              <a:rPr kumimoji="0" lang="en-US" altLang="en-US" sz="2400" b="0" i="0" u="none" strike="noStrike" cap="none" normalizeH="0" baseline="0" dirty="0" err="1">
                <a:ln>
                  <a:noFill/>
                </a:ln>
                <a:solidFill>
                  <a:srgbClr val="1F2328"/>
                </a:solidFill>
                <a:effectLst/>
                <a:highlight>
                  <a:srgbClr val="C0C0C0"/>
                </a:highlight>
                <a:ea typeface="var(--fontStack-monospace,ui-monospace,SFMono-Regular,SF Mono,Menlo,Consolas,Liberation Mono,monospace)"/>
                <a:cs typeface="Arial" panose="020B0604020202020204" pitchFamily="34" charset="0"/>
              </a:rPr>
              <a:t>github</a:t>
            </a:r>
            <a:r>
              <a:rPr kumimoji="0" lang="en-US" altLang="en-US" sz="2400" b="0" i="0" u="none" strike="noStrike" cap="none" normalizeH="0" baseline="0" dirty="0">
                <a:ln>
                  <a:noFill/>
                </a:ln>
                <a:solidFill>
                  <a:srgbClr val="1F2328"/>
                </a:solidFill>
                <a:effectLst/>
                <a:highlight>
                  <a:srgbClr val="C0C0C0"/>
                </a:highlight>
                <a:ea typeface="var(--fontStack-monospace,ui-monospace,SFMono-Regular,SF Mono,Menlo,Consolas,Liberation Mono,monospace)"/>
                <a:cs typeface="Arial" panose="020B0604020202020204" pitchFamily="34" charset="0"/>
              </a:rPr>
              <a:t>/workflows</a:t>
            </a:r>
            <a:r>
              <a:rPr kumimoji="0" lang="en-US" altLang="en-US" sz="2400" b="0" i="0" u="none" strike="noStrike" cap="none" normalizeH="0" baseline="0" dirty="0">
                <a:ln>
                  <a:noFill/>
                </a:ln>
                <a:solidFill>
                  <a:srgbClr val="1F2328"/>
                </a:solidFill>
                <a:effectLst/>
                <a:ea typeface="-apple-system"/>
                <a:cs typeface="Arial" panose="020B0604020202020204" pitchFamily="34" charset="0"/>
              </a:rPr>
              <a:t> directory in a repository. A repository can have multiple workflows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1653522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9CDEC-4A21-9892-044A-D05E152A01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92B2F6-77FB-A625-52EB-D7002A86911D}"/>
              </a:ext>
            </a:extLst>
          </p:cNvPr>
          <p:cNvSpPr>
            <a:spLocks noGrp="1"/>
          </p:cNvSpPr>
          <p:nvPr>
            <p:ph type="ctrTitle"/>
          </p:nvPr>
        </p:nvSpPr>
        <p:spPr>
          <a:xfrm>
            <a:off x="629390" y="357095"/>
            <a:ext cx="11406400" cy="618631"/>
          </a:xfrm>
        </p:spPr>
        <p:txBody>
          <a:bodyPr/>
          <a:lstStyle/>
          <a:p>
            <a:r>
              <a:rPr lang="en-US" dirty="0"/>
              <a:t>Components of GitHub Actions</a:t>
            </a:r>
          </a:p>
        </p:txBody>
      </p:sp>
      <p:sp>
        <p:nvSpPr>
          <p:cNvPr id="4" name="Subtitle 3">
            <a:extLst>
              <a:ext uri="{FF2B5EF4-FFF2-40B4-BE49-F238E27FC236}">
                <a16:creationId xmlns:a16="http://schemas.microsoft.com/office/drawing/2014/main" id="{2474CA12-9C8A-19FD-2E64-7DF06E886F3E}"/>
              </a:ext>
            </a:extLst>
          </p:cNvPr>
          <p:cNvSpPr>
            <a:spLocks noGrp="1"/>
          </p:cNvSpPr>
          <p:nvPr>
            <p:ph type="subTitle" idx="1"/>
          </p:nvPr>
        </p:nvSpPr>
        <p:spPr/>
        <p:txBody>
          <a:bodyPr/>
          <a:lstStyle/>
          <a:p>
            <a:r>
              <a:rPr lang="en-US" dirty="0"/>
              <a:t>Events</a:t>
            </a:r>
          </a:p>
        </p:txBody>
      </p:sp>
      <p:sp>
        <p:nvSpPr>
          <p:cNvPr id="6" name="Rectangle 2">
            <a:extLst>
              <a:ext uri="{FF2B5EF4-FFF2-40B4-BE49-F238E27FC236}">
                <a16:creationId xmlns:a16="http://schemas.microsoft.com/office/drawing/2014/main" id="{7EBE9F4F-0CF8-A5A1-A43D-33540306BAF2}"/>
              </a:ext>
            </a:extLst>
          </p:cNvPr>
          <p:cNvSpPr>
            <a:spLocks noChangeArrowheads="1"/>
          </p:cNvSpPr>
          <p:nvPr/>
        </p:nvSpPr>
        <p:spPr bwMode="auto">
          <a:xfrm>
            <a:off x="629390" y="1575813"/>
            <a:ext cx="11307237" cy="4363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sz="2400" dirty="0"/>
              <a:t>An </a:t>
            </a:r>
            <a:r>
              <a:rPr lang="en-US" sz="2400" b="1" dirty="0"/>
              <a:t>event</a:t>
            </a:r>
            <a:r>
              <a:rPr lang="en-US" sz="2400" dirty="0"/>
              <a:t> is a specific activity in a repository that triggers a </a:t>
            </a:r>
            <a:r>
              <a:rPr lang="en-US" sz="2400" b="1" dirty="0"/>
              <a:t>workflow</a:t>
            </a:r>
            <a:r>
              <a:rPr lang="en-US" sz="2400" dirty="0"/>
              <a:t> run. </a:t>
            </a:r>
          </a:p>
          <a:p>
            <a:pPr lvl="0"/>
            <a:endParaRPr lang="en-US" sz="2400" dirty="0"/>
          </a:p>
          <a:p>
            <a:pPr lvl="0"/>
            <a:r>
              <a:rPr lang="en-US" sz="2400" dirty="0"/>
              <a:t>You can also trigger a workflow to run on a schedule, by posting to a REST API, or manually.</a:t>
            </a:r>
          </a:p>
          <a:p>
            <a:pPr lvl="0"/>
            <a:endParaRPr lang="en-US" sz="2400" dirty="0"/>
          </a:p>
          <a:p>
            <a:pPr lvl="0"/>
            <a:r>
              <a:rPr lang="en-US" altLang="en-US" sz="2400" b="1" dirty="0"/>
              <a:t>Examples</a:t>
            </a:r>
          </a:p>
          <a:p>
            <a:pPr marL="342900" lvl="0" indent="-342900">
              <a:lnSpc>
                <a:spcPct val="150000"/>
              </a:lnSpc>
              <a:buFont typeface="Arial" panose="020B0604020202020204" pitchFamily="34" charset="0"/>
              <a:buChar char="•"/>
            </a:pPr>
            <a:r>
              <a:rPr lang="en-US" altLang="en-US" sz="2400" dirty="0"/>
              <a:t>push:  fires on every push; filter by branches, tags, or paths</a:t>
            </a:r>
          </a:p>
          <a:p>
            <a:pPr marL="342900" lvl="0" indent="-342900">
              <a:lnSpc>
                <a:spcPct val="150000"/>
              </a:lnSpc>
              <a:buFont typeface="Arial" panose="020B0604020202020204" pitchFamily="34" charset="0"/>
              <a:buChar char="•"/>
            </a:pPr>
            <a:r>
              <a:rPr lang="en-US" altLang="en-US" sz="2400" dirty="0" err="1"/>
              <a:t>pull_request</a:t>
            </a:r>
            <a:r>
              <a:rPr lang="en-US" altLang="en-US" sz="2400" dirty="0"/>
              <a:t> :fires on PR activity (opened, synchronize, closed)</a:t>
            </a:r>
          </a:p>
          <a:p>
            <a:pPr marL="342900" lvl="0" indent="-342900">
              <a:lnSpc>
                <a:spcPct val="150000"/>
              </a:lnSpc>
              <a:buFont typeface="Arial" panose="020B0604020202020204" pitchFamily="34" charset="0"/>
              <a:buChar char="•"/>
            </a:pPr>
            <a:r>
              <a:rPr lang="en-US" altLang="en-US" sz="2400" dirty="0"/>
              <a:t>schedule: </a:t>
            </a:r>
            <a:r>
              <a:rPr lang="en-US" altLang="en-US" sz="2400" dirty="0" err="1"/>
              <a:t>cron</a:t>
            </a:r>
            <a:r>
              <a:rPr lang="en-US" altLang="en-US" sz="2400" dirty="0"/>
              <a:t>-based (e.g. nightly rebuilds to pick up base image patches)</a:t>
            </a:r>
          </a:p>
          <a:p>
            <a:pPr marL="342900" lvl="0" indent="-342900">
              <a:lnSpc>
                <a:spcPct val="150000"/>
              </a:lnSpc>
              <a:buFont typeface="Arial" panose="020B0604020202020204" pitchFamily="34" charset="0"/>
              <a:buChar char="•"/>
            </a:pPr>
            <a:r>
              <a:rPr lang="en-US" altLang="en-US" sz="2400" dirty="0"/>
              <a:t>release:  fires when a GitHub Release is published.</a:t>
            </a:r>
          </a:p>
        </p:txBody>
      </p:sp>
    </p:spTree>
    <p:extLst>
      <p:ext uri="{BB962C8B-B14F-4D97-AF65-F5344CB8AC3E}">
        <p14:creationId xmlns:p14="http://schemas.microsoft.com/office/powerpoint/2010/main" val="1054308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BB46E-299D-9AF4-69F9-AFE41B1E88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8EFCC0-EBC9-CFAA-8319-EC4A3CAEAED7}"/>
              </a:ext>
            </a:extLst>
          </p:cNvPr>
          <p:cNvSpPr>
            <a:spLocks noGrp="1"/>
          </p:cNvSpPr>
          <p:nvPr>
            <p:ph type="ctrTitle"/>
          </p:nvPr>
        </p:nvSpPr>
        <p:spPr>
          <a:xfrm>
            <a:off x="629390" y="357095"/>
            <a:ext cx="11406400" cy="618631"/>
          </a:xfrm>
        </p:spPr>
        <p:txBody>
          <a:bodyPr/>
          <a:lstStyle/>
          <a:p>
            <a:r>
              <a:rPr lang="en-US" dirty="0"/>
              <a:t>Components of GitHub Actions</a:t>
            </a:r>
          </a:p>
        </p:txBody>
      </p:sp>
      <p:sp>
        <p:nvSpPr>
          <p:cNvPr id="4" name="Subtitle 3">
            <a:extLst>
              <a:ext uri="{FF2B5EF4-FFF2-40B4-BE49-F238E27FC236}">
                <a16:creationId xmlns:a16="http://schemas.microsoft.com/office/drawing/2014/main" id="{DA8911C0-5304-4B11-F772-5662BEB92D99}"/>
              </a:ext>
            </a:extLst>
          </p:cNvPr>
          <p:cNvSpPr>
            <a:spLocks noGrp="1"/>
          </p:cNvSpPr>
          <p:nvPr>
            <p:ph type="subTitle" idx="1"/>
          </p:nvPr>
        </p:nvSpPr>
        <p:spPr>
          <a:xfrm>
            <a:off x="678971" y="975726"/>
            <a:ext cx="3412389" cy="452432"/>
          </a:xfrm>
        </p:spPr>
        <p:txBody>
          <a:bodyPr/>
          <a:lstStyle/>
          <a:p>
            <a:r>
              <a:rPr lang="en-US" dirty="0"/>
              <a:t>Runners</a:t>
            </a:r>
          </a:p>
        </p:txBody>
      </p:sp>
      <p:sp>
        <p:nvSpPr>
          <p:cNvPr id="6" name="Rectangle 2">
            <a:extLst>
              <a:ext uri="{FF2B5EF4-FFF2-40B4-BE49-F238E27FC236}">
                <a16:creationId xmlns:a16="http://schemas.microsoft.com/office/drawing/2014/main" id="{F68D9F5E-BB57-9348-0027-A7331510A331}"/>
              </a:ext>
            </a:extLst>
          </p:cNvPr>
          <p:cNvSpPr>
            <a:spLocks noChangeArrowheads="1"/>
          </p:cNvSpPr>
          <p:nvPr/>
        </p:nvSpPr>
        <p:spPr bwMode="auto">
          <a:xfrm>
            <a:off x="678971" y="1866112"/>
            <a:ext cx="1130723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sz="2400" b="1" dirty="0">
                <a:cs typeface="Arial" panose="020B0604020202020204" pitchFamily="34" charset="0"/>
              </a:rPr>
              <a:t>GitHub-hosted runners:</a:t>
            </a:r>
            <a:r>
              <a:rPr lang="en-US" sz="2400" dirty="0">
                <a:cs typeface="Arial" panose="020B0604020202020204" pitchFamily="34" charset="0"/>
              </a:rPr>
              <a:t> free Ubuntu, Windows, and macOS VMs, but its usage has limits.</a:t>
            </a:r>
          </a:p>
          <a:p>
            <a:pPr>
              <a:lnSpc>
                <a:spcPct val="150000"/>
              </a:lnSpc>
            </a:pPr>
            <a:r>
              <a:rPr lang="en-US" sz="2400" b="1" dirty="0">
                <a:cs typeface="Arial" panose="020B0604020202020204" pitchFamily="34" charset="0"/>
              </a:rPr>
              <a:t>Self-hosted runners:</a:t>
            </a:r>
            <a:r>
              <a:rPr lang="en-US" sz="2400" dirty="0">
                <a:cs typeface="Arial" panose="020B0604020202020204" pitchFamily="34" charset="0"/>
              </a:rPr>
              <a:t> install the actions-runner agent on any machine; useful for GPU builds, large datasets.</a:t>
            </a:r>
          </a:p>
          <a:p>
            <a:pPr>
              <a:lnSpc>
                <a:spcPct val="150000"/>
              </a:lnSpc>
            </a:pPr>
            <a:r>
              <a:rPr lang="en-US" sz="2400" b="1" dirty="0">
                <a:cs typeface="Arial" panose="020B0604020202020204" pitchFamily="34" charset="0"/>
              </a:rPr>
              <a:t>When to use self-hosted:</a:t>
            </a:r>
            <a:r>
              <a:rPr lang="en-US" sz="2400" dirty="0">
                <a:cs typeface="Arial" panose="020B0604020202020204" pitchFamily="34" charset="0"/>
              </a:rPr>
              <a:t> image builds exceed 6 hours, require NVIDIA GPUs.</a:t>
            </a:r>
          </a:p>
          <a:p>
            <a:pPr>
              <a:lnSpc>
                <a:spcPct val="150000"/>
              </a:lnSpc>
            </a:pPr>
            <a:r>
              <a:rPr lang="en-US" sz="2400" b="1" dirty="0">
                <a:cs typeface="Arial" panose="020B0604020202020204" pitchFamily="34" charset="0"/>
              </a:rPr>
              <a:t>Labels:</a:t>
            </a:r>
            <a:r>
              <a:rPr lang="en-US" sz="2400" dirty="0">
                <a:cs typeface="Arial" panose="020B0604020202020204" pitchFamily="34" charset="0"/>
              </a:rPr>
              <a:t> target a self-hosted runner with runs-on: [self-hosted, </a:t>
            </a:r>
            <a:r>
              <a:rPr lang="en-US" sz="2400" dirty="0" err="1">
                <a:cs typeface="Arial" panose="020B0604020202020204" pitchFamily="34" charset="0"/>
              </a:rPr>
              <a:t>gpu</a:t>
            </a:r>
            <a:r>
              <a:rPr lang="en-US" sz="2400" dirty="0">
                <a:cs typeface="Arial" panose="020B0604020202020204" pitchFamily="34" charset="0"/>
              </a:rPr>
              <a:t>] in your workflow</a:t>
            </a:r>
          </a:p>
          <a:p>
            <a:pPr lvl="0"/>
            <a:endParaRPr lang="en-US" altLang="en-US" sz="2400" dirty="0"/>
          </a:p>
        </p:txBody>
      </p:sp>
    </p:spTree>
    <p:extLst>
      <p:ext uri="{BB962C8B-B14F-4D97-AF65-F5344CB8AC3E}">
        <p14:creationId xmlns:p14="http://schemas.microsoft.com/office/powerpoint/2010/main" val="1892208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A2B366-20C5-6968-3110-1653A7D9FB9E}"/>
              </a:ext>
            </a:extLst>
          </p:cNvPr>
          <p:cNvSpPr>
            <a:spLocks noGrp="1"/>
          </p:cNvSpPr>
          <p:nvPr>
            <p:ph type="ctrTitle"/>
          </p:nvPr>
        </p:nvSpPr>
        <p:spPr>
          <a:xfrm>
            <a:off x="629390" y="357095"/>
            <a:ext cx="11820518" cy="978729"/>
          </a:xfrm>
        </p:spPr>
        <p:txBody>
          <a:bodyPr/>
          <a:lstStyle/>
          <a:p>
            <a:r>
              <a:rPr lang="en-US" sz="3200" dirty="0"/>
              <a:t>Standard GitHub-hosted runners for public repositories</a:t>
            </a:r>
            <a:br>
              <a:rPr lang="en-US" sz="3200" dirty="0"/>
            </a:br>
            <a:endParaRPr lang="en-US" sz="3200" dirty="0"/>
          </a:p>
        </p:txBody>
      </p:sp>
      <p:pic>
        <p:nvPicPr>
          <p:cNvPr id="6" name="Picture 5">
            <a:extLst>
              <a:ext uri="{FF2B5EF4-FFF2-40B4-BE49-F238E27FC236}">
                <a16:creationId xmlns:a16="http://schemas.microsoft.com/office/drawing/2014/main" id="{C408006C-8CDD-85E5-5940-00A9FCED2F12}"/>
              </a:ext>
            </a:extLst>
          </p:cNvPr>
          <p:cNvPicPr>
            <a:picLocks noChangeAspect="1"/>
          </p:cNvPicPr>
          <p:nvPr/>
        </p:nvPicPr>
        <p:blipFill>
          <a:blip r:embed="rId3"/>
          <a:stretch>
            <a:fillRect/>
          </a:stretch>
        </p:blipFill>
        <p:spPr>
          <a:xfrm>
            <a:off x="2623212" y="919876"/>
            <a:ext cx="5716920" cy="5380190"/>
          </a:xfrm>
          <a:prstGeom prst="rect">
            <a:avLst/>
          </a:prstGeom>
        </p:spPr>
      </p:pic>
      <p:sp>
        <p:nvSpPr>
          <p:cNvPr id="8" name="TextBox 7">
            <a:extLst>
              <a:ext uri="{FF2B5EF4-FFF2-40B4-BE49-F238E27FC236}">
                <a16:creationId xmlns:a16="http://schemas.microsoft.com/office/drawing/2014/main" id="{26124C16-1FA1-61D1-E79C-671639870A8A}"/>
              </a:ext>
            </a:extLst>
          </p:cNvPr>
          <p:cNvSpPr txBox="1"/>
          <p:nvPr/>
        </p:nvSpPr>
        <p:spPr>
          <a:xfrm>
            <a:off x="1286189" y="6581001"/>
            <a:ext cx="10684748" cy="276999"/>
          </a:xfrm>
          <a:prstGeom prst="rect">
            <a:avLst/>
          </a:prstGeom>
          <a:noFill/>
        </p:spPr>
        <p:txBody>
          <a:bodyPr wrap="square">
            <a:spAutoFit/>
          </a:bodyPr>
          <a:lstStyle/>
          <a:p>
            <a:r>
              <a:rPr lang="en-US" sz="1200" dirty="0"/>
              <a:t>https://</a:t>
            </a:r>
            <a:r>
              <a:rPr lang="en-US" sz="1200" dirty="0" err="1"/>
              <a:t>docs.github.com</a:t>
            </a:r>
            <a:r>
              <a:rPr lang="en-US" sz="1200" dirty="0"/>
              <a:t>/</a:t>
            </a:r>
            <a:r>
              <a:rPr lang="en-US" sz="1200" dirty="0" err="1"/>
              <a:t>en</a:t>
            </a:r>
            <a:r>
              <a:rPr lang="en-US" sz="1200" dirty="0"/>
              <a:t>/actions/reference/runners/github-hosted-runners#standard-github-hosted-runners-for-public-repositories</a:t>
            </a:r>
          </a:p>
        </p:txBody>
      </p:sp>
    </p:spTree>
    <p:extLst>
      <p:ext uri="{BB962C8B-B14F-4D97-AF65-F5344CB8AC3E}">
        <p14:creationId xmlns:p14="http://schemas.microsoft.com/office/powerpoint/2010/main" val="636992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5F35-A226-5C94-7050-083BE8858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048DD-5C13-751B-27AE-60580DD16CD7}"/>
              </a:ext>
            </a:extLst>
          </p:cNvPr>
          <p:cNvSpPr>
            <a:spLocks noGrp="1"/>
          </p:cNvSpPr>
          <p:nvPr>
            <p:ph type="ctrTitle"/>
          </p:nvPr>
        </p:nvSpPr>
        <p:spPr>
          <a:xfrm>
            <a:off x="352976" y="2802942"/>
            <a:ext cx="8848173" cy="646331"/>
          </a:xfrm>
        </p:spPr>
        <p:txBody>
          <a:bodyPr/>
          <a:lstStyle/>
          <a:p>
            <a:r>
              <a:rPr lang="en-US" dirty="0"/>
              <a:t>03 GitHub actions &amp; Docker builds</a:t>
            </a:r>
          </a:p>
        </p:txBody>
      </p:sp>
      <p:sp>
        <p:nvSpPr>
          <p:cNvPr id="3" name="Subtitle 2">
            <a:extLst>
              <a:ext uri="{FF2B5EF4-FFF2-40B4-BE49-F238E27FC236}">
                <a16:creationId xmlns:a16="http://schemas.microsoft.com/office/drawing/2014/main" id="{E71CD598-926E-4A07-8341-0AF8991BFF6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09491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874A3A-F701-38FB-BC4F-7C7EB6DA0495}"/>
              </a:ext>
            </a:extLst>
          </p:cNvPr>
          <p:cNvSpPr>
            <a:spLocks noGrp="1"/>
          </p:cNvSpPr>
          <p:nvPr>
            <p:ph type="ctrTitle"/>
          </p:nvPr>
        </p:nvSpPr>
        <p:spPr>
          <a:xfrm>
            <a:off x="629389" y="357095"/>
            <a:ext cx="10553475" cy="1671227"/>
          </a:xfrm>
        </p:spPr>
        <p:txBody>
          <a:bodyPr/>
          <a:lstStyle/>
          <a:p>
            <a:r>
              <a:rPr lang="en-US" dirty="0"/>
              <a:t>GitHub Actions for Docker Containers</a:t>
            </a:r>
          </a:p>
        </p:txBody>
      </p:sp>
      <p:sp>
        <p:nvSpPr>
          <p:cNvPr id="4" name="Subtitle 3">
            <a:extLst>
              <a:ext uri="{FF2B5EF4-FFF2-40B4-BE49-F238E27FC236}">
                <a16:creationId xmlns:a16="http://schemas.microsoft.com/office/drawing/2014/main" id="{E38BA655-B407-0070-55A3-01174B265D1B}"/>
              </a:ext>
            </a:extLst>
          </p:cNvPr>
          <p:cNvSpPr>
            <a:spLocks noGrp="1"/>
          </p:cNvSpPr>
          <p:nvPr>
            <p:ph type="subTitle" idx="1"/>
          </p:nvPr>
        </p:nvSpPr>
        <p:spPr>
          <a:xfrm>
            <a:off x="620452" y="957182"/>
            <a:ext cx="10942159" cy="1300869"/>
          </a:xfrm>
        </p:spPr>
        <p:txBody>
          <a:bodyPr/>
          <a:lstStyle/>
          <a:p>
            <a:r>
              <a:rPr lang="en-US" dirty="0"/>
              <a:t>GitHub Actions automates every stage of your container lifecycle, from code commit to a published, versioned image on Docker Hub.</a:t>
            </a:r>
          </a:p>
          <a:p>
            <a:endParaRPr lang="en-US" dirty="0"/>
          </a:p>
        </p:txBody>
      </p:sp>
      <p:pic>
        <p:nvPicPr>
          <p:cNvPr id="7" name="Picture 6">
            <a:extLst>
              <a:ext uri="{FF2B5EF4-FFF2-40B4-BE49-F238E27FC236}">
                <a16:creationId xmlns:a16="http://schemas.microsoft.com/office/drawing/2014/main" id="{E6832F71-1549-875B-87E7-3D48992FB618}"/>
              </a:ext>
            </a:extLst>
          </p:cNvPr>
          <p:cNvPicPr>
            <a:picLocks noChangeAspect="1"/>
          </p:cNvPicPr>
          <p:nvPr/>
        </p:nvPicPr>
        <p:blipFill>
          <a:blip r:embed="rId3"/>
          <a:srcRect t="15584"/>
          <a:stretch>
            <a:fillRect/>
          </a:stretch>
        </p:blipFill>
        <p:spPr>
          <a:xfrm>
            <a:off x="1338245" y="1813209"/>
            <a:ext cx="9135761" cy="5141358"/>
          </a:xfrm>
          <a:prstGeom prst="rect">
            <a:avLst/>
          </a:prstGeom>
        </p:spPr>
      </p:pic>
    </p:spTree>
    <p:extLst>
      <p:ext uri="{BB962C8B-B14F-4D97-AF65-F5344CB8AC3E}">
        <p14:creationId xmlns:p14="http://schemas.microsoft.com/office/powerpoint/2010/main" val="3128212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849084" y="259559"/>
            <a:ext cx="9770386" cy="618631"/>
          </a:xfrm>
        </p:spPr>
        <p:txBody>
          <a:bodyPr/>
          <a:lstStyle/>
          <a:p>
            <a:r>
              <a:rPr lang="en-US" dirty="0"/>
              <a:t>Anatomy of a Workflow File</a:t>
            </a:r>
          </a:p>
        </p:txBody>
      </p:sp>
      <p:sp>
        <p:nvSpPr>
          <p:cNvPr id="6" name="TextBox 5"/>
          <p:cNvSpPr txBox="1"/>
          <p:nvPr/>
        </p:nvSpPr>
        <p:spPr>
          <a:xfrm>
            <a:off x="849084" y="878190"/>
            <a:ext cx="6830010" cy="984885"/>
          </a:xfrm>
          <a:prstGeom prst="rect">
            <a:avLst/>
          </a:prstGeom>
          <a:noFill/>
        </p:spPr>
        <p:txBody>
          <a:bodyPr wrap="square">
            <a:spAutoFit/>
          </a:bodyPr>
          <a:lstStyle/>
          <a:p>
            <a:r>
              <a:rPr lang="en-US" dirty="0">
                <a:latin typeface="Arial" panose="020B0604020202020204" pitchFamily="34" charset="0"/>
              </a:rPr>
              <a:t>Copy this into </a:t>
            </a:r>
            <a:r>
              <a:rPr lang="en-US" dirty="0">
                <a:latin typeface="Consolas"/>
              </a:rPr>
              <a:t>.</a:t>
            </a:r>
            <a:r>
              <a:rPr lang="en-US" dirty="0" err="1">
                <a:latin typeface="Consolas"/>
              </a:rPr>
              <a:t>github</a:t>
            </a:r>
            <a:r>
              <a:rPr lang="en-US" dirty="0">
                <a:latin typeface="Consolas"/>
              </a:rPr>
              <a:t>/workflows/</a:t>
            </a:r>
            <a:r>
              <a:rPr lang="en-US" dirty="0" err="1">
                <a:latin typeface="Consolas"/>
              </a:rPr>
              <a:t>docker.yml</a:t>
            </a:r>
            <a:r>
              <a:rPr lang="en-US" dirty="0">
                <a:latin typeface="Arial" panose="020B0604020202020204" pitchFamily="34" charset="0"/>
              </a:rPr>
              <a:t> to get an automated, production-ready build pipeline.</a:t>
            </a:r>
          </a:p>
          <a:p>
            <a:pPr>
              <a:buNone/>
            </a:pPr>
            <a:endParaRPr lang="en-US" sz="2200" dirty="0">
              <a:latin typeface="Arial" panose="020B0604020202020204" pitchFamily="34" charset="0"/>
            </a:endParaRPr>
          </a:p>
        </p:txBody>
      </p:sp>
      <p:sp>
        <p:nvSpPr>
          <p:cNvPr id="7" name="CodeLeft"/>
          <p:cNvSpPr txBox="1"/>
          <p:nvPr/>
        </p:nvSpPr>
        <p:spPr>
          <a:xfrm>
            <a:off x="7890590" y="568874"/>
            <a:ext cx="6904652" cy="4550151"/>
          </a:xfrm>
          <a:prstGeom prst="rect">
            <a:avLst/>
          </a:prstGeom>
          <a:noFill/>
        </p:spPr>
        <p:txBody>
          <a:bodyPr wrap="square" lIns="120000" tIns="120000" rIns="120000" bIns="120000"/>
          <a:lstStyle/>
          <a:p>
            <a:pPr>
              <a:buNone/>
            </a:pPr>
            <a:r>
              <a:rPr lang="en-US" sz="1000" dirty="0">
                <a:latin typeface="Consolas"/>
              </a:rPr>
              <a:t>name: Build &amp; Publish Docker Image</a:t>
            </a:r>
          </a:p>
          <a:p>
            <a:pPr>
              <a:buNone/>
            </a:pPr>
            <a:r>
              <a:rPr lang="en-US" sz="1000" dirty="0">
                <a:latin typeface="Consolas"/>
              </a:rPr>
              <a:t>on:</a:t>
            </a:r>
          </a:p>
          <a:p>
            <a:pPr>
              <a:buNone/>
            </a:pPr>
            <a:r>
              <a:rPr lang="en-US" sz="1000" dirty="0">
                <a:latin typeface="Consolas"/>
              </a:rPr>
              <a:t>  release:</a:t>
            </a:r>
          </a:p>
          <a:p>
            <a:pPr>
              <a:buNone/>
            </a:pPr>
            <a:r>
              <a:rPr lang="en-US" sz="1000" dirty="0">
                <a:latin typeface="Consolas"/>
              </a:rPr>
              <a:t>    types: [published]</a:t>
            </a:r>
          </a:p>
          <a:p>
            <a:pPr>
              <a:buNone/>
            </a:pPr>
            <a:endParaRPr lang="en-US" sz="1000" dirty="0">
              <a:latin typeface="Consolas"/>
            </a:endParaRPr>
          </a:p>
          <a:p>
            <a:pPr>
              <a:buNone/>
            </a:pPr>
            <a:r>
              <a:rPr lang="en-US" sz="1000" dirty="0">
                <a:latin typeface="Consolas"/>
              </a:rPr>
              <a:t>jobs:</a:t>
            </a:r>
          </a:p>
          <a:p>
            <a:pPr>
              <a:buNone/>
            </a:pPr>
            <a:r>
              <a:rPr lang="en-US" sz="1000" dirty="0">
                <a:latin typeface="Consolas"/>
              </a:rPr>
              <a:t>  push-to-</a:t>
            </a:r>
            <a:r>
              <a:rPr lang="en-US" sz="1000" dirty="0" err="1">
                <a:latin typeface="Consolas"/>
              </a:rPr>
              <a:t>dockerhub</a:t>
            </a:r>
            <a:r>
              <a:rPr lang="en-US" sz="1000" dirty="0">
                <a:latin typeface="Consolas"/>
              </a:rPr>
              <a:t>:</a:t>
            </a:r>
          </a:p>
          <a:p>
            <a:pPr>
              <a:buNone/>
            </a:pPr>
            <a:r>
              <a:rPr lang="en-US" sz="1000" dirty="0">
                <a:latin typeface="Consolas"/>
              </a:rPr>
              <a:t>    runs-on: </a:t>
            </a:r>
            <a:r>
              <a:rPr lang="en-US" sz="1000" dirty="0">
                <a:solidFill>
                  <a:srgbClr val="3172AE"/>
                </a:solidFill>
                <a:latin typeface="Consolas"/>
              </a:rPr>
              <a:t>ubuntu-latest</a:t>
            </a:r>
          </a:p>
          <a:p>
            <a:pPr>
              <a:buNone/>
            </a:pPr>
            <a:r>
              <a:rPr lang="en-US" sz="1000" dirty="0">
                <a:latin typeface="Consolas"/>
              </a:rPr>
              <a:t>    permissions:</a:t>
            </a:r>
          </a:p>
          <a:p>
            <a:pPr>
              <a:buNone/>
            </a:pPr>
            <a:r>
              <a:rPr lang="en-US" sz="1000" dirty="0">
                <a:latin typeface="Consolas"/>
              </a:rPr>
              <a:t>      packages: write</a:t>
            </a:r>
          </a:p>
          <a:p>
            <a:pPr>
              <a:buNone/>
            </a:pPr>
            <a:r>
              <a:rPr lang="en-US" sz="1000" dirty="0">
                <a:latin typeface="Consolas"/>
              </a:rPr>
              <a:t>      contents: read</a:t>
            </a:r>
          </a:p>
          <a:p>
            <a:pPr>
              <a:buNone/>
            </a:pPr>
            <a:r>
              <a:rPr lang="en-US" sz="1000" dirty="0">
                <a:latin typeface="Consolas"/>
              </a:rPr>
              <a:t>    steps:</a:t>
            </a:r>
          </a:p>
          <a:p>
            <a:pPr>
              <a:buNone/>
            </a:pPr>
            <a:r>
              <a:rPr lang="en-US" sz="1000" dirty="0">
                <a:latin typeface="Consolas"/>
              </a:rPr>
              <a:t>      - uses: actions/</a:t>
            </a:r>
            <a:r>
              <a:rPr lang="en-US" sz="1000" dirty="0">
                <a:solidFill>
                  <a:srgbClr val="3172AE"/>
                </a:solidFill>
                <a:latin typeface="Consolas"/>
              </a:rPr>
              <a:t>checkout</a:t>
            </a:r>
            <a:r>
              <a:rPr lang="en-US" sz="1000" dirty="0">
                <a:latin typeface="Consolas"/>
              </a:rPr>
              <a:t>@v4</a:t>
            </a:r>
          </a:p>
          <a:p>
            <a:pPr>
              <a:buNone/>
            </a:pPr>
            <a:r>
              <a:rPr lang="en-US" sz="1000" dirty="0">
                <a:latin typeface="Consolas"/>
              </a:rPr>
              <a:t>      - name: Login to </a:t>
            </a:r>
            <a:r>
              <a:rPr lang="en-US" sz="1000" dirty="0" err="1">
                <a:latin typeface="Consolas"/>
              </a:rPr>
              <a:t>Dockerhub</a:t>
            </a:r>
            <a:endParaRPr lang="en-US" sz="1000" dirty="0">
              <a:latin typeface="Consolas"/>
            </a:endParaRPr>
          </a:p>
          <a:p>
            <a:pPr>
              <a:buNone/>
            </a:pPr>
            <a:r>
              <a:rPr lang="en-US" sz="1000" dirty="0">
                <a:latin typeface="Consolas"/>
              </a:rPr>
              <a:t>        uses: docker/</a:t>
            </a:r>
            <a:r>
              <a:rPr lang="en-US" sz="1000" dirty="0">
                <a:solidFill>
                  <a:srgbClr val="3172AE"/>
                </a:solidFill>
                <a:latin typeface="Consolas"/>
              </a:rPr>
              <a:t>login-action</a:t>
            </a:r>
            <a:r>
              <a:rPr lang="en-US" sz="1000" dirty="0">
                <a:latin typeface="Consolas"/>
              </a:rPr>
              <a:t>@v3</a:t>
            </a:r>
          </a:p>
          <a:p>
            <a:pPr>
              <a:buNone/>
            </a:pPr>
            <a:r>
              <a:rPr lang="en-US" sz="1000" dirty="0">
                <a:latin typeface="Consolas"/>
              </a:rPr>
              <a:t>        with:</a:t>
            </a:r>
          </a:p>
          <a:p>
            <a:pPr>
              <a:buNone/>
            </a:pPr>
            <a:r>
              <a:rPr lang="en-US" sz="1000" dirty="0">
                <a:latin typeface="Consolas"/>
              </a:rPr>
              <a:t>          username: ${{ </a:t>
            </a:r>
            <a:r>
              <a:rPr lang="en-US" sz="1000" dirty="0" err="1">
                <a:solidFill>
                  <a:srgbClr val="3172AE"/>
                </a:solidFill>
                <a:latin typeface="Consolas"/>
              </a:rPr>
              <a:t>vars.DOCKERHUB_USERNAME</a:t>
            </a:r>
            <a:r>
              <a:rPr lang="en-US" sz="1000" dirty="0">
                <a:solidFill>
                  <a:srgbClr val="3172AE"/>
                </a:solidFill>
                <a:latin typeface="Consolas"/>
              </a:rPr>
              <a:t> </a:t>
            </a:r>
            <a:r>
              <a:rPr lang="en-US" sz="1000" dirty="0">
                <a:latin typeface="Consolas"/>
              </a:rPr>
              <a:t>}}</a:t>
            </a:r>
          </a:p>
          <a:p>
            <a:pPr>
              <a:buNone/>
            </a:pPr>
            <a:r>
              <a:rPr lang="en-US" sz="1000" dirty="0">
                <a:latin typeface="Consolas"/>
              </a:rPr>
              <a:t>          password: ${{ </a:t>
            </a:r>
            <a:r>
              <a:rPr lang="en-US" sz="1000" dirty="0" err="1">
                <a:solidFill>
                  <a:srgbClr val="3172AE"/>
                </a:solidFill>
                <a:latin typeface="Consolas"/>
              </a:rPr>
              <a:t>secrets.DOCKERHUB_PASSWORD</a:t>
            </a:r>
            <a:r>
              <a:rPr lang="en-US" sz="1000" dirty="0">
                <a:latin typeface="Consolas"/>
              </a:rPr>
              <a:t> }}</a:t>
            </a:r>
          </a:p>
          <a:p>
            <a:pPr>
              <a:buNone/>
            </a:pPr>
            <a:endParaRPr lang="en-US" sz="1000" dirty="0">
              <a:latin typeface="Consolas"/>
            </a:endParaRPr>
          </a:p>
          <a:p>
            <a:pPr>
              <a:buNone/>
            </a:pPr>
            <a:r>
              <a:rPr lang="en-US" sz="1000" dirty="0">
                <a:latin typeface="Consolas"/>
              </a:rPr>
              <a:t>      - name: Extract Metadata</a:t>
            </a:r>
          </a:p>
          <a:p>
            <a:pPr>
              <a:buNone/>
            </a:pPr>
            <a:r>
              <a:rPr lang="en-US" sz="1000" dirty="0">
                <a:latin typeface="Consolas"/>
              </a:rPr>
              <a:t>        id: metadata</a:t>
            </a:r>
          </a:p>
          <a:p>
            <a:pPr>
              <a:buNone/>
            </a:pPr>
            <a:r>
              <a:rPr lang="en-US" sz="1000" dirty="0">
                <a:latin typeface="Consolas"/>
              </a:rPr>
              <a:t>        uses: docker/</a:t>
            </a:r>
            <a:r>
              <a:rPr lang="en-US" sz="1000" dirty="0">
                <a:solidFill>
                  <a:srgbClr val="3172AE"/>
                </a:solidFill>
                <a:latin typeface="Consolas"/>
              </a:rPr>
              <a:t>metadata-action</a:t>
            </a:r>
            <a:r>
              <a:rPr lang="en-US" sz="1000" dirty="0">
                <a:latin typeface="Consolas"/>
              </a:rPr>
              <a:t>@v4</a:t>
            </a:r>
          </a:p>
          <a:p>
            <a:pPr>
              <a:buNone/>
            </a:pPr>
            <a:r>
              <a:rPr lang="en-US" sz="1000" dirty="0">
                <a:latin typeface="Consolas"/>
              </a:rPr>
              <a:t>        with:</a:t>
            </a:r>
          </a:p>
          <a:p>
            <a:pPr>
              <a:buNone/>
            </a:pPr>
            <a:r>
              <a:rPr lang="en-US" sz="1000" dirty="0">
                <a:latin typeface="Consolas"/>
              </a:rPr>
              <a:t>          images: |</a:t>
            </a:r>
          </a:p>
          <a:p>
            <a:pPr>
              <a:buNone/>
            </a:pPr>
            <a:r>
              <a:rPr lang="en-US" sz="1000" dirty="0">
                <a:latin typeface="Consolas"/>
              </a:rPr>
              <a:t>            </a:t>
            </a:r>
            <a:r>
              <a:rPr lang="en-US" sz="1000" dirty="0" err="1">
                <a:latin typeface="Consolas"/>
              </a:rPr>
              <a:t>tuftsttsrt</a:t>
            </a:r>
            <a:r>
              <a:rPr lang="en-US" sz="1000" dirty="0">
                <a:latin typeface="Consolas"/>
              </a:rPr>
              <a:t>/</a:t>
            </a:r>
            <a:r>
              <a:rPr lang="en-US" sz="1000" dirty="0" err="1">
                <a:latin typeface="Consolas"/>
              </a:rPr>
              <a:t>rserver</a:t>
            </a:r>
            <a:endParaRPr lang="en-US" sz="1000" dirty="0">
              <a:latin typeface="Consolas"/>
            </a:endParaRPr>
          </a:p>
          <a:p>
            <a:pPr>
              <a:buNone/>
            </a:pPr>
            <a:r>
              <a:rPr lang="en-US" sz="1000" dirty="0">
                <a:latin typeface="Consolas"/>
              </a:rPr>
              <a:t>          tags: </a:t>
            </a:r>
            <a:r>
              <a:rPr lang="en-US" sz="1000" dirty="0">
                <a:solidFill>
                  <a:srgbClr val="3172AE"/>
                </a:solidFill>
                <a:latin typeface="Consolas"/>
              </a:rPr>
              <a:t>type=</a:t>
            </a:r>
            <a:r>
              <a:rPr lang="en-US" sz="1000" dirty="0" err="1">
                <a:solidFill>
                  <a:srgbClr val="3172AE"/>
                </a:solidFill>
                <a:latin typeface="Consolas"/>
              </a:rPr>
              <a:t>semver,pattern</a:t>
            </a:r>
            <a:r>
              <a:rPr lang="en-US" sz="1000" dirty="0">
                <a:solidFill>
                  <a:srgbClr val="3172AE"/>
                </a:solidFill>
                <a:latin typeface="Consolas"/>
              </a:rPr>
              <a:t>={{version}}</a:t>
            </a:r>
          </a:p>
          <a:p>
            <a:pPr>
              <a:buNone/>
            </a:pPr>
            <a:r>
              <a:rPr lang="en-US" sz="1000" dirty="0">
                <a:latin typeface="Consolas"/>
              </a:rPr>
              <a:t>      - name: Build &amp; Publish Docker Image</a:t>
            </a:r>
          </a:p>
          <a:p>
            <a:pPr>
              <a:buNone/>
            </a:pPr>
            <a:r>
              <a:rPr lang="en-US" sz="1000" dirty="0">
                <a:latin typeface="Consolas"/>
              </a:rPr>
              <a:t>        uses: docker/</a:t>
            </a:r>
            <a:r>
              <a:rPr lang="en-US" sz="1000" dirty="0">
                <a:solidFill>
                  <a:srgbClr val="3172AE"/>
                </a:solidFill>
                <a:latin typeface="Consolas"/>
              </a:rPr>
              <a:t>build-push-action</a:t>
            </a:r>
            <a:r>
              <a:rPr lang="en-US" sz="1000" dirty="0">
                <a:latin typeface="Consolas"/>
              </a:rPr>
              <a:t>@v5</a:t>
            </a:r>
          </a:p>
          <a:p>
            <a:pPr>
              <a:buNone/>
            </a:pPr>
            <a:r>
              <a:rPr lang="en-US" sz="1000" dirty="0">
                <a:latin typeface="Consolas"/>
              </a:rPr>
              <a:t>        with:</a:t>
            </a:r>
          </a:p>
          <a:p>
            <a:pPr>
              <a:buNone/>
            </a:pPr>
            <a:r>
              <a:rPr lang="en-US" sz="1000" dirty="0">
                <a:latin typeface="Consolas"/>
              </a:rPr>
              <a:t>          context: .</a:t>
            </a:r>
          </a:p>
          <a:p>
            <a:pPr>
              <a:buNone/>
            </a:pPr>
            <a:r>
              <a:rPr lang="en-US" sz="1000" dirty="0">
                <a:latin typeface="Consolas"/>
              </a:rPr>
              <a:t>          file: ./</a:t>
            </a:r>
            <a:r>
              <a:rPr lang="en-US" sz="1000" dirty="0" err="1">
                <a:latin typeface="Consolas"/>
              </a:rPr>
              <a:t>Dockerfile</a:t>
            </a:r>
            <a:endParaRPr lang="en-US" sz="1000" dirty="0">
              <a:latin typeface="Consolas"/>
            </a:endParaRPr>
          </a:p>
          <a:p>
            <a:pPr>
              <a:buNone/>
            </a:pPr>
            <a:r>
              <a:rPr lang="en-US" sz="1000" dirty="0">
                <a:latin typeface="Consolas"/>
              </a:rPr>
              <a:t>          push: true</a:t>
            </a:r>
          </a:p>
          <a:p>
            <a:pPr>
              <a:buNone/>
            </a:pPr>
            <a:r>
              <a:rPr lang="en-US" sz="1000" dirty="0">
                <a:latin typeface="Consolas"/>
              </a:rPr>
              <a:t>          tags: ${{ </a:t>
            </a:r>
            <a:r>
              <a:rPr lang="en-US" sz="1000" dirty="0" err="1">
                <a:latin typeface="Consolas"/>
              </a:rPr>
              <a:t>steps.metadata.outputs.tags</a:t>
            </a:r>
            <a:r>
              <a:rPr lang="en-US" sz="1000" dirty="0">
                <a:latin typeface="Consolas"/>
              </a:rPr>
              <a:t> }}</a:t>
            </a:r>
          </a:p>
          <a:p>
            <a:pPr>
              <a:buNone/>
            </a:pPr>
            <a:r>
              <a:rPr lang="en-US" sz="1000" dirty="0">
                <a:latin typeface="Consolas"/>
              </a:rPr>
              <a:t>          labels: ${{ </a:t>
            </a:r>
            <a:r>
              <a:rPr lang="en-US" sz="1000" dirty="0" err="1">
                <a:latin typeface="Consolas"/>
              </a:rPr>
              <a:t>steps.metadata.outputs.labels</a:t>
            </a:r>
            <a:r>
              <a:rPr lang="en-US" sz="1000" dirty="0">
                <a:latin typeface="Consolas"/>
              </a:rPr>
              <a:t> }}</a:t>
            </a:r>
          </a:p>
        </p:txBody>
      </p:sp>
      <p:sp>
        <p:nvSpPr>
          <p:cNvPr id="8" name="Annotations"/>
          <p:cNvSpPr txBox="1"/>
          <p:nvPr/>
        </p:nvSpPr>
        <p:spPr>
          <a:xfrm>
            <a:off x="985812" y="1496821"/>
            <a:ext cx="5812554" cy="4700000"/>
          </a:xfrm>
          <a:prstGeom prst="rect">
            <a:avLst/>
          </a:prstGeom>
          <a:noFill/>
        </p:spPr>
        <p:txBody>
          <a:bodyPr wrap="square" lIns="0" tIns="120000"/>
          <a:lstStyle/>
          <a:p>
            <a:pPr>
              <a:buNone/>
            </a:pPr>
            <a:r>
              <a:rPr lang="en-US" sz="1600" b="1" dirty="0">
                <a:solidFill>
                  <a:srgbClr val="2E74B5"/>
                </a:solidFill>
                <a:latin typeface="Arial" panose="020B0604020202020204" pitchFamily="34" charset="0"/>
                <a:cs typeface="Arial" panose="020B0604020202020204" pitchFamily="34" charset="0"/>
              </a:rPr>
              <a:t>▶ </a:t>
            </a:r>
            <a:r>
              <a:rPr lang="en-US" b="1" dirty="0">
                <a:solidFill>
                  <a:srgbClr val="2E74B5"/>
                </a:solidFill>
                <a:latin typeface="Arial" panose="020B0604020202020204" pitchFamily="34" charset="0"/>
                <a:cs typeface="Arial" panose="020B0604020202020204" pitchFamily="34" charset="0"/>
              </a:rPr>
              <a:t>Trigger</a:t>
            </a:r>
          </a:p>
          <a:p>
            <a:pPr>
              <a:buNone/>
            </a:pPr>
            <a:r>
              <a:rPr lang="en-US" sz="1600" dirty="0">
                <a:latin typeface="Arial" panose="020B0604020202020204" pitchFamily="34" charset="0"/>
                <a:cs typeface="Arial" panose="020B0604020202020204" pitchFamily="34" charset="0"/>
              </a:rPr>
              <a:t>Fires when a GitHub Release is published. </a:t>
            </a:r>
          </a:p>
          <a:p>
            <a:pPr>
              <a:buNone/>
            </a:pPr>
            <a:r>
              <a:rPr lang="en-US" sz="1400" dirty="0">
                <a:latin typeface="Arial" panose="020B0604020202020204" pitchFamily="34" charset="0"/>
                <a:cs typeface="Arial" panose="020B0604020202020204" pitchFamily="34" charset="0"/>
              </a:rPr>
              <a:t> </a:t>
            </a:r>
          </a:p>
          <a:p>
            <a:pPr>
              <a:buNone/>
            </a:pPr>
            <a:r>
              <a:rPr lang="en-US" sz="1600" b="1" dirty="0">
                <a:solidFill>
                  <a:srgbClr val="2E74B5"/>
                </a:solidFill>
                <a:latin typeface="Arial" panose="020B0604020202020204" pitchFamily="34" charset="0"/>
                <a:cs typeface="Arial" panose="020B0604020202020204" pitchFamily="34" charset="0"/>
              </a:rPr>
              <a:t>▶ </a:t>
            </a:r>
            <a:r>
              <a:rPr lang="en-US" b="1" dirty="0">
                <a:solidFill>
                  <a:srgbClr val="2E74B5"/>
                </a:solidFill>
                <a:latin typeface="Arial" panose="020B0604020202020204" pitchFamily="34" charset="0"/>
                <a:cs typeface="Arial" panose="020B0604020202020204" pitchFamily="34" charset="0"/>
              </a:rPr>
              <a:t>Runner</a:t>
            </a:r>
          </a:p>
          <a:p>
            <a:pPr>
              <a:buNone/>
            </a:pPr>
            <a:r>
              <a:rPr lang="en-US" sz="1500" dirty="0">
                <a:latin typeface="Arial" panose="020B0604020202020204" pitchFamily="34" charset="0"/>
                <a:cs typeface="Arial" panose="020B0604020202020204" pitchFamily="34" charset="0"/>
              </a:rPr>
              <a:t>GitHub-hosted Ubuntu VM. </a:t>
            </a:r>
          </a:p>
          <a:p>
            <a:pPr>
              <a:buNone/>
            </a:pPr>
            <a:r>
              <a:rPr lang="en-US" sz="1400" dirty="0">
                <a:latin typeface="Arial" panose="020B0604020202020204" pitchFamily="34" charset="0"/>
                <a:cs typeface="Arial" panose="020B0604020202020204" pitchFamily="34" charset="0"/>
              </a:rPr>
              <a:t> </a:t>
            </a:r>
          </a:p>
          <a:p>
            <a:r>
              <a:rPr lang="en-US" sz="1600" b="1" dirty="0">
                <a:solidFill>
                  <a:srgbClr val="2E74B5"/>
                </a:solidFill>
                <a:latin typeface="Arial" panose="020B0604020202020204" pitchFamily="34" charset="0"/>
                <a:cs typeface="Arial" panose="020B0604020202020204" pitchFamily="34" charset="0"/>
              </a:rPr>
              <a:t>▶ </a:t>
            </a:r>
            <a:r>
              <a:rPr lang="en-US" b="1" dirty="0">
                <a:solidFill>
                  <a:srgbClr val="2E74B5"/>
                </a:solidFill>
                <a:latin typeface="Arial" panose="020B0604020202020204" pitchFamily="34" charset="0"/>
                <a:cs typeface="Arial" panose="020B0604020202020204" pitchFamily="34" charset="0"/>
              </a:rPr>
              <a:t>Secrets &amp; Variables </a:t>
            </a:r>
          </a:p>
          <a:p>
            <a:pPr>
              <a:buNone/>
            </a:pPr>
            <a:r>
              <a:rPr lang="en-US" sz="1500" dirty="0">
                <a:latin typeface="Arial" panose="020B0604020202020204" pitchFamily="34" charset="0"/>
                <a:cs typeface="Arial" panose="020B0604020202020204" pitchFamily="34" charset="0"/>
              </a:rPr>
              <a:t>Referenced with ${{ </a:t>
            </a:r>
            <a:r>
              <a:rPr lang="en-US" sz="1500" dirty="0" err="1">
                <a:latin typeface="Arial" panose="020B0604020202020204" pitchFamily="34" charset="0"/>
                <a:cs typeface="Arial" panose="020B0604020202020204" pitchFamily="34" charset="0"/>
              </a:rPr>
              <a:t>vars.NAME</a:t>
            </a:r>
            <a:r>
              <a:rPr lang="en-US" sz="1500" dirty="0">
                <a:latin typeface="Arial" panose="020B0604020202020204" pitchFamily="34" charset="0"/>
                <a:cs typeface="Arial" panose="020B0604020202020204" pitchFamily="34" charset="0"/>
              </a:rPr>
              <a:t> }} and ${{ </a:t>
            </a:r>
            <a:r>
              <a:rPr lang="en-US" sz="1500" dirty="0" err="1">
                <a:latin typeface="Arial" panose="020B0604020202020204" pitchFamily="34" charset="0"/>
                <a:cs typeface="Arial" panose="020B0604020202020204" pitchFamily="34" charset="0"/>
              </a:rPr>
              <a:t>secrets.NAME</a:t>
            </a:r>
            <a:r>
              <a:rPr lang="en-US" sz="1500" dirty="0">
                <a:latin typeface="Arial" panose="020B0604020202020204" pitchFamily="34" charset="0"/>
                <a:cs typeface="Arial" panose="020B0604020202020204" pitchFamily="34" charset="0"/>
              </a:rPr>
              <a:t> }}. Never printed in logs.</a:t>
            </a:r>
          </a:p>
          <a:p>
            <a:pPr>
              <a:buNone/>
            </a:pPr>
            <a:r>
              <a:rPr lang="en-US" sz="1400" dirty="0">
                <a:latin typeface="Arial" panose="020B0604020202020204" pitchFamily="34" charset="0"/>
                <a:cs typeface="Arial" panose="020B0604020202020204" pitchFamily="34" charset="0"/>
              </a:rPr>
              <a:t> </a:t>
            </a:r>
          </a:p>
          <a:p>
            <a:pPr>
              <a:buNone/>
            </a:pPr>
            <a:r>
              <a:rPr lang="en-US" sz="1600" b="1" dirty="0">
                <a:solidFill>
                  <a:srgbClr val="2E74B5"/>
                </a:solidFill>
                <a:latin typeface="Arial" panose="020B0604020202020204" pitchFamily="34" charset="0"/>
                <a:cs typeface="Arial" panose="020B0604020202020204" pitchFamily="34" charset="0"/>
              </a:rPr>
              <a:t>▶ </a:t>
            </a:r>
            <a:r>
              <a:rPr lang="en-US" b="1" dirty="0">
                <a:solidFill>
                  <a:srgbClr val="2E74B5"/>
                </a:solidFill>
                <a:latin typeface="Arial" panose="020B0604020202020204" pitchFamily="34" charset="0"/>
                <a:cs typeface="Arial" panose="020B0604020202020204" pitchFamily="34" charset="0"/>
              </a:rPr>
              <a:t>Steps</a:t>
            </a:r>
          </a:p>
          <a:p>
            <a:pPr>
              <a:buNone/>
            </a:pPr>
            <a:r>
              <a:rPr lang="en-US" sz="1600" dirty="0">
                <a:latin typeface="Arial" panose="020B0604020202020204" pitchFamily="34" charset="0"/>
                <a:cs typeface="Arial" panose="020B0604020202020204" pitchFamily="34" charset="0"/>
              </a:rPr>
              <a:t>Run in order. A failing step stops the job. </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Checkout:</a:t>
            </a:r>
            <a:r>
              <a:rPr lang="en-US" sz="1600" dirty="0">
                <a:latin typeface="Arial" panose="020B0604020202020204" pitchFamily="34" charset="0"/>
                <a:cs typeface="Arial" panose="020B0604020202020204" pitchFamily="34" charset="0"/>
              </a:rPr>
              <a:t> pulls your repo code into the runner</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Login: </a:t>
            </a:r>
            <a:r>
              <a:rPr lang="en-US" sz="1600" dirty="0">
                <a:latin typeface="Arial" panose="020B0604020202020204" pitchFamily="34" charset="0"/>
                <a:cs typeface="Arial" panose="020B0604020202020204" pitchFamily="34" charset="0"/>
              </a:rPr>
              <a:t>authenticates to Docker Hub using your stored credentials</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Extract Metadata:</a:t>
            </a:r>
            <a:r>
              <a:rPr lang="en-US" sz="1600" dirty="0">
                <a:latin typeface="Arial" panose="020B0604020202020204" pitchFamily="34" charset="0"/>
                <a:cs typeface="Arial" panose="020B0604020202020204" pitchFamily="34" charset="0"/>
              </a:rPr>
              <a:t> derives the image tag from the release version and attaches standard OCI labels</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Build &amp; Publish:</a:t>
            </a:r>
            <a:r>
              <a:rPr lang="en-US" sz="1600" dirty="0">
                <a:latin typeface="Arial" panose="020B0604020202020204" pitchFamily="34" charset="0"/>
                <a:cs typeface="Arial" panose="020B0604020202020204" pitchFamily="34" charset="0"/>
              </a:rPr>
              <a:t> builds the image from ./</a:t>
            </a:r>
            <a:r>
              <a:rPr lang="en-US" sz="1600" dirty="0" err="1">
                <a:latin typeface="Arial" panose="020B0604020202020204" pitchFamily="34" charset="0"/>
                <a:cs typeface="Arial" panose="020B0604020202020204" pitchFamily="34" charset="0"/>
              </a:rPr>
              <a:t>Dockerfile</a:t>
            </a:r>
            <a:r>
              <a:rPr lang="en-US" sz="1600" dirty="0">
                <a:latin typeface="Arial" panose="020B0604020202020204" pitchFamily="34" charset="0"/>
                <a:cs typeface="Arial" panose="020B0604020202020204" pitchFamily="34" charset="0"/>
              </a:rPr>
              <a:t> and pushes to </a:t>
            </a:r>
            <a:r>
              <a:rPr lang="en-US" sz="1600" dirty="0" err="1">
                <a:latin typeface="Arial" panose="020B0604020202020204" pitchFamily="34" charset="0"/>
                <a:cs typeface="Arial" panose="020B0604020202020204" pitchFamily="34" charset="0"/>
              </a:rPr>
              <a:t>tuftsttsrt</a:t>
            </a:r>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rserver</a:t>
            </a:r>
            <a:r>
              <a:rPr lang="en-US" sz="1600" dirty="0">
                <a:latin typeface="Arial" panose="020B0604020202020204" pitchFamily="34" charset="0"/>
                <a:cs typeface="Arial" panose="020B0604020202020204" pitchFamily="34" charset="0"/>
              </a:rPr>
              <a:t> with the extracted tag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31C4E5-4956-FC3D-EFE2-120A885AAC16}"/>
              </a:ext>
            </a:extLst>
          </p:cNvPr>
          <p:cNvPicPr>
            <a:picLocks noChangeAspect="1"/>
          </p:cNvPicPr>
          <p:nvPr/>
        </p:nvPicPr>
        <p:blipFill>
          <a:blip r:embed="rId3"/>
          <a:stretch>
            <a:fillRect/>
          </a:stretch>
        </p:blipFill>
        <p:spPr>
          <a:xfrm>
            <a:off x="1281743" y="11391"/>
            <a:ext cx="10382708" cy="6930829"/>
          </a:xfrm>
          <a:prstGeom prst="rect">
            <a:avLst/>
          </a:prstGeom>
        </p:spPr>
      </p:pic>
    </p:spTree>
    <p:extLst>
      <p:ext uri="{BB962C8B-B14F-4D97-AF65-F5344CB8AC3E}">
        <p14:creationId xmlns:p14="http://schemas.microsoft.com/office/powerpoint/2010/main" val="2032095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9ACBC3-7008-154C-2BFD-B850A7474A54}"/>
              </a:ext>
            </a:extLst>
          </p:cNvPr>
          <p:cNvSpPr>
            <a:spLocks noGrp="1"/>
          </p:cNvSpPr>
          <p:nvPr>
            <p:ph type="ctrTitle"/>
          </p:nvPr>
        </p:nvSpPr>
        <p:spPr>
          <a:xfrm>
            <a:off x="629390" y="357095"/>
            <a:ext cx="11134242" cy="618631"/>
          </a:xfrm>
        </p:spPr>
        <p:txBody>
          <a:bodyPr/>
          <a:lstStyle/>
          <a:p>
            <a:r>
              <a:rPr lang="en-US" dirty="0"/>
              <a:t>How TTS Research Technology use it?</a:t>
            </a:r>
          </a:p>
        </p:txBody>
      </p:sp>
      <p:sp>
        <p:nvSpPr>
          <p:cNvPr id="4" name="Subtitle 3">
            <a:extLst>
              <a:ext uri="{FF2B5EF4-FFF2-40B4-BE49-F238E27FC236}">
                <a16:creationId xmlns:a16="http://schemas.microsoft.com/office/drawing/2014/main" id="{DE93B59A-8AC7-6B06-782A-A43DA5D647DF}"/>
              </a:ext>
            </a:extLst>
          </p:cNvPr>
          <p:cNvSpPr>
            <a:spLocks noGrp="1"/>
          </p:cNvSpPr>
          <p:nvPr>
            <p:ph type="subTitle" idx="1"/>
          </p:nvPr>
        </p:nvSpPr>
        <p:spPr>
          <a:xfrm>
            <a:off x="620452" y="957182"/>
            <a:ext cx="11504667" cy="1134670"/>
          </a:xfrm>
        </p:spPr>
        <p:txBody>
          <a:bodyPr/>
          <a:lstStyle/>
          <a:p>
            <a:r>
              <a:rPr lang="en-US" sz="2000" dirty="0"/>
              <a:t>Before: admin manually builds and pushes images</a:t>
            </a:r>
            <a:br>
              <a:rPr lang="en-US" sz="2000" dirty="0"/>
            </a:br>
            <a:r>
              <a:rPr lang="en-US" sz="2000" dirty="0"/>
              <a:t>After: GitHub Actions builds, tags, and publishes images automatically</a:t>
            </a:r>
          </a:p>
          <a:p>
            <a:endParaRPr lang="en-US" dirty="0"/>
          </a:p>
        </p:txBody>
      </p:sp>
      <p:grpSp>
        <p:nvGrpSpPr>
          <p:cNvPr id="5" name="Group 4">
            <a:extLst>
              <a:ext uri="{FF2B5EF4-FFF2-40B4-BE49-F238E27FC236}">
                <a16:creationId xmlns:a16="http://schemas.microsoft.com/office/drawing/2014/main" id="{D1BFD1F8-9A58-C936-2300-784F78B3EF2A}"/>
              </a:ext>
            </a:extLst>
          </p:cNvPr>
          <p:cNvGrpSpPr/>
          <p:nvPr/>
        </p:nvGrpSpPr>
        <p:grpSpPr>
          <a:xfrm>
            <a:off x="524063" y="1729649"/>
            <a:ext cx="11656798" cy="4379557"/>
            <a:chOff x="524063" y="1729649"/>
            <a:chExt cx="11656798" cy="4379557"/>
          </a:xfrm>
        </p:grpSpPr>
        <p:pic>
          <p:nvPicPr>
            <p:cNvPr id="6" name="Picture 4" descr="Introduction to GitHub Actions CI and integration with Selenium | by Afsal  Backer | Medium">
              <a:extLst>
                <a:ext uri="{FF2B5EF4-FFF2-40B4-BE49-F238E27FC236}">
                  <a16:creationId xmlns:a16="http://schemas.microsoft.com/office/drawing/2014/main" id="{11F3ACD2-2006-944B-59D8-62E1510A52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37" r="20369"/>
            <a:stretch/>
          </p:blipFill>
          <p:spPr bwMode="auto">
            <a:xfrm>
              <a:off x="7342075" y="3238373"/>
              <a:ext cx="3100181" cy="25177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computer  AI-generated content may be incorrect.">
              <a:extLst>
                <a:ext uri="{FF2B5EF4-FFF2-40B4-BE49-F238E27FC236}">
                  <a16:creationId xmlns:a16="http://schemas.microsoft.com/office/drawing/2014/main" id="{9F7E0CDA-F6F3-D980-A213-2FF735CCA38D}"/>
                </a:ext>
              </a:extLst>
            </p:cNvPr>
            <p:cNvPicPr>
              <a:picLocks noChangeAspect="1"/>
            </p:cNvPicPr>
            <p:nvPr/>
          </p:nvPicPr>
          <p:blipFill>
            <a:blip r:embed="rId4"/>
            <a:srcRect b="9489"/>
            <a:stretch/>
          </p:blipFill>
          <p:spPr>
            <a:xfrm>
              <a:off x="8493769" y="1969170"/>
              <a:ext cx="3687092" cy="1440474"/>
            </a:xfrm>
            <a:prstGeom prst="rect">
              <a:avLst/>
            </a:prstGeom>
          </p:spPr>
        </p:pic>
        <p:sp>
          <p:nvSpPr>
            <p:cNvPr id="8" name="TextBox 7">
              <a:extLst>
                <a:ext uri="{FF2B5EF4-FFF2-40B4-BE49-F238E27FC236}">
                  <a16:creationId xmlns:a16="http://schemas.microsoft.com/office/drawing/2014/main" id="{B7E78BF0-1CBF-6E01-6AA4-6B21514BB2C9}"/>
                </a:ext>
              </a:extLst>
            </p:cNvPr>
            <p:cNvSpPr txBox="1"/>
            <p:nvPr/>
          </p:nvSpPr>
          <p:spPr>
            <a:xfrm>
              <a:off x="3378792" y="1729649"/>
              <a:ext cx="8746327" cy="4222838"/>
            </a:xfrm>
            <a:prstGeom prst="rect">
              <a:avLst/>
            </a:prstGeom>
            <a:noFill/>
            <a:ln w="15875">
              <a:solidFill>
                <a:srgbClr val="235382"/>
              </a:solidFill>
              <a:prstDash val="lgDash"/>
            </a:ln>
          </p:spPr>
          <p:txBody>
            <a:bodyPr wrap="square" rtlCol="0">
              <a:spAutoFit/>
            </a:bodyPr>
            <a:lstStyle/>
            <a:p>
              <a:endParaRPr lang="en-US" dirty="0"/>
            </a:p>
          </p:txBody>
        </p:sp>
        <p:pic>
          <p:nvPicPr>
            <p:cNvPr id="9" name="Picture 2">
              <a:extLst>
                <a:ext uri="{FF2B5EF4-FFF2-40B4-BE49-F238E27FC236}">
                  <a16:creationId xmlns:a16="http://schemas.microsoft.com/office/drawing/2014/main" id="{49DE8A4D-C6E2-21A7-9428-FFBFD7C246E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5999" t="15135" r="10031" b="20905"/>
            <a:stretch/>
          </p:blipFill>
          <p:spPr bwMode="auto">
            <a:xfrm>
              <a:off x="524063" y="2009273"/>
              <a:ext cx="1485209" cy="1573966"/>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07A223F6-F057-FF7A-089A-E593DADB2DAE}"/>
                </a:ext>
              </a:extLst>
            </p:cNvPr>
            <p:cNvCxnSpPr>
              <a:cxnSpLocks/>
            </p:cNvCxnSpPr>
            <p:nvPr/>
          </p:nvCxnSpPr>
          <p:spPr>
            <a:xfrm>
              <a:off x="1278556" y="3535110"/>
              <a:ext cx="0" cy="731520"/>
            </a:xfrm>
            <a:prstGeom prst="line">
              <a:avLst/>
            </a:prstGeom>
            <a:ln w="31750" cap="flat" cmpd="sng" algn="ctr">
              <a:solidFill>
                <a:srgbClr val="00B050"/>
              </a:solidFill>
              <a:prstDash val="solid"/>
              <a:round/>
              <a:headEnd type="none" w="med" len="med"/>
              <a:tailEnd type="triangle" w="med" len="lg"/>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9D39EF28-1916-BA18-2D5B-F15C78FB7554}"/>
                </a:ext>
              </a:extLst>
            </p:cNvPr>
            <p:cNvCxnSpPr>
              <a:cxnSpLocks/>
            </p:cNvCxnSpPr>
            <p:nvPr/>
          </p:nvCxnSpPr>
          <p:spPr>
            <a:xfrm flipV="1">
              <a:off x="1406887" y="3535110"/>
              <a:ext cx="0" cy="731520"/>
            </a:xfrm>
            <a:prstGeom prst="line">
              <a:avLst/>
            </a:prstGeom>
            <a:ln w="31750" cap="flat" cmpd="sng" algn="ctr">
              <a:solidFill>
                <a:srgbClr val="C00000"/>
              </a:solidFill>
              <a:prstDash val="solid"/>
              <a:round/>
              <a:headEnd type="none" w="med" len="med"/>
              <a:tailEnd type="triangle" w="med" len="lg"/>
            </a:ln>
          </p:spPr>
          <p:style>
            <a:lnRef idx="0">
              <a:scrgbClr r="0" g="0" b="0"/>
            </a:lnRef>
            <a:fillRef idx="0">
              <a:scrgbClr r="0" g="0" b="0"/>
            </a:fillRef>
            <a:effectRef idx="0">
              <a:scrgbClr r="0" g="0" b="0"/>
            </a:effectRef>
            <a:fontRef idx="minor">
              <a:schemeClr val="tx1"/>
            </a:fontRef>
          </p:style>
        </p:cxnSp>
        <p:pic>
          <p:nvPicPr>
            <p:cNvPr id="12" name="Picture 12" descr="tufts jumbo using laptop inside">
              <a:extLst>
                <a:ext uri="{FF2B5EF4-FFF2-40B4-BE49-F238E27FC236}">
                  <a16:creationId xmlns:a16="http://schemas.microsoft.com/office/drawing/2014/main" id="{732BE33A-BBF9-86A7-B8D3-3B1070865D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0972" y="4314758"/>
              <a:ext cx="1426633" cy="142663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C51519A-B583-2566-05F5-D1DDAB9C6CB7}"/>
                </a:ext>
              </a:extLst>
            </p:cNvPr>
            <p:cNvSpPr txBox="1"/>
            <p:nvPr/>
          </p:nvSpPr>
          <p:spPr>
            <a:xfrm>
              <a:off x="704864" y="5770652"/>
              <a:ext cx="2985482" cy="338554"/>
            </a:xfrm>
            <a:prstGeom prst="rect">
              <a:avLst/>
            </a:prstGeom>
            <a:noFill/>
          </p:spPr>
          <p:txBody>
            <a:bodyPr wrap="square" rtlCol="0">
              <a:spAutoFit/>
            </a:bodyPr>
            <a:lstStyle/>
            <a:p>
              <a:r>
                <a:rPr lang="en-US" sz="1600" b="1" dirty="0">
                  <a:solidFill>
                    <a:srgbClr val="235382"/>
                  </a:solidFill>
                  <a:latin typeface="Helvetica" pitchFamily="2" charset="0"/>
                </a:rPr>
                <a:t>System admin</a:t>
              </a:r>
            </a:p>
          </p:txBody>
        </p:sp>
        <p:sp>
          <p:nvSpPr>
            <p:cNvPr id="14" name="TextBox 13">
              <a:extLst>
                <a:ext uri="{FF2B5EF4-FFF2-40B4-BE49-F238E27FC236}">
                  <a16:creationId xmlns:a16="http://schemas.microsoft.com/office/drawing/2014/main" id="{AFB29FD3-600C-6570-266C-16B4F5D98827}"/>
                </a:ext>
              </a:extLst>
            </p:cNvPr>
            <p:cNvSpPr txBox="1"/>
            <p:nvPr/>
          </p:nvSpPr>
          <p:spPr>
            <a:xfrm>
              <a:off x="704798" y="3719587"/>
              <a:ext cx="938463" cy="338554"/>
            </a:xfrm>
            <a:prstGeom prst="rect">
              <a:avLst/>
            </a:prstGeom>
            <a:noFill/>
          </p:spPr>
          <p:txBody>
            <a:bodyPr wrap="square" rtlCol="0">
              <a:spAutoFit/>
            </a:bodyPr>
            <a:lstStyle/>
            <a:p>
              <a:r>
                <a:rPr lang="en-US" sz="1600" b="1" dirty="0">
                  <a:solidFill>
                    <a:srgbClr val="00B050"/>
                  </a:solidFill>
                  <a:latin typeface="Helvetica" pitchFamily="2" charset="0"/>
                </a:rPr>
                <a:t>Pull</a:t>
              </a:r>
            </a:p>
          </p:txBody>
        </p:sp>
        <p:sp>
          <p:nvSpPr>
            <p:cNvPr id="15" name="TextBox 14">
              <a:extLst>
                <a:ext uri="{FF2B5EF4-FFF2-40B4-BE49-F238E27FC236}">
                  <a16:creationId xmlns:a16="http://schemas.microsoft.com/office/drawing/2014/main" id="{ED70A6FF-EC27-76C3-C202-1986DF5BF2B7}"/>
                </a:ext>
              </a:extLst>
            </p:cNvPr>
            <p:cNvSpPr txBox="1"/>
            <p:nvPr/>
          </p:nvSpPr>
          <p:spPr>
            <a:xfrm>
              <a:off x="1515169" y="3731593"/>
              <a:ext cx="1485198" cy="338554"/>
            </a:xfrm>
            <a:prstGeom prst="rect">
              <a:avLst/>
            </a:prstGeom>
            <a:noFill/>
          </p:spPr>
          <p:txBody>
            <a:bodyPr wrap="square" rtlCol="0">
              <a:spAutoFit/>
            </a:bodyPr>
            <a:lstStyle/>
            <a:p>
              <a:r>
                <a:rPr lang="en-US" sz="1600" b="1" dirty="0">
                  <a:solidFill>
                    <a:srgbClr val="C00000"/>
                  </a:solidFill>
                  <a:latin typeface="Helvetica" pitchFamily="2" charset="0"/>
                </a:rPr>
                <a:t>Push</a:t>
              </a:r>
            </a:p>
          </p:txBody>
        </p:sp>
        <p:pic>
          <p:nvPicPr>
            <p:cNvPr id="16" name="Picture 4" descr="What Is a Docker Image? | Packagecloud Blog">
              <a:extLst>
                <a:ext uri="{FF2B5EF4-FFF2-40B4-BE49-F238E27FC236}">
                  <a16:creationId xmlns:a16="http://schemas.microsoft.com/office/drawing/2014/main" id="{D0ADEF5A-2342-2869-6023-F9E5525CE59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1259" t="21076" r="36035" b="20278"/>
            <a:stretch/>
          </p:blipFill>
          <p:spPr bwMode="auto">
            <a:xfrm>
              <a:off x="5102116" y="2046747"/>
              <a:ext cx="1682382" cy="1696902"/>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127812B1-FFF6-FC20-1C6B-20F3E31A264D}"/>
                </a:ext>
              </a:extLst>
            </p:cNvPr>
            <p:cNvCxnSpPr>
              <a:cxnSpLocks/>
            </p:cNvCxnSpPr>
            <p:nvPr/>
          </p:nvCxnSpPr>
          <p:spPr>
            <a:xfrm flipV="1">
              <a:off x="3164305" y="2815390"/>
              <a:ext cx="1779606" cy="8017"/>
            </a:xfrm>
            <a:prstGeom prst="line">
              <a:avLst/>
            </a:prstGeom>
            <a:ln w="31750" cap="flat" cmpd="sng" algn="ctr">
              <a:solidFill>
                <a:srgbClr val="235382"/>
              </a:solidFill>
              <a:prstDash val="solid"/>
              <a:round/>
              <a:headEnd type="none" w="med" len="med"/>
              <a:tailEnd type="triangle" w="med" len="lg"/>
            </a:ln>
          </p:spPr>
          <p:style>
            <a:lnRef idx="0">
              <a:scrgbClr r="0" g="0" b="0"/>
            </a:lnRef>
            <a:fillRef idx="0">
              <a:scrgbClr r="0" g="0" b="0"/>
            </a:fillRef>
            <a:effectRef idx="0">
              <a:scrgbClr r="0" g="0" b="0"/>
            </a:effectRef>
            <a:fontRef idx="minor">
              <a:schemeClr val="tx1"/>
            </a:fontRef>
          </p:style>
        </p:cxnSp>
        <p:sp>
          <p:nvSpPr>
            <p:cNvPr id="18" name="TextBox 17">
              <a:extLst>
                <a:ext uri="{FF2B5EF4-FFF2-40B4-BE49-F238E27FC236}">
                  <a16:creationId xmlns:a16="http://schemas.microsoft.com/office/drawing/2014/main" id="{6D72C598-9421-CC22-5BF1-6B11D3C968E5}"/>
                </a:ext>
              </a:extLst>
            </p:cNvPr>
            <p:cNvSpPr txBox="1"/>
            <p:nvPr/>
          </p:nvSpPr>
          <p:spPr>
            <a:xfrm>
              <a:off x="5486460" y="3764657"/>
              <a:ext cx="1487618"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Image</a:t>
              </a:r>
            </a:p>
          </p:txBody>
        </p:sp>
        <p:sp>
          <p:nvSpPr>
            <p:cNvPr id="19" name="TextBox 18">
              <a:extLst>
                <a:ext uri="{FF2B5EF4-FFF2-40B4-BE49-F238E27FC236}">
                  <a16:creationId xmlns:a16="http://schemas.microsoft.com/office/drawing/2014/main" id="{4AFE2D16-DF80-99A7-DDE6-8A8C0C69A362}"/>
                </a:ext>
              </a:extLst>
            </p:cNvPr>
            <p:cNvSpPr txBox="1"/>
            <p:nvPr/>
          </p:nvSpPr>
          <p:spPr>
            <a:xfrm>
              <a:off x="3362859" y="2446058"/>
              <a:ext cx="1836353"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docker build</a:t>
              </a:r>
            </a:p>
          </p:txBody>
        </p:sp>
        <p:cxnSp>
          <p:nvCxnSpPr>
            <p:cNvPr id="20" name="Straight Connector 19">
              <a:extLst>
                <a:ext uri="{FF2B5EF4-FFF2-40B4-BE49-F238E27FC236}">
                  <a16:creationId xmlns:a16="http://schemas.microsoft.com/office/drawing/2014/main" id="{ED44549C-32C2-C212-07A6-8ECD6C6885FC}"/>
                </a:ext>
              </a:extLst>
            </p:cNvPr>
            <p:cNvCxnSpPr>
              <a:cxnSpLocks/>
            </p:cNvCxnSpPr>
            <p:nvPr/>
          </p:nvCxnSpPr>
          <p:spPr>
            <a:xfrm>
              <a:off x="6966880" y="2823407"/>
              <a:ext cx="1581052" cy="0"/>
            </a:xfrm>
            <a:prstGeom prst="line">
              <a:avLst/>
            </a:prstGeom>
            <a:ln w="31750" cap="flat" cmpd="sng" algn="ctr">
              <a:solidFill>
                <a:srgbClr val="235382"/>
              </a:solidFill>
              <a:prstDash val="solid"/>
              <a:round/>
              <a:headEnd type="none" w="med" len="med"/>
              <a:tailEnd type="triangle" w="med" len="lg"/>
            </a:ln>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00939DA3-E7C1-C13D-963E-6368C4E8410C}"/>
                </a:ext>
              </a:extLst>
            </p:cNvPr>
            <p:cNvSpPr txBox="1"/>
            <p:nvPr/>
          </p:nvSpPr>
          <p:spPr>
            <a:xfrm>
              <a:off x="6970731" y="2454075"/>
              <a:ext cx="1836353"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docker push</a:t>
              </a:r>
            </a:p>
          </p:txBody>
        </p:sp>
        <p:pic>
          <p:nvPicPr>
            <p:cNvPr id="22" name="Graphic 21" descr="Document with solid fill">
              <a:extLst>
                <a:ext uri="{FF2B5EF4-FFF2-40B4-BE49-F238E27FC236}">
                  <a16:creationId xmlns:a16="http://schemas.microsoft.com/office/drawing/2014/main" id="{EDADEBF7-E3EF-D429-7DAC-A53AD826BF5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54685" y="1948393"/>
              <a:ext cx="1573966" cy="1573966"/>
            </a:xfrm>
            <a:prstGeom prst="rect">
              <a:avLst/>
            </a:prstGeom>
          </p:spPr>
        </p:pic>
        <p:sp>
          <p:nvSpPr>
            <p:cNvPr id="23" name="TextBox 22">
              <a:extLst>
                <a:ext uri="{FF2B5EF4-FFF2-40B4-BE49-F238E27FC236}">
                  <a16:creationId xmlns:a16="http://schemas.microsoft.com/office/drawing/2014/main" id="{5B1357ED-E402-EF3B-59E2-DBC51532EE2D}"/>
                </a:ext>
              </a:extLst>
            </p:cNvPr>
            <p:cNvSpPr txBox="1"/>
            <p:nvPr/>
          </p:nvSpPr>
          <p:spPr>
            <a:xfrm>
              <a:off x="2057010" y="3409644"/>
              <a:ext cx="1487618" cy="369332"/>
            </a:xfrm>
            <a:prstGeom prst="rect">
              <a:avLst/>
            </a:prstGeom>
            <a:noFill/>
          </p:spPr>
          <p:txBody>
            <a:bodyPr wrap="square" rtlCol="0">
              <a:spAutoFit/>
            </a:bodyPr>
            <a:lstStyle/>
            <a:p>
              <a:r>
                <a:rPr lang="en-US" b="1" dirty="0" err="1">
                  <a:latin typeface="Arial" panose="020B0604020202020204" pitchFamily="34" charset="0"/>
                  <a:cs typeface="Arial" panose="020B0604020202020204" pitchFamily="34" charset="0"/>
                </a:rPr>
                <a:t>Dockerfile</a:t>
              </a:r>
              <a:endParaRPr lang="en-US"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66012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E5E1FC-1FC3-0F87-42CB-EAB1DC081CE8}"/>
              </a:ext>
            </a:extLst>
          </p:cNvPr>
          <p:cNvSpPr>
            <a:spLocks noGrp="1"/>
          </p:cNvSpPr>
          <p:nvPr>
            <p:ph type="body" sz="quarter" idx="12"/>
          </p:nvPr>
        </p:nvSpPr>
        <p:spPr>
          <a:xfrm>
            <a:off x="670679" y="1673593"/>
            <a:ext cx="10850641" cy="3265189"/>
          </a:xfrm>
        </p:spPr>
        <p:txBody>
          <a:bodyPr/>
          <a:lstStyle/>
          <a:p>
            <a:pPr marL="0" indent="0">
              <a:buNone/>
            </a:pPr>
            <a:r>
              <a:rPr lang="en-US" b="0" dirty="0"/>
              <a:t>• Faster and more repeatable container updates</a:t>
            </a:r>
          </a:p>
          <a:p>
            <a:pPr marL="0" indent="0">
              <a:buNone/>
            </a:pPr>
            <a:r>
              <a:rPr lang="en-US" b="0" dirty="0"/>
              <a:t>• Less manual build and push work for admins</a:t>
            </a:r>
          </a:p>
          <a:p>
            <a:pPr marL="0" indent="0">
              <a:buNone/>
            </a:pPr>
            <a:r>
              <a:rPr lang="en-US" b="0" dirty="0"/>
              <a:t>• </a:t>
            </a:r>
            <a:r>
              <a:rPr lang="en-US" b="0" dirty="0" err="1"/>
              <a:t>Dockerfile</a:t>
            </a:r>
            <a:r>
              <a:rPr lang="en-US" b="0" dirty="0"/>
              <a:t> in GitHub documents exactly how each image is built</a:t>
            </a:r>
          </a:p>
          <a:p>
            <a:pPr marL="0" indent="0">
              <a:buNone/>
            </a:pPr>
            <a:r>
              <a:rPr lang="en-US" b="0" dirty="0"/>
              <a:t>• Versioned images support reproducible research</a:t>
            </a:r>
          </a:p>
          <a:p>
            <a:pPr marL="0" indent="0">
              <a:buNone/>
            </a:pPr>
            <a:r>
              <a:rPr lang="en-US" b="0" dirty="0"/>
              <a:t>• GitHub history gives traceability: who changed what, when, and why</a:t>
            </a:r>
          </a:p>
          <a:p>
            <a:pPr marL="0" indent="0">
              <a:buNone/>
            </a:pPr>
            <a:r>
              <a:rPr lang="en-US" b="0" dirty="0"/>
              <a:t>• Foundation for future </a:t>
            </a:r>
            <a:r>
              <a:rPr lang="en-US" b="0" dirty="0" err="1"/>
              <a:t>Apptainer</a:t>
            </a:r>
            <a:r>
              <a:rPr lang="en-US" b="0" dirty="0"/>
              <a:t>/Singularity deployment</a:t>
            </a:r>
          </a:p>
        </p:txBody>
      </p:sp>
      <p:sp>
        <p:nvSpPr>
          <p:cNvPr id="3" name="Title 2">
            <a:extLst>
              <a:ext uri="{FF2B5EF4-FFF2-40B4-BE49-F238E27FC236}">
                <a16:creationId xmlns:a16="http://schemas.microsoft.com/office/drawing/2014/main" id="{0585D142-BE9D-B7C8-8FA2-5D2B792E1AE0}"/>
              </a:ext>
            </a:extLst>
          </p:cNvPr>
          <p:cNvSpPr>
            <a:spLocks noGrp="1"/>
          </p:cNvSpPr>
          <p:nvPr>
            <p:ph type="ctrTitle"/>
          </p:nvPr>
        </p:nvSpPr>
        <p:spPr>
          <a:xfrm>
            <a:off x="629390" y="357095"/>
            <a:ext cx="9566170" cy="1144929"/>
          </a:xfrm>
        </p:spPr>
        <p:txBody>
          <a:bodyPr/>
          <a:lstStyle/>
          <a:p>
            <a:r>
              <a:rPr lang="en-US" dirty="0"/>
              <a:t>What this means for tufts HPC?</a:t>
            </a:r>
            <a:br>
              <a:rPr lang="en-US" dirty="0"/>
            </a:br>
            <a:endParaRPr lang="en-US" dirty="0"/>
          </a:p>
        </p:txBody>
      </p:sp>
      <p:sp>
        <p:nvSpPr>
          <p:cNvPr id="4" name="Subtitle 3">
            <a:extLst>
              <a:ext uri="{FF2B5EF4-FFF2-40B4-BE49-F238E27FC236}">
                <a16:creationId xmlns:a16="http://schemas.microsoft.com/office/drawing/2014/main" id="{91B7B2CB-22E9-C031-D116-9CDB4DD0FCB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50837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EFC772-EC57-4A9B-5C3F-B54C3A86A3E7}"/>
              </a:ext>
            </a:extLst>
          </p:cNvPr>
          <p:cNvSpPr>
            <a:spLocks noGrp="1"/>
          </p:cNvSpPr>
          <p:nvPr>
            <p:ph type="body" sz="quarter" idx="12"/>
          </p:nvPr>
        </p:nvSpPr>
        <p:spPr>
          <a:xfrm>
            <a:off x="849084" y="2104431"/>
            <a:ext cx="11167634" cy="2182970"/>
          </a:xfrm>
        </p:spPr>
        <p:txBody>
          <a:bodyPr/>
          <a:lstStyle/>
          <a:p>
            <a:r>
              <a:rPr lang="en-US" sz="2200" b="1" dirty="0"/>
              <a:t>Why secrets matter:</a:t>
            </a:r>
            <a:r>
              <a:rPr lang="en-US" sz="2200" b="0" dirty="0"/>
              <a:t> never hardcode credentials — leaked tokens can compromise your Docker Hub account and any connected infrastructure</a:t>
            </a:r>
          </a:p>
          <a:p>
            <a:r>
              <a:rPr lang="en-US" sz="2200" b="1" dirty="0"/>
              <a:t>Adding Docker Hub credentials to GitHub Secrets:</a:t>
            </a:r>
            <a:r>
              <a:rPr lang="en-US" sz="2200" b="0" dirty="0"/>
              <a:t> go to Settings → Secrets and variables → Actions, then add </a:t>
            </a:r>
            <a:r>
              <a:rPr lang="en-US" sz="2200" b="0" dirty="0">
                <a:latin typeface="Consolas"/>
              </a:rPr>
              <a:t>DOCKERHUB_USERNAME</a:t>
            </a:r>
            <a:r>
              <a:rPr lang="en-US" sz="2200" b="0" dirty="0"/>
              <a:t> and </a:t>
            </a:r>
            <a:r>
              <a:rPr lang="en-US" sz="2200" b="0" dirty="0">
                <a:latin typeface="Consolas"/>
              </a:rPr>
              <a:t>DOCKERHUB_PASSWORD</a:t>
            </a:r>
          </a:p>
        </p:txBody>
      </p:sp>
      <p:sp>
        <p:nvSpPr>
          <p:cNvPr id="3" name="Title 2">
            <a:extLst>
              <a:ext uri="{FF2B5EF4-FFF2-40B4-BE49-F238E27FC236}">
                <a16:creationId xmlns:a16="http://schemas.microsoft.com/office/drawing/2014/main" id="{3ADB2242-F2BD-8B0A-D81E-34CAC9EF8C20}"/>
              </a:ext>
            </a:extLst>
          </p:cNvPr>
          <p:cNvSpPr>
            <a:spLocks noGrp="1"/>
          </p:cNvSpPr>
          <p:nvPr>
            <p:ph type="ctrTitle"/>
          </p:nvPr>
        </p:nvSpPr>
        <p:spPr>
          <a:xfrm>
            <a:off x="849084" y="259559"/>
            <a:ext cx="9770386" cy="618631"/>
          </a:xfrm>
        </p:spPr>
        <p:txBody>
          <a:bodyPr/>
          <a:lstStyle/>
          <a:p>
            <a:r>
              <a:rPr lang="en-US" dirty="0"/>
              <a:t>Setting Up Secrets &amp; Credentials</a:t>
            </a:r>
          </a:p>
        </p:txBody>
      </p:sp>
      <p:sp>
        <p:nvSpPr>
          <p:cNvPr id="6" name="TextBox 5">
            <a:extLst>
              <a:ext uri="{FF2B5EF4-FFF2-40B4-BE49-F238E27FC236}">
                <a16:creationId xmlns:a16="http://schemas.microsoft.com/office/drawing/2014/main" id="{D212B592-7189-A556-F19F-5D885243DF61}"/>
              </a:ext>
            </a:extLst>
          </p:cNvPr>
          <p:cNvSpPr txBox="1"/>
          <p:nvPr/>
        </p:nvSpPr>
        <p:spPr>
          <a:xfrm>
            <a:off x="849084" y="904102"/>
            <a:ext cx="11001540" cy="1200329"/>
          </a:xfrm>
          <a:prstGeom prst="rect">
            <a:avLst/>
          </a:prstGeom>
          <a:noFill/>
        </p:spPr>
        <p:txBody>
          <a:bodyPr wrap="square">
            <a:spAutoFit/>
          </a:bodyPr>
          <a:lstStyle/>
          <a:p>
            <a:pPr>
              <a:buNone/>
            </a:pPr>
            <a:r>
              <a:rPr lang="en-US" sz="2400" dirty="0">
                <a:latin typeface="Arial" panose="020B0604020202020204" pitchFamily="34" charset="0"/>
                <a:cs typeface="Arial" panose="020B0604020202020204" pitchFamily="34" charset="0"/>
              </a:rPr>
              <a:t>Secrets keep sensitive credentials out of your code and safely stored in GitHub — never hardcode passwords or tokens in your workflow files.</a:t>
            </a:r>
          </a:p>
        </p:txBody>
      </p:sp>
    </p:spTree>
    <p:extLst>
      <p:ext uri="{BB962C8B-B14F-4D97-AF65-F5344CB8AC3E}">
        <p14:creationId xmlns:p14="http://schemas.microsoft.com/office/powerpoint/2010/main" val="100892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a:spLocks noGrp="1"/>
          </p:cNvSpPr>
          <p:nvPr>
            <p:ph type="ctrTitle"/>
          </p:nvPr>
        </p:nvSpPr>
        <p:spPr>
          <a:xfrm>
            <a:off x="849084" y="259559"/>
            <a:ext cx="9770386" cy="618631"/>
          </a:xfrm>
        </p:spPr>
        <p:txBody>
          <a:bodyPr/>
          <a:lstStyle/>
          <a:p>
            <a:r>
              <a:rPr lang="en-US" dirty="0"/>
              <a:t>What Is Layer Caching?</a:t>
            </a:r>
          </a:p>
        </p:txBody>
      </p:sp>
      <p:sp>
        <p:nvSpPr>
          <p:cNvPr id="6" name="Subtitle"/>
          <p:cNvSpPr txBox="1"/>
          <p:nvPr/>
        </p:nvSpPr>
        <p:spPr>
          <a:xfrm>
            <a:off x="849084" y="904102"/>
            <a:ext cx="11001540" cy="700000"/>
          </a:xfrm>
          <a:prstGeom prst="rect">
            <a:avLst/>
          </a:prstGeom>
          <a:noFill/>
        </p:spPr>
        <p:txBody>
          <a:bodyPr wrap="square">
            <a:spAutoFit/>
          </a:bodyPr>
          <a:lstStyle/>
          <a:p>
            <a:pPr>
              <a:buNone/>
            </a:pPr>
            <a:r>
              <a:rPr lang="en-US" sz="2200" dirty="0">
                <a:latin typeface="Arial" panose="020B0604020202020204" pitchFamily="34" charset="0"/>
              </a:rPr>
              <a:t>Each Docker instruction creates a layer. Caching saves those layers so repeated builds only redo what actually changed.</a:t>
            </a:r>
          </a:p>
        </p:txBody>
      </p:sp>
      <p:sp>
        <p:nvSpPr>
          <p:cNvPr id="7" name="Left"/>
          <p:cNvSpPr txBox="1"/>
          <p:nvPr/>
        </p:nvSpPr>
        <p:spPr>
          <a:xfrm>
            <a:off x="849084" y="1750000"/>
            <a:ext cx="5200000" cy="4500000"/>
          </a:xfrm>
          <a:prstGeom prst="rect">
            <a:avLst/>
          </a:prstGeom>
          <a:noFill/>
        </p:spPr>
        <p:txBody>
          <a:bodyPr wrap="square" lIns="0" tIns="0"/>
          <a:lstStyle/>
          <a:p>
            <a:pPr>
              <a:buNone/>
            </a:pPr>
            <a:r>
              <a:rPr lang="en-US" sz="1900" b="1" dirty="0">
                <a:solidFill>
                  <a:srgbClr val="C0504D"/>
                </a:solidFill>
                <a:latin typeface="Arial" panose="020B0604020202020204" pitchFamily="34" charset="0"/>
                <a:cs typeface="Arial" panose="020B0604020202020204" pitchFamily="34" charset="0"/>
              </a:rPr>
              <a:t>⚠ The Problem</a:t>
            </a:r>
          </a:p>
          <a:p>
            <a:pPr>
              <a:buNone/>
            </a:pPr>
            <a:r>
              <a:rPr lang="en-US" sz="1100" dirty="0">
                <a:latin typeface="Arial" panose="020B0604020202020204" pitchFamily="34" charset="0"/>
                <a:cs typeface="Arial" panose="020B0604020202020204" pitchFamily="34" charset="0"/>
              </a:rPr>
              <a:t> </a:t>
            </a:r>
          </a:p>
          <a:p>
            <a:pPr>
              <a:buNone/>
            </a:pPr>
            <a:r>
              <a:rPr lang="en-US" sz="1800" dirty="0">
                <a:latin typeface="Arial" panose="020B0604020202020204" pitchFamily="34" charset="0"/>
                <a:cs typeface="Arial" panose="020B0604020202020204" pitchFamily="34" charset="0"/>
              </a:rPr>
              <a:t>Every GitHub Actions run starts on a brand-new virtual machine — there is no leftover cache from the previous run.</a:t>
            </a:r>
          </a:p>
          <a:p>
            <a:pPr>
              <a:buNone/>
            </a:pPr>
            <a:r>
              <a:rPr lang="en-US" sz="1100" dirty="0">
                <a:latin typeface="Arial" panose="020B0604020202020204" pitchFamily="34" charset="0"/>
                <a:cs typeface="Arial" panose="020B0604020202020204" pitchFamily="34" charset="0"/>
              </a:rPr>
              <a:t> </a:t>
            </a:r>
          </a:p>
          <a:p>
            <a:pPr>
              <a:buNone/>
            </a:pPr>
            <a:r>
              <a:rPr lang="en-US" sz="1800" dirty="0">
                <a:latin typeface="Arial" panose="020B0604020202020204" pitchFamily="34" charset="0"/>
                <a:cs typeface="Arial" panose="020B0604020202020204" pitchFamily="34" charset="0"/>
              </a:rPr>
              <a:t>Without caching, every build reinstalls all dependencies and rebuilds all layers from scratch — even if only one file changed.</a:t>
            </a:r>
          </a:p>
          <a:p>
            <a:pPr>
              <a:buNone/>
            </a:pPr>
            <a:r>
              <a:rPr lang="en-US" sz="1300" dirty="0">
                <a:latin typeface="Arial" panose="020B0604020202020204" pitchFamily="34" charset="0"/>
                <a:cs typeface="Arial" panose="020B0604020202020204" pitchFamily="34" charset="0"/>
              </a:rPr>
              <a:t> </a:t>
            </a:r>
          </a:p>
          <a:p>
            <a:pPr>
              <a:buNone/>
            </a:pPr>
            <a:r>
              <a:rPr lang="en-US" sz="1900" b="1" dirty="0">
                <a:solidFill>
                  <a:srgbClr val="538135"/>
                </a:solidFill>
                <a:latin typeface="Arial" panose="020B0604020202020204" pitchFamily="34" charset="0"/>
                <a:cs typeface="Arial" panose="020B0604020202020204" pitchFamily="34" charset="0"/>
              </a:rPr>
              <a:t>✔ The Solution</a:t>
            </a:r>
          </a:p>
          <a:p>
            <a:pPr>
              <a:buNone/>
            </a:pPr>
            <a:r>
              <a:rPr lang="en-US" sz="1100" dirty="0">
                <a:latin typeface="Arial" panose="020B0604020202020204" pitchFamily="34" charset="0"/>
                <a:cs typeface="Arial" panose="020B0604020202020204" pitchFamily="34" charset="0"/>
              </a:rPr>
              <a:t> </a:t>
            </a:r>
          </a:p>
          <a:p>
            <a:pPr>
              <a:buNone/>
            </a:pPr>
            <a:r>
              <a:rPr lang="en-US" sz="1800" dirty="0">
                <a:latin typeface="Arial" panose="020B0604020202020204" pitchFamily="34" charset="0"/>
                <a:cs typeface="Arial" panose="020B0604020202020204" pitchFamily="34" charset="0"/>
              </a:rPr>
              <a:t>Add two lines to build-push-action to save layers to GitHub’s cache and pull them back on the next run:</a:t>
            </a:r>
          </a:p>
          <a:p>
            <a:pPr>
              <a:buNone/>
            </a:pPr>
            <a:r>
              <a:rPr lang="en-US" sz="1100" dirty="0">
                <a:latin typeface="Arial" panose="020B0604020202020204" pitchFamily="34" charset="0"/>
                <a:cs typeface="Arial" panose="020B0604020202020204" pitchFamily="34" charset="0"/>
              </a:rPr>
              <a:t> </a:t>
            </a:r>
          </a:p>
          <a:p>
            <a:pPr>
              <a:buNone/>
            </a:pPr>
            <a:r>
              <a:rPr lang="en-US" sz="1800" dirty="0">
                <a:latin typeface="Arial" panose="020B0604020202020204" pitchFamily="34" charset="0"/>
                <a:cs typeface="Arial" panose="020B0604020202020204" pitchFamily="34" charset="0"/>
              </a:rPr>
              <a:t>cache-from: type=gha</a:t>
            </a:r>
          </a:p>
          <a:p>
            <a:pPr>
              <a:buNone/>
            </a:pPr>
            <a:r>
              <a:rPr lang="en-US" sz="1800" dirty="0">
                <a:latin typeface="Arial" panose="020B0604020202020204" pitchFamily="34" charset="0"/>
                <a:cs typeface="Arial" panose="020B0604020202020204" pitchFamily="34" charset="0"/>
              </a:rPr>
              <a:t>cache-to: type=gha,mode=max</a:t>
            </a:r>
          </a:p>
        </p:txBody>
      </p:sp>
      <p:sp>
        <p:nvSpPr>
          <p:cNvPr id="8" name="Right"/>
          <p:cNvSpPr txBox="1"/>
          <p:nvPr/>
        </p:nvSpPr>
        <p:spPr>
          <a:xfrm>
            <a:off x="6300000" y="1750000"/>
            <a:ext cx="5500000" cy="4500000"/>
          </a:xfrm>
          <a:prstGeom prst="rect">
            <a:avLst/>
          </a:prstGeom>
          <a:noFill/>
        </p:spPr>
        <p:txBody>
          <a:bodyPr wrap="square" lIns="0" tIns="0"/>
          <a:lstStyle/>
          <a:p>
            <a:pPr>
              <a:buNone/>
            </a:pPr>
            <a:r>
              <a:rPr lang="en-US" sz="1900" b="1" dirty="0">
                <a:solidFill>
                  <a:srgbClr val="2E74B5"/>
                </a:solidFill>
                <a:latin typeface="Arial" panose="020B0604020202020204" pitchFamily="34" charset="0"/>
                <a:cs typeface="Arial" panose="020B0604020202020204" pitchFamily="34" charset="0"/>
              </a:rPr>
              <a:t>How Layers Work</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Each Dockerfile instruction (FROM, RUN, COPY) creates one layer</a:t>
            </a:r>
          </a:p>
          <a:p>
            <a:pPr>
              <a:buNone/>
            </a:pPr>
            <a:r>
              <a:rPr lang="en-US" sz="1700" dirty="0">
                <a:latin typeface="Arial" panose="020B0604020202020204" pitchFamily="34" charset="0"/>
                <a:cs typeface="Arial" panose="020B0604020202020204" pitchFamily="34" charset="0"/>
              </a:rPr>
              <a:t>• Docker reuses cached layers until the first instruction that changed</a:t>
            </a:r>
          </a:p>
          <a:p>
            <a:pPr>
              <a:buNone/>
            </a:pPr>
            <a:r>
              <a:rPr lang="en-US" sz="1700" dirty="0">
                <a:latin typeface="Arial" panose="020B0604020202020204" pitchFamily="34" charset="0"/>
                <a:cs typeface="Arial" panose="020B0604020202020204" pitchFamily="34" charset="0"/>
              </a:rPr>
              <a:t>• Everything after the changed instruction gets rebuilt</a:t>
            </a:r>
          </a:p>
          <a:p>
            <a:pPr>
              <a:buNone/>
            </a:pPr>
            <a:r>
              <a:rPr lang="en-US" sz="1300" dirty="0">
                <a:latin typeface="Arial" panose="020B0604020202020204" pitchFamily="34" charset="0"/>
                <a:cs typeface="Arial" panose="020B0604020202020204" pitchFamily="34" charset="0"/>
              </a:rPr>
              <a:t> </a:t>
            </a:r>
          </a:p>
          <a:p>
            <a:pPr>
              <a:buNone/>
            </a:pPr>
            <a:r>
              <a:rPr lang="en-US" sz="1900" b="1" dirty="0">
                <a:solidFill>
                  <a:srgbClr val="2E74B5"/>
                </a:solidFill>
                <a:latin typeface="Arial" panose="020B0604020202020204" pitchFamily="34" charset="0"/>
                <a:cs typeface="Arial" panose="020B0604020202020204" pitchFamily="34" charset="0"/>
              </a:rPr>
              <a:t>Where Are Layers Stored?</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type=gha</a:t>
            </a:r>
            <a:r>
              <a:rPr lang="en-US" sz="1700" dirty="0">
                <a:latin typeface="Arial" panose="020B0604020202020204" pitchFamily="34" charset="0"/>
                <a:cs typeface="Arial" panose="020B0604020202020204" pitchFamily="34" charset="0"/>
              </a:rPr>
              <a:t>: GitHub’s own cache servers (10 GB, 7-day expiry) , easiest, no setup</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type=registry</a:t>
            </a:r>
            <a:r>
              <a:rPr lang="en-US" sz="1700" dirty="0">
                <a:latin typeface="Arial" panose="020B0604020202020204" pitchFamily="34" charset="0"/>
                <a:cs typeface="Arial" panose="020B0604020202020204" pitchFamily="34" charset="0"/>
              </a:rPr>
              <a:t>: Docker Hub (persists longer, uses registry storage)</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type=local</a:t>
            </a:r>
            <a:r>
              <a:rPr lang="en-US" sz="1700" dirty="0">
                <a:latin typeface="Arial" panose="020B0604020202020204" pitchFamily="34" charset="0"/>
                <a:cs typeface="Arial" panose="020B0604020202020204" pitchFamily="34" charset="0"/>
              </a:rPr>
              <a:t>: runner disk (self-hosted runners only)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E863A8-5CBD-7D86-2BC4-25D13F3005C5}"/>
              </a:ext>
            </a:extLst>
          </p:cNvPr>
          <p:cNvSpPr>
            <a:spLocks noGrp="1"/>
          </p:cNvSpPr>
          <p:nvPr>
            <p:ph type="ctrTitle"/>
          </p:nvPr>
        </p:nvSpPr>
        <p:spPr>
          <a:xfrm>
            <a:off x="629390" y="357095"/>
            <a:ext cx="6906874" cy="1144929"/>
          </a:xfrm>
        </p:spPr>
        <p:txBody>
          <a:bodyPr/>
          <a:lstStyle/>
          <a:p>
            <a:r>
              <a:rPr lang="en-US" dirty="0"/>
              <a:t>CPU architecture matters</a:t>
            </a:r>
          </a:p>
        </p:txBody>
      </p:sp>
      <p:sp>
        <p:nvSpPr>
          <p:cNvPr id="4" name="Subtitle 3">
            <a:extLst>
              <a:ext uri="{FF2B5EF4-FFF2-40B4-BE49-F238E27FC236}">
                <a16:creationId xmlns:a16="http://schemas.microsoft.com/office/drawing/2014/main" id="{9C003002-72B0-87C5-6085-209C4E09CAE3}"/>
              </a:ext>
            </a:extLst>
          </p:cNvPr>
          <p:cNvSpPr>
            <a:spLocks noGrp="1"/>
          </p:cNvSpPr>
          <p:nvPr>
            <p:ph type="subTitle" idx="1"/>
          </p:nvPr>
        </p:nvSpPr>
        <p:spPr/>
        <p:txBody>
          <a:bodyPr/>
          <a:lstStyle/>
          <a:p>
            <a:endParaRPr lang="en-US"/>
          </a:p>
        </p:txBody>
      </p:sp>
      <p:sp>
        <p:nvSpPr>
          <p:cNvPr id="5" name="Text Placeholder 1">
            <a:extLst>
              <a:ext uri="{FF2B5EF4-FFF2-40B4-BE49-F238E27FC236}">
                <a16:creationId xmlns:a16="http://schemas.microsoft.com/office/drawing/2014/main" id="{0A314994-C7C8-C34D-EB64-1E1900B7C923}"/>
              </a:ext>
            </a:extLst>
          </p:cNvPr>
          <p:cNvSpPr>
            <a:spLocks noGrp="1"/>
          </p:cNvSpPr>
          <p:nvPr>
            <p:ph type="body" sz="quarter" idx="12"/>
          </p:nvPr>
        </p:nvSpPr>
        <p:spPr>
          <a:xfrm>
            <a:off x="781980" y="1409614"/>
            <a:ext cx="10323480" cy="4342407"/>
          </a:xfrm>
        </p:spPr>
        <p:txBody>
          <a:bodyPr/>
          <a:lstStyle/>
          <a:p>
            <a:r>
              <a:rPr lang="en-US" sz="2400" b="0" dirty="0">
                <a:solidFill>
                  <a:schemeClr val="tx1"/>
                </a:solidFill>
              </a:rPr>
              <a:t>When using a container, you must choose an image built for the correct CPU architecture of your system, such as </a:t>
            </a:r>
            <a:r>
              <a:rPr lang="en-US" sz="2400" dirty="0">
                <a:solidFill>
                  <a:schemeClr val="tx1"/>
                </a:solidFill>
              </a:rPr>
              <a:t>x86_64/amd64 </a:t>
            </a:r>
            <a:r>
              <a:rPr lang="en-US" sz="2400" b="0" dirty="0">
                <a:solidFill>
                  <a:schemeClr val="tx1"/>
                </a:solidFill>
              </a:rPr>
              <a:t>or </a:t>
            </a:r>
            <a:r>
              <a:rPr lang="en-US" sz="2400" dirty="0">
                <a:solidFill>
                  <a:schemeClr val="tx1"/>
                </a:solidFill>
              </a:rPr>
              <a:t>arm64</a:t>
            </a:r>
            <a:r>
              <a:rPr lang="en-US" sz="2400" b="0" dirty="0">
                <a:solidFill>
                  <a:schemeClr val="tx1"/>
                </a:solidFill>
              </a:rPr>
              <a:t>.</a:t>
            </a:r>
          </a:p>
          <a:p>
            <a:r>
              <a:rPr lang="en-US" sz="2400" b="0" dirty="0">
                <a:solidFill>
                  <a:schemeClr val="tx1"/>
                </a:solidFill>
              </a:rPr>
              <a:t>A container does not ignore hardware differences. If the image was built for the wrong architecture, it may fail to start or run much more slowly through emulation.</a:t>
            </a:r>
          </a:p>
          <a:p>
            <a:r>
              <a:rPr lang="en-US" sz="2400" b="0" dirty="0">
                <a:solidFill>
                  <a:schemeClr val="tx1"/>
                </a:solidFill>
              </a:rPr>
              <a:t>For example, a container built for </a:t>
            </a:r>
            <a:r>
              <a:rPr lang="en-US" sz="2400" dirty="0">
                <a:solidFill>
                  <a:schemeClr val="tx1"/>
                </a:solidFill>
              </a:rPr>
              <a:t>amd64</a:t>
            </a:r>
            <a:r>
              <a:rPr lang="en-US" sz="2400" b="0" dirty="0">
                <a:solidFill>
                  <a:schemeClr val="tx1"/>
                </a:solidFill>
              </a:rPr>
              <a:t> may not run natively on an </a:t>
            </a:r>
            <a:r>
              <a:rPr lang="en-US" sz="2400" dirty="0">
                <a:solidFill>
                  <a:schemeClr val="tx1"/>
                </a:solidFill>
              </a:rPr>
              <a:t>Apple Silicon Mac</a:t>
            </a:r>
            <a:r>
              <a:rPr lang="en-US" sz="2400" b="0" dirty="0">
                <a:solidFill>
                  <a:schemeClr val="tx1"/>
                </a:solidFill>
              </a:rPr>
              <a:t>, which uses </a:t>
            </a:r>
            <a:r>
              <a:rPr lang="en-US" sz="2400" dirty="0">
                <a:solidFill>
                  <a:schemeClr val="tx1"/>
                </a:solidFill>
              </a:rPr>
              <a:t>arm64</a:t>
            </a:r>
            <a:r>
              <a:rPr lang="en-US" sz="2400" b="0" dirty="0">
                <a:solidFill>
                  <a:schemeClr val="tx1"/>
                </a:solidFill>
              </a:rPr>
              <a:t>.</a:t>
            </a:r>
          </a:p>
          <a:p>
            <a:endParaRPr lang="en-US" dirty="0"/>
          </a:p>
        </p:txBody>
      </p:sp>
    </p:spTree>
    <p:extLst>
      <p:ext uri="{BB962C8B-B14F-4D97-AF65-F5344CB8AC3E}">
        <p14:creationId xmlns:p14="http://schemas.microsoft.com/office/powerpoint/2010/main" val="2510974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a:spLocks noGrp="1"/>
          </p:cNvSpPr>
          <p:nvPr>
            <p:ph type="ctrTitle"/>
          </p:nvPr>
        </p:nvSpPr>
        <p:spPr>
          <a:xfrm>
            <a:off x="849084" y="259559"/>
            <a:ext cx="9770386" cy="618631"/>
          </a:xfrm>
        </p:spPr>
        <p:txBody>
          <a:bodyPr/>
          <a:lstStyle/>
          <a:p>
            <a:r>
              <a:rPr lang="en-US" dirty="0"/>
              <a:t>Building Multi-Architecture Images</a:t>
            </a:r>
          </a:p>
        </p:txBody>
      </p:sp>
      <p:sp>
        <p:nvSpPr>
          <p:cNvPr id="6" name="Subtitle"/>
          <p:cNvSpPr txBox="1"/>
          <p:nvPr/>
        </p:nvSpPr>
        <p:spPr>
          <a:xfrm>
            <a:off x="849084" y="904102"/>
            <a:ext cx="11001540" cy="738664"/>
          </a:xfrm>
          <a:prstGeom prst="rect">
            <a:avLst/>
          </a:prstGeom>
          <a:noFill/>
        </p:spPr>
        <p:txBody>
          <a:bodyPr wrap="square">
            <a:spAutoFit/>
          </a:bodyPr>
          <a:lstStyle/>
          <a:p>
            <a:pPr>
              <a:buNone/>
            </a:pPr>
            <a:r>
              <a:rPr lang="en-US" sz="2100" dirty="0">
                <a:latin typeface="Arial" panose="020B0604020202020204" pitchFamily="34" charset="0"/>
              </a:rPr>
              <a:t>One image manifest, two architectures: users on Apple Silicon, AWS Graviton, and x86 servers all pull the right variant automatically.</a:t>
            </a:r>
          </a:p>
        </p:txBody>
      </p:sp>
      <p:sp>
        <p:nvSpPr>
          <p:cNvPr id="7" name="Left"/>
          <p:cNvSpPr txBox="1"/>
          <p:nvPr/>
        </p:nvSpPr>
        <p:spPr>
          <a:xfrm>
            <a:off x="985084" y="1730000"/>
            <a:ext cx="5300000" cy="4600000"/>
          </a:xfrm>
          <a:prstGeom prst="rect">
            <a:avLst/>
          </a:prstGeom>
          <a:noFill/>
        </p:spPr>
        <p:txBody>
          <a:bodyPr wrap="square" lIns="0" tIns="0"/>
          <a:lstStyle/>
          <a:p>
            <a:pPr>
              <a:buNone/>
            </a:pPr>
            <a:r>
              <a:rPr lang="en-US" sz="1900" b="1" dirty="0">
                <a:solidFill>
                  <a:srgbClr val="2E74B5"/>
                </a:solidFill>
                <a:latin typeface="Arial" panose="020B0604020202020204" pitchFamily="34" charset="0"/>
                <a:cs typeface="Arial" panose="020B0604020202020204" pitchFamily="34" charset="0"/>
              </a:rPr>
              <a:t>Why It Matters</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Apple Silicon Macs run ARM natively, an amd64-only image runs slowly under emulation</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Tufts HPC and PC can only run amd64 images.</a:t>
            </a:r>
          </a:p>
          <a:p>
            <a:pPr>
              <a:buNone/>
            </a:pPr>
            <a:endParaRPr lang="en-US" sz="1100" dirty="0">
              <a:latin typeface="Arial" panose="020B0604020202020204" pitchFamily="34" charset="0"/>
              <a:cs typeface="Arial" panose="020B0604020202020204" pitchFamily="34" charset="0"/>
            </a:endParaRPr>
          </a:p>
          <a:p>
            <a:pPr>
              <a:buNone/>
            </a:pPr>
            <a:r>
              <a:rPr lang="en-US" sz="1700" dirty="0">
                <a:latin typeface="Arial" panose="020B0604020202020204" pitchFamily="34" charset="0"/>
                <a:cs typeface="Arial" panose="020B0604020202020204" pitchFamily="34" charset="0"/>
              </a:rPr>
              <a:t>• Docker Hub serves the correct variant automatically via a manifest list</a:t>
            </a:r>
          </a:p>
          <a:p>
            <a:pPr>
              <a:buNone/>
            </a:pPr>
            <a:r>
              <a:rPr lang="en-US" sz="1300" dirty="0">
                <a:latin typeface="Arial" panose="020B0604020202020204" pitchFamily="34" charset="0"/>
                <a:cs typeface="Arial" panose="020B0604020202020204" pitchFamily="34" charset="0"/>
              </a:rPr>
              <a:t> </a:t>
            </a:r>
          </a:p>
          <a:p>
            <a:pPr>
              <a:buNone/>
            </a:pPr>
            <a:r>
              <a:rPr lang="en-US" sz="1900" b="1" dirty="0">
                <a:solidFill>
                  <a:srgbClr val="2E74B5"/>
                </a:solidFill>
                <a:latin typeface="Arial" panose="020B0604020202020204" pitchFamily="34" charset="0"/>
                <a:cs typeface="Arial" panose="020B0604020202020204" pitchFamily="34" charset="0"/>
              </a:rPr>
              <a:t>Add to Your Workflow</a:t>
            </a:r>
          </a:p>
          <a:p>
            <a:pPr>
              <a:buNone/>
            </a:pPr>
            <a:r>
              <a:rPr lang="en-US" sz="1100" dirty="0">
                <a:latin typeface="Arial" panose="020B0604020202020204" pitchFamily="34" charset="0"/>
                <a:cs typeface="Arial" panose="020B0604020202020204" pitchFamily="34" charset="0"/>
              </a:rPr>
              <a:t> </a:t>
            </a:r>
          </a:p>
          <a:p>
            <a:pPr>
              <a:buNone/>
            </a:pPr>
            <a:r>
              <a:rPr lang="en-US" sz="1600" dirty="0">
                <a:latin typeface="Arial" panose="020B0604020202020204" pitchFamily="34" charset="0"/>
                <a:cs typeface="Arial" panose="020B0604020202020204" pitchFamily="34" charset="0"/>
              </a:rPr>
              <a:t># Step 1 — add before setup-buildx</a:t>
            </a:r>
          </a:p>
          <a:p>
            <a:pPr>
              <a:buNone/>
            </a:pPr>
            <a:r>
              <a:rPr lang="en-US" sz="1600" dirty="0">
                <a:latin typeface="Arial" panose="020B0604020202020204" pitchFamily="34" charset="0"/>
                <a:cs typeface="Arial" panose="020B0604020202020204" pitchFamily="34" charset="0"/>
              </a:rPr>
              <a:t>- uses: docker/setup-qemu-action@v4</a:t>
            </a:r>
          </a:p>
          <a:p>
            <a:pPr>
              <a:buNone/>
            </a:pPr>
            <a:r>
              <a:rPr lang="en-US" sz="1100" dirty="0">
                <a:latin typeface="Arial" panose="020B0604020202020204" pitchFamily="34" charset="0"/>
                <a:cs typeface="Arial" panose="020B0604020202020204" pitchFamily="34" charset="0"/>
              </a:rPr>
              <a:t> </a:t>
            </a:r>
          </a:p>
          <a:p>
            <a:pPr>
              <a:buNone/>
            </a:pPr>
            <a:r>
              <a:rPr lang="en-US" sz="1600" dirty="0">
                <a:latin typeface="Arial" panose="020B0604020202020204" pitchFamily="34" charset="0"/>
                <a:cs typeface="Arial" panose="020B0604020202020204" pitchFamily="34" charset="0"/>
              </a:rPr>
              <a:t># Step 2 — add to build-push-action</a:t>
            </a:r>
          </a:p>
          <a:p>
            <a:pPr>
              <a:buNone/>
            </a:pPr>
            <a:r>
              <a:rPr lang="en-US" sz="1600" dirty="0">
                <a:latin typeface="Arial" panose="020B0604020202020204" pitchFamily="34" charset="0"/>
                <a:cs typeface="Arial" panose="020B0604020202020204" pitchFamily="34" charset="0"/>
              </a:rPr>
              <a:t>platforms: linux/amd64,linux/arm64</a:t>
            </a:r>
          </a:p>
        </p:txBody>
      </p:sp>
      <p:sp>
        <p:nvSpPr>
          <p:cNvPr id="8" name="Right"/>
          <p:cNvSpPr txBox="1"/>
          <p:nvPr/>
        </p:nvSpPr>
        <p:spPr>
          <a:xfrm>
            <a:off x="6400000" y="1730000"/>
            <a:ext cx="5400000" cy="4600000"/>
          </a:xfrm>
          <a:prstGeom prst="rect">
            <a:avLst/>
          </a:prstGeom>
          <a:noFill/>
        </p:spPr>
        <p:txBody>
          <a:bodyPr wrap="square" lIns="0" tIns="0"/>
          <a:lstStyle/>
          <a:p>
            <a:pPr>
              <a:buNone/>
            </a:pPr>
            <a:r>
              <a:rPr lang="en-US" sz="1900" b="1" dirty="0">
                <a:solidFill>
                  <a:srgbClr val="2E74B5"/>
                </a:solidFill>
                <a:latin typeface="Arial" panose="020B0604020202020204" pitchFamily="34" charset="0"/>
                <a:cs typeface="Arial" panose="020B0604020202020204" pitchFamily="34" charset="0"/>
              </a:rPr>
              <a:t>How It Works</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QEMU</a:t>
            </a:r>
            <a:r>
              <a:rPr lang="en-US" sz="1700" dirty="0">
                <a:latin typeface="Arial" panose="020B0604020202020204" pitchFamily="34" charset="0"/>
                <a:cs typeface="Arial" panose="020B0604020202020204" pitchFamily="34" charset="0"/>
              </a:rPr>
              <a:t> emulates ARM64 on the x86 runner so both architectures can be built in one job</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Buildx</a:t>
            </a:r>
            <a:r>
              <a:rPr lang="en-US" sz="1700" dirty="0">
                <a:latin typeface="Arial" panose="020B0604020202020204" pitchFamily="34" charset="0"/>
                <a:cs typeface="Arial" panose="020B0604020202020204" pitchFamily="34" charset="0"/>
              </a:rPr>
              <a:t> builds both variants and pushes them as a single multi-arch manifest to Docker Hub</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docker pull</a:t>
            </a:r>
            <a:r>
              <a:rPr lang="en-US" sz="1700" dirty="0">
                <a:latin typeface="Arial" panose="020B0604020202020204" pitchFamily="34" charset="0"/>
                <a:cs typeface="Arial" panose="020B0604020202020204" pitchFamily="34" charset="0"/>
              </a:rPr>
              <a:t> automatically fetches the right variant for the host platform</a:t>
            </a:r>
          </a:p>
          <a:p>
            <a:pPr>
              <a:buNone/>
            </a:pPr>
            <a:r>
              <a:rPr lang="en-US" sz="1300" dirty="0">
                <a:latin typeface="Arial" panose="020B0604020202020204" pitchFamily="34" charset="0"/>
                <a:cs typeface="Arial" panose="020B0604020202020204" pitchFamily="34" charset="0"/>
              </a:rPr>
              <a:t> </a:t>
            </a:r>
          </a:p>
          <a:p>
            <a:pPr>
              <a:buNone/>
            </a:pPr>
            <a:r>
              <a:rPr lang="en-US" sz="1900" b="1" dirty="0">
                <a:solidFill>
                  <a:srgbClr val="C0504D"/>
                </a:solidFill>
                <a:latin typeface="Arial" panose="020B0604020202020204" pitchFamily="34" charset="0"/>
                <a:cs typeface="Arial" panose="020B0604020202020204" pitchFamily="34" charset="0"/>
              </a:rPr>
              <a:t>Trade-offs</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ARM build under QEMU emulation is 4–8× slower than native, a 5 min build may take 30–40 min</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For faster ARM builds, use a native ARM self-hosted runner (e.g. Apple M-series or AWS Graviton) with runs-on: [self-hosted, arm64]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34E08B-1DE6-7E06-5215-5CAC80FD6507}"/>
              </a:ext>
            </a:extLst>
          </p:cNvPr>
          <p:cNvSpPr>
            <a:spLocks noGrp="1"/>
          </p:cNvSpPr>
          <p:nvPr>
            <p:ph type="body" sz="quarter" idx="12"/>
          </p:nvPr>
        </p:nvSpPr>
        <p:spPr>
          <a:xfrm>
            <a:off x="709400" y="1799323"/>
            <a:ext cx="11029712" cy="3259354"/>
          </a:xfrm>
        </p:spPr>
        <p:txBody>
          <a:bodyPr/>
          <a:lstStyle/>
          <a:p>
            <a:r>
              <a:rPr lang="en-US" sz="2400" b="0" dirty="0"/>
              <a:t>Containers make research software more portable and reproducible</a:t>
            </a:r>
          </a:p>
          <a:p>
            <a:r>
              <a:rPr lang="en-US" sz="2400" b="0" dirty="0"/>
              <a:t>GitHub repositories document how containers are built through </a:t>
            </a:r>
            <a:r>
              <a:rPr lang="en-US" sz="2400" b="0" dirty="0" err="1"/>
              <a:t>Dockerfiles</a:t>
            </a:r>
            <a:r>
              <a:rPr lang="en-US" sz="2400" b="0" dirty="0"/>
              <a:t> and workflow history</a:t>
            </a:r>
          </a:p>
          <a:p>
            <a:r>
              <a:rPr lang="en-US" sz="2400" b="0" dirty="0"/>
              <a:t>GitHub Actions turns manual build, tag, and push steps into a repeatable automated workflow</a:t>
            </a:r>
          </a:p>
          <a:p>
            <a:r>
              <a:rPr lang="en-US" sz="2400" b="0" dirty="0"/>
              <a:t>Versioned Docker images make updates easier to track, test, and roll back</a:t>
            </a:r>
          </a:p>
        </p:txBody>
      </p:sp>
      <p:sp>
        <p:nvSpPr>
          <p:cNvPr id="3" name="Title 2">
            <a:extLst>
              <a:ext uri="{FF2B5EF4-FFF2-40B4-BE49-F238E27FC236}">
                <a16:creationId xmlns:a16="http://schemas.microsoft.com/office/drawing/2014/main" id="{1326A4D4-A282-4CF5-E13E-B9352A5CE89C}"/>
              </a:ext>
            </a:extLst>
          </p:cNvPr>
          <p:cNvSpPr>
            <a:spLocks noGrp="1"/>
          </p:cNvSpPr>
          <p:nvPr>
            <p:ph type="ctrTitle"/>
          </p:nvPr>
        </p:nvSpPr>
        <p:spPr>
          <a:xfrm>
            <a:off x="629390" y="357095"/>
            <a:ext cx="4363718" cy="1144929"/>
          </a:xfrm>
        </p:spPr>
        <p:txBody>
          <a:bodyPr/>
          <a:lstStyle/>
          <a:p>
            <a:r>
              <a:rPr lang="en-US" dirty="0"/>
              <a:t>Key Takeaways</a:t>
            </a:r>
            <a:br>
              <a:rPr lang="en-US" dirty="0"/>
            </a:br>
            <a:endParaRPr lang="en-US" dirty="0"/>
          </a:p>
        </p:txBody>
      </p:sp>
      <p:sp>
        <p:nvSpPr>
          <p:cNvPr id="4" name="Subtitle 3">
            <a:extLst>
              <a:ext uri="{FF2B5EF4-FFF2-40B4-BE49-F238E27FC236}">
                <a16:creationId xmlns:a16="http://schemas.microsoft.com/office/drawing/2014/main" id="{62CBF433-0B5F-815B-3B47-2A24F80D4D7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68703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A2418-085F-C422-FB3D-B034627FB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D4235-944B-7E23-F8BD-AD7D7AD912DE}"/>
              </a:ext>
            </a:extLst>
          </p:cNvPr>
          <p:cNvSpPr>
            <a:spLocks noGrp="1"/>
          </p:cNvSpPr>
          <p:nvPr>
            <p:ph type="ctrTitle"/>
          </p:nvPr>
        </p:nvSpPr>
        <p:spPr>
          <a:xfrm>
            <a:off x="361214" y="1134162"/>
            <a:ext cx="6979920" cy="646331"/>
          </a:xfrm>
        </p:spPr>
        <p:txBody>
          <a:bodyPr/>
          <a:lstStyle/>
          <a:p>
            <a:r>
              <a:rPr lang="en-US" dirty="0"/>
              <a:t>04 Demo</a:t>
            </a:r>
          </a:p>
        </p:txBody>
      </p:sp>
      <p:sp>
        <p:nvSpPr>
          <p:cNvPr id="3" name="Subtitle 2">
            <a:extLst>
              <a:ext uri="{FF2B5EF4-FFF2-40B4-BE49-F238E27FC236}">
                <a16:creationId xmlns:a16="http://schemas.microsoft.com/office/drawing/2014/main" id="{CB0BE0D8-5DBE-D618-B936-782B67538D84}"/>
              </a:ext>
            </a:extLst>
          </p:cNvPr>
          <p:cNvSpPr>
            <a:spLocks noGrp="1"/>
          </p:cNvSpPr>
          <p:nvPr>
            <p:ph type="subTitle" idx="1"/>
          </p:nvPr>
        </p:nvSpPr>
        <p:spPr>
          <a:xfrm>
            <a:off x="361214" y="2283972"/>
            <a:ext cx="9754335" cy="867930"/>
          </a:xfrm>
        </p:spPr>
        <p:txBody>
          <a:bodyPr/>
          <a:lstStyle/>
          <a:p>
            <a:r>
              <a:rPr lang="en-US" dirty="0">
                <a:solidFill>
                  <a:schemeClr val="tx1"/>
                </a:solidFill>
              </a:rPr>
              <a:t>https://</a:t>
            </a:r>
            <a:r>
              <a:rPr lang="en-US" dirty="0" err="1">
                <a:solidFill>
                  <a:schemeClr val="tx1"/>
                </a:solidFill>
              </a:rPr>
              <a:t>github.com</a:t>
            </a:r>
            <a:r>
              <a:rPr lang="en-US" dirty="0">
                <a:solidFill>
                  <a:schemeClr val="tx1"/>
                </a:solidFill>
              </a:rPr>
              <a:t>/</a:t>
            </a:r>
            <a:r>
              <a:rPr lang="en-US" dirty="0" err="1">
                <a:solidFill>
                  <a:schemeClr val="tx1"/>
                </a:solidFill>
              </a:rPr>
              <a:t>TuftsHPCbioinfo</a:t>
            </a:r>
            <a:r>
              <a:rPr lang="en-US" dirty="0">
                <a:solidFill>
                  <a:schemeClr val="tx1"/>
                </a:solidFill>
              </a:rPr>
              <a:t>/</a:t>
            </a:r>
            <a:r>
              <a:rPr lang="en-US" dirty="0" err="1">
                <a:solidFill>
                  <a:schemeClr val="tx1"/>
                </a:solidFill>
              </a:rPr>
              <a:t>GitHubActionDemo</a:t>
            </a:r>
            <a:endParaRPr lang="en-US" dirty="0">
              <a:solidFill>
                <a:schemeClr val="tx1"/>
              </a:solidFill>
            </a:endParaRPr>
          </a:p>
        </p:txBody>
      </p:sp>
      <p:sp>
        <p:nvSpPr>
          <p:cNvPr id="4" name="TextBox 3">
            <a:extLst>
              <a:ext uri="{FF2B5EF4-FFF2-40B4-BE49-F238E27FC236}">
                <a16:creationId xmlns:a16="http://schemas.microsoft.com/office/drawing/2014/main" id="{E9D067D4-C916-9EAC-BCF5-F3B5A7E71A35}"/>
              </a:ext>
            </a:extLst>
          </p:cNvPr>
          <p:cNvSpPr txBox="1"/>
          <p:nvPr/>
        </p:nvSpPr>
        <p:spPr>
          <a:xfrm>
            <a:off x="361214" y="2977687"/>
            <a:ext cx="10438975" cy="2677656"/>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cd Downloads</a:t>
            </a:r>
          </a:p>
          <a:p>
            <a:r>
              <a:rPr lang="en-US" sz="2400" dirty="0">
                <a:latin typeface="Arial" panose="020B0604020202020204" pitchFamily="34" charset="0"/>
                <a:cs typeface="Arial" panose="020B0604020202020204" pitchFamily="34" charset="0"/>
              </a:rPr>
              <a:t>git clone  https://</a:t>
            </a:r>
            <a:r>
              <a:rPr lang="en-US" sz="2400" dirty="0" err="1">
                <a:latin typeface="Arial" panose="020B0604020202020204" pitchFamily="34" charset="0"/>
                <a:cs typeface="Arial" panose="020B0604020202020204" pitchFamily="34" charset="0"/>
              </a:rPr>
              <a:t>github.com</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TuftsHPCbioinfo</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GitHubActionDemo</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docker run --rm \</a:t>
            </a:r>
          </a:p>
          <a:p>
            <a:r>
              <a:rPr lang="en-US" sz="2400" dirty="0">
                <a:latin typeface="Arial" panose="020B0604020202020204" pitchFamily="34" charset="0"/>
                <a:cs typeface="Arial" panose="020B0604020202020204" pitchFamily="34" charset="0"/>
              </a:rPr>
              <a:t>  -p 8787:8787 \</a:t>
            </a:r>
          </a:p>
          <a:p>
            <a:r>
              <a:rPr lang="en-US" sz="2400" dirty="0">
                <a:latin typeface="Arial" panose="020B0604020202020204" pitchFamily="34" charset="0"/>
                <a:cs typeface="Arial" panose="020B0604020202020204" pitchFamily="34" charset="0"/>
              </a:rPr>
              <a:t>  -e DISABLE_AUTH=true \</a:t>
            </a:r>
          </a:p>
          <a:p>
            <a:r>
              <a:rPr lang="en-US" sz="2400" dirty="0">
                <a:latin typeface="Arial" panose="020B0604020202020204" pitchFamily="34" charset="0"/>
                <a:cs typeface="Arial" panose="020B0604020202020204" pitchFamily="34" charset="0"/>
              </a:rPr>
              <a:t>  -v ~/Downloads/</a:t>
            </a:r>
            <a:r>
              <a:rPr lang="en-US" sz="2400" dirty="0" err="1">
                <a:latin typeface="Arial" panose="020B0604020202020204" pitchFamily="34" charset="0"/>
                <a:cs typeface="Arial" panose="020B0604020202020204" pitchFamily="34" charset="0"/>
              </a:rPr>
              <a:t>GitHubActionDemo</a:t>
            </a:r>
            <a:r>
              <a:rPr lang="en-US" sz="2400" dirty="0">
                <a:latin typeface="Arial" panose="020B0604020202020204" pitchFamily="34" charset="0"/>
                <a:cs typeface="Arial" panose="020B0604020202020204" pitchFamily="34" charset="0"/>
              </a:rPr>
              <a:t>:/home/</a:t>
            </a:r>
            <a:r>
              <a:rPr lang="en-US" sz="2400" dirty="0" err="1">
                <a:latin typeface="Arial" panose="020B0604020202020204" pitchFamily="34" charset="0"/>
                <a:cs typeface="Arial" panose="020B0604020202020204" pitchFamily="34" charset="0"/>
              </a:rPr>
              <a:t>rstudio</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workshop_demo</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tuftsttsrt</a:t>
            </a:r>
            <a:r>
              <a:rPr lang="en-US" sz="2400" dirty="0">
                <a:latin typeface="Arial" panose="020B0604020202020204" pitchFamily="34" charset="0"/>
                <a:cs typeface="Arial" panose="020B0604020202020204" pitchFamily="34" charset="0"/>
              </a:rPr>
              <a:t>/rstudio:4.6.0</a:t>
            </a:r>
          </a:p>
        </p:txBody>
      </p:sp>
    </p:spTree>
    <p:extLst>
      <p:ext uri="{BB962C8B-B14F-4D97-AF65-F5344CB8AC3E}">
        <p14:creationId xmlns:p14="http://schemas.microsoft.com/office/powerpoint/2010/main" val="6251771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B4381C-D53E-FC6F-9AE0-7A8644D6608D}"/>
              </a:ext>
            </a:extLst>
          </p:cNvPr>
          <p:cNvSpPr>
            <a:spLocks noGrp="1"/>
          </p:cNvSpPr>
          <p:nvPr>
            <p:ph type="ctrTitle"/>
          </p:nvPr>
        </p:nvSpPr>
        <p:spPr>
          <a:xfrm>
            <a:off x="4017464" y="2858467"/>
            <a:ext cx="5917646" cy="840230"/>
          </a:xfrm>
        </p:spPr>
        <p:txBody>
          <a:bodyPr/>
          <a:lstStyle/>
          <a:p>
            <a:r>
              <a:rPr lang="en-US" sz="5400"/>
              <a:t>Questions?</a:t>
            </a:r>
          </a:p>
        </p:txBody>
      </p:sp>
    </p:spTree>
    <p:extLst>
      <p:ext uri="{BB962C8B-B14F-4D97-AF65-F5344CB8AC3E}">
        <p14:creationId xmlns:p14="http://schemas.microsoft.com/office/powerpoint/2010/main" val="3311826633"/>
      </p:ext>
    </p:extLst>
  </p:cSld>
  <p:clrMapOvr>
    <a:masterClrMapping/>
  </p:clrMapOvr>
</p:sld>
</file>

<file path=ppt/theme/theme1.xml><?xml version="1.0" encoding="utf-8"?>
<a:theme xmlns:a="http://schemas.openxmlformats.org/drawingml/2006/main" name="6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8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4635187-68af-4f5f-8683-6ebd35fc842e" xsi:nil="true"/>
    <lcf76f155ced4ddcb4097134ff3c332f xmlns="607792bb-7e5d-42d7-b537-aadbed1bbc9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7C9C41F272B604C8CC53D5F0D66DDC0" ma:contentTypeVersion="18" ma:contentTypeDescription="Create a new document." ma:contentTypeScope="" ma:versionID="f8113db4f5a8da995389a58735b55208">
  <xsd:schema xmlns:xsd="http://www.w3.org/2001/XMLSchema" xmlns:xs="http://www.w3.org/2001/XMLSchema" xmlns:p="http://schemas.microsoft.com/office/2006/metadata/properties" xmlns:ns2="607792bb-7e5d-42d7-b537-aadbed1bbc98" xmlns:ns3="54635187-68af-4f5f-8683-6ebd35fc842e" targetNamespace="http://schemas.microsoft.com/office/2006/metadata/properties" ma:root="true" ma:fieldsID="e070f0f1080cdda18e1190d655c75c10" ns2:_="" ns3:_="">
    <xsd:import namespace="607792bb-7e5d-42d7-b537-aadbed1bbc98"/>
    <xsd:import namespace="54635187-68af-4f5f-8683-6ebd35fc842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LengthInSeconds" minOccurs="0"/>
                <xsd:element ref="ns2:MediaServiceObjectDetectorVersions" minOccurs="0"/>
                <xsd:element ref="ns2:lcf76f155ced4ddcb4097134ff3c332f" minOccurs="0"/>
                <xsd:element ref="ns3:TaxCatchAll" minOccurs="0"/>
                <xsd:element ref="ns2:MediaServiceGenerationTime" minOccurs="0"/>
                <xsd:element ref="ns2:MediaServiceEventHashCode" minOccurs="0"/>
                <xsd:element ref="ns2:MediaServiceSearchProperties"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7792bb-7e5d-42d7-b537-aadbed1bbc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9dfb89d-109d-4eca-b661-b7c8ffd4a82b"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635187-68af-4f5f-8683-6ebd35fc842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58fec68-bcb4-4d15-9920-f008f4a63a1c}" ma:internalName="TaxCatchAll" ma:showField="CatchAllData" ma:web="54635187-68af-4f5f-8683-6ebd35fc84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C61CF7-A9B2-4343-8EC9-92827B53E71C}">
  <ds:schemaRefs>
    <ds:schemaRef ds:uri="54635187-68af-4f5f-8683-6ebd35fc842e"/>
    <ds:schemaRef ds:uri="607792bb-7e5d-42d7-b537-aadbed1bbc98"/>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6CCE7F9-A01E-4F94-B05B-A5612F9DD448}">
  <ds:schemaRefs>
    <ds:schemaRef ds:uri="54635187-68af-4f5f-8683-6ebd35fc842e"/>
    <ds:schemaRef ds:uri="607792bb-7e5d-42d7-b537-aadbed1bbc9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1811F3-7522-4495-A0F1-AB27F04C7D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2108</TotalTime>
  <Words>3981</Words>
  <Application>Microsoft Macintosh PowerPoint</Application>
  <PresentationFormat>Widescreen</PresentationFormat>
  <Paragraphs>288</Paragraphs>
  <Slides>33</Slides>
  <Notes>31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33</vt:i4>
      </vt:variant>
    </vt:vector>
  </HeadingPairs>
  <TitlesOfParts>
    <vt:vector size="44" baseType="lpstr">
      <vt:lpstr>-apple-system</vt:lpstr>
      <vt:lpstr>System Font Regular</vt:lpstr>
      <vt:lpstr>var(--fontStack-monospace,ui-monospace,SFMono-Regular,SF Mono,Menlo,Consolas,Liberation Mono,monospace)</vt:lpstr>
      <vt:lpstr>Arial</vt:lpstr>
      <vt:lpstr>Calibri</vt:lpstr>
      <vt:lpstr>Consolas</vt:lpstr>
      <vt:lpstr>Helvetica</vt:lpstr>
      <vt:lpstr>Wingdings</vt:lpstr>
      <vt:lpstr>6_Custom Design</vt:lpstr>
      <vt:lpstr>7_Custom Design</vt:lpstr>
      <vt:lpstr>8_Custom Design</vt:lpstr>
      <vt:lpstr>Automating Container Builds with GitHub Actions:  From Code to Docker Hub</vt:lpstr>
      <vt:lpstr>Agenda</vt:lpstr>
      <vt:lpstr>01 Containers</vt:lpstr>
      <vt:lpstr>PowerPoint Presentation</vt:lpstr>
      <vt:lpstr>What can container do?</vt:lpstr>
      <vt:lpstr>Why Use Containers?</vt:lpstr>
      <vt:lpstr>What do containers mean for Tufts HPC? </vt:lpstr>
      <vt:lpstr>PowerPoint Presentation</vt:lpstr>
      <vt:lpstr>PowerPoint Presentation</vt:lpstr>
      <vt:lpstr>Essential Docker Commands</vt:lpstr>
      <vt:lpstr>PowerPoint Presentation</vt:lpstr>
      <vt:lpstr>02 GitHub Actions</vt:lpstr>
      <vt:lpstr>What is CI/CD?</vt:lpstr>
      <vt:lpstr>Top CI/CD platforms</vt:lpstr>
      <vt:lpstr>What is GitHub Actions</vt:lpstr>
      <vt:lpstr>Components of GitHub Actions</vt:lpstr>
      <vt:lpstr>Components of GitHub Actions</vt:lpstr>
      <vt:lpstr>Components of GitHub Actions</vt:lpstr>
      <vt:lpstr>Components of GitHub Actions</vt:lpstr>
      <vt:lpstr>Standard GitHub-hosted runners for public repositories </vt:lpstr>
      <vt:lpstr>03 GitHub actions &amp; Docker builds</vt:lpstr>
      <vt:lpstr>GitHub Actions for Docker Containers</vt:lpstr>
      <vt:lpstr>Anatomy of a Workflow File</vt:lpstr>
      <vt:lpstr>PowerPoint Presentation</vt:lpstr>
      <vt:lpstr>How TTS Research Technology use it?</vt:lpstr>
      <vt:lpstr>What this means for tufts HPC? </vt:lpstr>
      <vt:lpstr>Setting Up Secrets &amp; Credentials</vt:lpstr>
      <vt:lpstr>What Is Layer Caching?</vt:lpstr>
      <vt:lpstr>CPU architecture matters</vt:lpstr>
      <vt:lpstr>Building Multi-Architecture Images</vt:lpstr>
      <vt:lpstr>Key Takeaways </vt:lpstr>
      <vt:lpstr>04 Demo</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Ann</dc:creator>
  <cp:lastModifiedBy>Zhang, Yucheng</cp:lastModifiedBy>
  <cp:revision>44</cp:revision>
  <cp:lastPrinted>2026-05-31T11:47:18Z</cp:lastPrinted>
  <dcterms:created xsi:type="dcterms:W3CDTF">2022-05-27T12:54:27Z</dcterms:created>
  <dcterms:modified xsi:type="dcterms:W3CDTF">2026-06-01T15:40:42Z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0x010100C7C9C41F272B604C8CC53D5F0D66DDC0</vt:lpwstr>
  </property>
</Properties>
</file>